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8"/>
    <p:restoredTop sz="79864"/>
  </p:normalViewPr>
  <p:slideViewPr>
    <p:cSldViewPr snapToGrid="0" snapToObjects="1">
      <p:cViewPr>
        <p:scale>
          <a:sx n="120" d="100"/>
          <a:sy n="120" d="100"/>
        </p:scale>
        <p:origin x="1120"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Hoja_de_c_lculo_de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Hoja_de_c_lculo_de_Microsoft_Excel2.xlsx"/></Relationships>
</file>

<file path=ppt/charts/_rels/chart4.xml.rels><?xml version="1.0" encoding="UTF-8" standalone="yes"?>
<Relationships xmlns="http://schemas.openxmlformats.org/package/2006/relationships"><Relationship Id="rId1" Type="http://schemas.openxmlformats.org/officeDocument/2006/relationships/package" Target="../embeddings/Hoja_de_c_lculo_de_Microsoft_Excel3.xlsx"/></Relationships>
</file>

<file path=ppt/charts/_rels/chart5.xml.rels><?xml version="1.0" encoding="UTF-8" standalone="yes"?>
<Relationships xmlns="http://schemas.openxmlformats.org/package/2006/relationships"><Relationship Id="rId1" Type="http://schemas.openxmlformats.org/officeDocument/2006/relationships/package" Target="../embeddings/Hoja_de_c_lculo_de_Microsoft_Excel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doughnutChart>
        <c:varyColors val="1"/>
        <c:ser>
          <c:idx val="0"/>
          <c:order val="0"/>
          <c:tx>
            <c:strRef>
              <c:f>Sheet1!$B$1</c:f>
              <c:strCache>
                <c:ptCount val="1"/>
                <c:pt idx="0">
                  <c:v>Performance</c:v>
                </c:pt>
              </c:strCache>
            </c:strRef>
          </c:tx>
          <c:spPr>
            <a:solidFill>
              <a:schemeClr val="accent1"/>
            </a:solidFill>
            <a:ln w="9525" cap="flat">
              <a:solidFill>
                <a:srgbClr val="F9F9F9"/>
              </a:solidFill>
              <a:prstDash val="solid"/>
              <a:round/>
            </a:ln>
            <a:effectLst/>
          </c:spPr>
          <c:dPt>
            <c:idx val="0"/>
            <c:bubble3D val="0"/>
            <c:spPr>
              <a:solidFill>
                <a:srgbClr val="C4956A"/>
              </a:solidFill>
              <a:effectLst/>
            </c:spPr>
            <c:extLst>
              <c:ext xmlns:c16="http://schemas.microsoft.com/office/drawing/2014/chart" uri="{C3380CC4-5D6E-409C-BE32-E72D297353CC}">
                <c16:uniqueId val="{00000001-B041-904C-8CC6-DA31324D5CDF}"/>
              </c:ext>
            </c:extLst>
          </c:dPt>
          <c:dPt>
            <c:idx val="1"/>
            <c:bubble3D val="0"/>
            <c:spPr>
              <a:solidFill>
                <a:srgbClr val="2D6B6B"/>
              </a:solidFill>
              <a:effectLst/>
            </c:spPr>
            <c:extLst>
              <c:ext xmlns:c16="http://schemas.microsoft.com/office/drawing/2014/chart" uri="{C3380CC4-5D6E-409C-BE32-E72D297353CC}">
                <c16:uniqueId val="{00000003-B041-904C-8CC6-DA31324D5CDF}"/>
              </c:ext>
            </c:extLst>
          </c:dPt>
          <c:dPt>
            <c:idx val="2"/>
            <c:bubble3D val="0"/>
            <c:spPr>
              <a:solidFill>
                <a:srgbClr val="B8860B"/>
              </a:solidFill>
              <a:effectLst/>
            </c:spPr>
            <c:extLst>
              <c:ext xmlns:c16="http://schemas.microsoft.com/office/drawing/2014/chart" uri="{C3380CC4-5D6E-409C-BE32-E72D297353CC}">
                <c16:uniqueId val="{00000005-B041-904C-8CC6-DA31324D5CDF}"/>
              </c:ext>
            </c:extLst>
          </c:dPt>
          <c:dLbls>
            <c:dLbl>
              <c:idx val="0"/>
              <c:numFmt formatCode="General" sourceLinked="0"/>
              <c:spPr/>
              <c:txPr>
                <a:bodyPr/>
                <a:lstStyle/>
                <a:p>
                  <a:pPr>
                    <a:defRPr sz="1300" b="0" i="0" u="none" strike="noStrike">
                      <a:solidFill>
                        <a:srgbClr val="2D2D3A"/>
                      </a:solidFill>
                      <a:latin typeface="Arial"/>
                    </a:defRPr>
                  </a:pPr>
                  <a:endParaRPr lang="es-MX"/>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041-904C-8CC6-DA31324D5CDF}"/>
                </c:ext>
              </c:extLst>
            </c:dLbl>
            <c:dLbl>
              <c:idx val="1"/>
              <c:numFmt formatCode="General" sourceLinked="0"/>
              <c:spPr/>
              <c:txPr>
                <a:bodyPr/>
                <a:lstStyle/>
                <a:p>
                  <a:pPr>
                    <a:defRPr sz="1300" b="0" i="0" u="none" strike="noStrike">
                      <a:solidFill>
                        <a:srgbClr val="2D2D3A"/>
                      </a:solidFill>
                      <a:latin typeface="Arial"/>
                    </a:defRPr>
                  </a:pPr>
                  <a:endParaRPr lang="es-MX"/>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041-904C-8CC6-DA31324D5CDF}"/>
                </c:ext>
              </c:extLst>
            </c:dLbl>
            <c:dLbl>
              <c:idx val="2"/>
              <c:numFmt formatCode="General" sourceLinked="0"/>
              <c:spPr/>
              <c:txPr>
                <a:bodyPr/>
                <a:lstStyle/>
                <a:p>
                  <a:pPr>
                    <a:defRPr sz="1300" b="0" i="0" u="none" strike="noStrike">
                      <a:solidFill>
                        <a:srgbClr val="2D2D3A"/>
                      </a:solidFill>
                      <a:latin typeface="Arial"/>
                    </a:defRPr>
                  </a:pPr>
                  <a:endParaRPr lang="es-MX"/>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041-904C-8CC6-DA31324D5CDF}"/>
                </c:ext>
              </c:extLst>
            </c:dLbl>
            <c:numFmt formatCode="General" sourceLinked="0"/>
            <c:spPr>
              <a:noFill/>
              <a:ln>
                <a:noFill/>
              </a:ln>
              <a:effectLst/>
            </c:spPr>
            <c:txPr>
              <a:bodyPr/>
              <a:lstStyle/>
              <a:p>
                <a:pPr>
                  <a:defRPr sz="1800" b="0" i="0" u="none" strike="noStrike">
                    <a:solidFill>
                      <a:srgbClr val="000000"/>
                    </a:solidFill>
                    <a:latin typeface="Arial"/>
                  </a:defRPr>
                </a:pPr>
                <a:endParaRPr lang="es-MX"/>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Placement 70%</c:v>
                </c:pt>
                <c:pt idx="1">
                  <c:v>Kills 20%</c:v>
                </c:pt>
                <c:pt idx="2">
                  <c:v>Equipo 10%</c:v>
                </c:pt>
              </c:strCache>
            </c:strRef>
          </c:cat>
          <c:val>
            <c:numRef>
              <c:f>Sheet1!$B$2:$B$4</c:f>
              <c:numCache>
                <c:formatCode>General</c:formatCode>
                <c:ptCount val="3"/>
                <c:pt idx="0">
                  <c:v>70</c:v>
                </c:pt>
                <c:pt idx="1">
                  <c:v>20</c:v>
                </c:pt>
                <c:pt idx="2">
                  <c:v>10</c:v>
                </c:pt>
              </c:numCache>
            </c:numRef>
          </c:val>
          <c:extLst>
            <c:ext xmlns:c16="http://schemas.microsoft.com/office/drawing/2014/chart" uri="{C3380CC4-5D6E-409C-BE32-E72D297353CC}">
              <c16:uniqueId val="{00000006-B041-904C-8CC6-DA31324D5CDF}"/>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000">
              <a:solidFill>
                <a:srgbClr val="2D2D3A"/>
              </a:solidFill>
            </a:defRPr>
          </a:pPr>
          <a:endParaRPr lang="es-MX"/>
        </a:p>
      </c:txPr>
    </c:legend>
    <c:plotVisOnly val="1"/>
    <c:dispBlanksAs val="span"/>
    <c:showDLblsOverMax val="1"/>
  </c:chart>
  <c:spPr>
    <a:solidFill>
      <a:srgbClr val="F7F3EE"/>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lineChart>
        <c:grouping val="standard"/>
        <c:varyColors val="0"/>
        <c:ser>
          <c:idx val="0"/>
          <c:order val="0"/>
          <c:tx>
            <c:strRef>
              <c:f>Sheet1!$B$1</c:f>
              <c:strCache>
                <c:ptCount val="1"/>
                <c:pt idx="0">
                  <c:v>mu (habilidad)</c:v>
                </c:pt>
              </c:strCache>
            </c:strRef>
          </c:tx>
          <c:spPr>
            <a:ln w="31750" cap="flat">
              <a:solidFill>
                <a:srgbClr val="2D6B6B"/>
              </a:solidFill>
              <a:prstDash val="solid"/>
              <a:round/>
            </a:ln>
            <a:effectLst/>
          </c:spPr>
          <c:marker>
            <c:symbol val="circle"/>
            <c:size val="6"/>
            <c:spPr>
              <a:solidFill>
                <a:srgbClr val="2D6B6B"/>
              </a:solidFill>
              <a:ln w="9525" cap="flat">
                <a:solidFill>
                  <a:srgbClr val="2D6B6B"/>
                </a:solidFill>
                <a:prstDash val="solid"/>
                <a:round/>
              </a:ln>
              <a:effectLst/>
            </c:spPr>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25</c:v>
                </c:pt>
                <c:pt idx="1">
                  <c:v>26.8</c:v>
                </c:pt>
                <c:pt idx="2">
                  <c:v>27.5</c:v>
                </c:pt>
                <c:pt idx="3">
                  <c:v>28.2</c:v>
                </c:pt>
                <c:pt idx="4">
                  <c:v>29</c:v>
                </c:pt>
                <c:pt idx="5">
                  <c:v>29.8</c:v>
                </c:pt>
                <c:pt idx="6">
                  <c:v>30.5</c:v>
                </c:pt>
                <c:pt idx="7">
                  <c:v>31.2</c:v>
                </c:pt>
                <c:pt idx="8">
                  <c:v>32</c:v>
                </c:pt>
                <c:pt idx="9">
                  <c:v>32.799999999999997</c:v>
                </c:pt>
                <c:pt idx="10">
                  <c:v>33.5</c:v>
                </c:pt>
                <c:pt idx="11">
                  <c:v>34</c:v>
                </c:pt>
                <c:pt idx="12">
                  <c:v>34.5</c:v>
                </c:pt>
                <c:pt idx="13">
                  <c:v>35</c:v>
                </c:pt>
                <c:pt idx="14">
                  <c:v>35.5</c:v>
                </c:pt>
              </c:numCache>
            </c:numRef>
          </c:val>
          <c:smooth val="1"/>
          <c:extLst>
            <c:ext xmlns:c16="http://schemas.microsoft.com/office/drawing/2014/chart" uri="{C3380CC4-5D6E-409C-BE32-E72D297353CC}">
              <c16:uniqueId val="{00000000-3CCF-244C-81C8-9B0C522C3357}"/>
            </c:ext>
          </c:extLst>
        </c:ser>
        <c:ser>
          <c:idx val="1"/>
          <c:order val="1"/>
          <c:tx>
            <c:strRef>
              <c:f>Sheet1!$C$1</c:f>
              <c:strCache>
                <c:ptCount val="1"/>
                <c:pt idx="0">
                  <c:v>sigma (incertidumbre)</c:v>
                </c:pt>
              </c:strCache>
            </c:strRef>
          </c:tx>
          <c:spPr>
            <a:ln w="31750" cap="flat">
              <a:solidFill>
                <a:srgbClr val="C4956A"/>
              </a:solidFill>
              <a:prstDash val="solid"/>
              <a:round/>
            </a:ln>
            <a:effectLst/>
          </c:spPr>
          <c:marker>
            <c:symbol val="circle"/>
            <c:size val="6"/>
            <c:spPr>
              <a:solidFill>
                <a:srgbClr val="C4956A"/>
              </a:solidFill>
              <a:ln w="9525" cap="flat">
                <a:solidFill>
                  <a:srgbClr val="C4956A"/>
                </a:solidFill>
                <a:prstDash val="solid"/>
                <a:round/>
              </a:ln>
              <a:effectLst/>
            </c:spPr>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8.33</c:v>
                </c:pt>
                <c:pt idx="1">
                  <c:v>7.9</c:v>
                </c:pt>
                <c:pt idx="2">
                  <c:v>7.2</c:v>
                </c:pt>
                <c:pt idx="3">
                  <c:v>6.5</c:v>
                </c:pt>
                <c:pt idx="4">
                  <c:v>5.8</c:v>
                </c:pt>
                <c:pt idx="5">
                  <c:v>5.2</c:v>
                </c:pt>
                <c:pt idx="6">
                  <c:v>4.7</c:v>
                </c:pt>
                <c:pt idx="7">
                  <c:v>4.2</c:v>
                </c:pt>
                <c:pt idx="8">
                  <c:v>3.8</c:v>
                </c:pt>
                <c:pt idx="9">
                  <c:v>3.5</c:v>
                </c:pt>
                <c:pt idx="10">
                  <c:v>3.2</c:v>
                </c:pt>
                <c:pt idx="11">
                  <c:v>3</c:v>
                </c:pt>
                <c:pt idx="12">
                  <c:v>2.8</c:v>
                </c:pt>
                <c:pt idx="13">
                  <c:v>2.6</c:v>
                </c:pt>
                <c:pt idx="14">
                  <c:v>2.4</c:v>
                </c:pt>
              </c:numCache>
            </c:numRef>
          </c:val>
          <c:smooth val="1"/>
          <c:extLst>
            <c:ext xmlns:c16="http://schemas.microsoft.com/office/drawing/2014/chart" uri="{C3380CC4-5D6E-409C-BE32-E72D297353CC}">
              <c16:uniqueId val="{00000001-3CCF-244C-81C8-9B0C522C3357}"/>
            </c:ext>
          </c:extLst>
        </c:ser>
        <c:ser>
          <c:idx val="2"/>
          <c:order val="2"/>
          <c:tx>
            <c:strRef>
              <c:f>Sheet1!$D$1</c:f>
              <c:strCache>
                <c:ptCount val="1"/>
                <c:pt idx="0">
                  <c:v>PSR (publicado)</c:v>
                </c:pt>
              </c:strCache>
            </c:strRef>
          </c:tx>
          <c:spPr>
            <a:ln w="31750" cap="flat">
              <a:solidFill>
                <a:srgbClr val="B8860B"/>
              </a:solidFill>
              <a:prstDash val="solid"/>
              <a:round/>
            </a:ln>
            <a:effectLst/>
          </c:spPr>
          <c:marker>
            <c:symbol val="circle"/>
            <c:size val="6"/>
            <c:spPr>
              <a:solidFill>
                <a:srgbClr val="B8860B"/>
              </a:solidFill>
              <a:ln w="9525" cap="flat">
                <a:solidFill>
                  <a:srgbClr val="B8860B"/>
                </a:solidFill>
                <a:prstDash val="solid"/>
                <a:round/>
              </a:ln>
              <a:effectLst/>
            </c:spPr>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0.01</c:v>
                </c:pt>
                <c:pt idx="1">
                  <c:v>3.1</c:v>
                </c:pt>
                <c:pt idx="2">
                  <c:v>5.9</c:v>
                </c:pt>
                <c:pt idx="3">
                  <c:v>8.6999999999999993</c:v>
                </c:pt>
                <c:pt idx="4">
                  <c:v>11.6</c:v>
                </c:pt>
                <c:pt idx="5">
                  <c:v>14.2</c:v>
                </c:pt>
                <c:pt idx="6">
                  <c:v>16.399999999999999</c:v>
                </c:pt>
                <c:pt idx="7">
                  <c:v>18.600000000000001</c:v>
                </c:pt>
                <c:pt idx="8">
                  <c:v>20.6</c:v>
                </c:pt>
                <c:pt idx="9">
                  <c:v>22.3</c:v>
                </c:pt>
                <c:pt idx="10">
                  <c:v>23.9</c:v>
                </c:pt>
                <c:pt idx="11">
                  <c:v>25</c:v>
                </c:pt>
                <c:pt idx="12">
                  <c:v>26.1</c:v>
                </c:pt>
                <c:pt idx="13">
                  <c:v>27.2</c:v>
                </c:pt>
                <c:pt idx="14">
                  <c:v>28.3</c:v>
                </c:pt>
              </c:numCache>
            </c:numRef>
          </c:val>
          <c:smooth val="1"/>
          <c:extLst>
            <c:ext xmlns:c16="http://schemas.microsoft.com/office/drawing/2014/chart" uri="{C3380CC4-5D6E-409C-BE32-E72D297353CC}">
              <c16:uniqueId val="{00000002-3CCF-244C-81C8-9B0C522C335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777777"/>
                </a:solidFill>
                <a:latin typeface="Arial"/>
              </a:defRPr>
            </a:pPr>
            <a:endParaRPr lang="es-MX"/>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A2A4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777777"/>
                </a:solidFill>
                <a:latin typeface="Arial"/>
              </a:defRPr>
            </a:pPr>
            <a:endParaRPr lang="es-MX"/>
          </a:p>
        </c:txPr>
        <c:crossAx val="2094734554"/>
        <c:crosses val="autoZero"/>
        <c:crossBetween val="between"/>
      </c:valAx>
      <c:spPr>
        <a:noFill/>
        <a:ln>
          <a:noFill/>
        </a:ln>
        <a:effectLst/>
      </c:spPr>
    </c:plotArea>
    <c:legend>
      <c:legendPos val="b"/>
      <c:overlay val="0"/>
      <c:txPr>
        <a:bodyPr/>
        <a:lstStyle/>
        <a:p>
          <a:pPr>
            <a:defRPr sz="900">
              <a:solidFill>
                <a:srgbClr val="AAAAAA"/>
              </a:solidFill>
            </a:defRPr>
          </a:pPr>
          <a:endParaRPr lang="es-MX"/>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000" b="0" i="0" u="none" strike="noStrike">
                <a:solidFill>
                  <a:srgbClr val="6B2D5B"/>
                </a:solidFill>
                <a:latin typeface="Arial"/>
              </a:defRPr>
            </a:pPr>
            <a:r>
              <a:rPr lang="es-MX" sz="1000" b="0" i="0" u="none" strike="noStrike">
                <a:solidFill>
                  <a:srgbClr val="6B2D5B"/>
                </a:solidFill>
                <a:latin typeface="Arial"/>
              </a:rPr>
              <a:t>xDarkSniper (Fragger)</a:t>
            </a:r>
          </a:p>
        </c:rich>
      </c:tx>
      <c:overlay val="0"/>
    </c:title>
    <c:autoTitleDeleted val="0"/>
    <c:plotArea>
      <c:layout/>
      <c:barChart>
        <c:barDir val="col"/>
        <c:grouping val="clustered"/>
        <c:varyColors val="0"/>
        <c:ser>
          <c:idx val="0"/>
          <c:order val="0"/>
          <c:tx>
            <c:strRef>
              <c:f>Sheet1!$B$1</c:f>
              <c:strCache>
                <c:ptCount val="1"/>
                <c:pt idx="0">
                  <c:v>Kills</c:v>
                </c:pt>
              </c:strCache>
            </c:strRef>
          </c:tx>
          <c:spPr>
            <a:solidFill>
              <a:srgbClr val="6B2D5B"/>
            </a:solidFill>
            <a:effectLst/>
          </c:spPr>
          <c:invertIfNegative val="0"/>
          <c:cat>
            <c:strRef>
              <c:f>Sheet1!$A$2:$A$9</c:f>
              <c:strCache>
                <c:ptCount val="8"/>
                <c:pt idx="0">
                  <c:v>1</c:v>
                </c:pt>
                <c:pt idx="1">
                  <c:v>2</c:v>
                </c:pt>
                <c:pt idx="2">
                  <c:v>3</c:v>
                </c:pt>
                <c:pt idx="3">
                  <c:v>4</c:v>
                </c:pt>
                <c:pt idx="4">
                  <c:v>5</c:v>
                </c:pt>
                <c:pt idx="5">
                  <c:v>6</c:v>
                </c:pt>
                <c:pt idx="6">
                  <c:v>7</c:v>
                </c:pt>
                <c:pt idx="7">
                  <c:v>8</c:v>
                </c:pt>
              </c:strCache>
            </c:strRef>
          </c:cat>
          <c:val>
            <c:numRef>
              <c:f>Sheet1!$B$2:$B$9</c:f>
              <c:numCache>
                <c:formatCode>General</c:formatCode>
                <c:ptCount val="8"/>
                <c:pt idx="0">
                  <c:v>12</c:v>
                </c:pt>
                <c:pt idx="1">
                  <c:v>3</c:v>
                </c:pt>
                <c:pt idx="2">
                  <c:v>14</c:v>
                </c:pt>
                <c:pt idx="3">
                  <c:v>1</c:v>
                </c:pt>
                <c:pt idx="4">
                  <c:v>11</c:v>
                </c:pt>
                <c:pt idx="5">
                  <c:v>4</c:v>
                </c:pt>
                <c:pt idx="6">
                  <c:v>13</c:v>
                </c:pt>
                <c:pt idx="7">
                  <c:v>2</c:v>
                </c:pt>
              </c:numCache>
            </c:numRef>
          </c:val>
          <c:extLst>
            <c:ext xmlns:c16="http://schemas.microsoft.com/office/drawing/2014/chart" uri="{C3380CC4-5D6E-409C-BE32-E72D297353CC}">
              <c16:uniqueId val="{00000000-978A-904D-9247-DA0965E2D618}"/>
            </c:ext>
          </c:extLst>
        </c:ser>
        <c:ser>
          <c:idx val="1"/>
          <c:order val="1"/>
          <c:tx>
            <c:strRef>
              <c:f>Sheet1!$C$1</c:f>
              <c:strCache>
                <c:ptCount val="1"/>
                <c:pt idx="0">
                  <c:v>Placement</c:v>
                </c:pt>
              </c:strCache>
            </c:strRef>
          </c:tx>
          <c:spPr>
            <a:solidFill>
              <a:srgbClr val="4A5568"/>
            </a:solidFill>
            <a:effectLst/>
          </c:spPr>
          <c:invertIfNegative val="0"/>
          <c:cat>
            <c:strRef>
              <c:f>Sheet1!$A$2:$A$9</c:f>
              <c:strCache>
                <c:ptCount val="8"/>
                <c:pt idx="0">
                  <c:v>1</c:v>
                </c:pt>
                <c:pt idx="1">
                  <c:v>2</c:v>
                </c:pt>
                <c:pt idx="2">
                  <c:v>3</c:v>
                </c:pt>
                <c:pt idx="3">
                  <c:v>4</c:v>
                </c:pt>
                <c:pt idx="4">
                  <c:v>5</c:v>
                </c:pt>
                <c:pt idx="5">
                  <c:v>6</c:v>
                </c:pt>
                <c:pt idx="6">
                  <c:v>7</c:v>
                </c:pt>
                <c:pt idx="7">
                  <c:v>8</c:v>
                </c:pt>
              </c:strCache>
            </c:strRef>
          </c:cat>
          <c:val>
            <c:numRef>
              <c:f>Sheet1!$C$2:$C$9</c:f>
              <c:numCache>
                <c:formatCode>General</c:formatCode>
                <c:ptCount val="8"/>
                <c:pt idx="0">
                  <c:v>8</c:v>
                </c:pt>
                <c:pt idx="1">
                  <c:v>14</c:v>
                </c:pt>
                <c:pt idx="2">
                  <c:v>6</c:v>
                </c:pt>
                <c:pt idx="3">
                  <c:v>16</c:v>
                </c:pt>
                <c:pt idx="4">
                  <c:v>7</c:v>
                </c:pt>
                <c:pt idx="5">
                  <c:v>12</c:v>
                </c:pt>
                <c:pt idx="6">
                  <c:v>5</c:v>
                </c:pt>
                <c:pt idx="7">
                  <c:v>15</c:v>
                </c:pt>
              </c:numCache>
            </c:numRef>
          </c:val>
          <c:extLst>
            <c:ext xmlns:c16="http://schemas.microsoft.com/office/drawing/2014/chart" uri="{C3380CC4-5D6E-409C-BE32-E72D297353CC}">
              <c16:uniqueId val="{00000001-978A-904D-9247-DA0965E2D61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7A7A8A"/>
                </a:solidFill>
                <a:latin typeface="Arial"/>
              </a:defRPr>
            </a:pPr>
            <a:endParaRPr lang="es-MX"/>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4CFC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7A7A8A"/>
                </a:solidFill>
                <a:latin typeface="Arial"/>
              </a:defRPr>
            </a:pPr>
            <a:endParaRPr lang="es-MX"/>
          </a:p>
        </c:txPr>
        <c:crossAx val="2094734554"/>
        <c:crosses val="autoZero"/>
        <c:crossBetween val="between"/>
      </c:valAx>
      <c:spPr>
        <a:noFill/>
        <a:ln>
          <a:noFill/>
        </a:ln>
        <a:effectLst/>
      </c:spPr>
    </c:plotArea>
    <c:legend>
      <c:legendPos val="b"/>
      <c:overlay val="0"/>
      <c:txPr>
        <a:bodyPr/>
        <a:lstStyle/>
        <a:p>
          <a:pPr>
            <a:defRPr sz="800">
              <a:solidFill>
                <a:srgbClr val="2D2D3A"/>
              </a:solidFill>
            </a:defRPr>
          </a:pPr>
          <a:endParaRPr lang="es-MX"/>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000" b="0" i="0" u="none" strike="noStrike">
                <a:solidFill>
                  <a:srgbClr val="2D6B6B"/>
                </a:solidFill>
                <a:latin typeface="Arial"/>
              </a:defRPr>
            </a:pPr>
            <a:r>
              <a:rPr lang="es-MX" sz="1000" b="0" i="0" u="none" strike="noStrike">
                <a:solidFill>
                  <a:srgbClr val="2D6B6B"/>
                </a:solidFill>
                <a:latin typeface="Arial"/>
              </a:rPr>
              <a:t>SteadyHand (Anchor)</a:t>
            </a:r>
          </a:p>
        </c:rich>
      </c:tx>
      <c:overlay val="0"/>
    </c:title>
    <c:autoTitleDeleted val="0"/>
    <c:plotArea>
      <c:layout/>
      <c:barChart>
        <c:barDir val="col"/>
        <c:grouping val="clustered"/>
        <c:varyColors val="0"/>
        <c:ser>
          <c:idx val="0"/>
          <c:order val="0"/>
          <c:tx>
            <c:strRef>
              <c:f>Sheet1!$B$1</c:f>
              <c:strCache>
                <c:ptCount val="1"/>
                <c:pt idx="0">
                  <c:v>Kills</c:v>
                </c:pt>
              </c:strCache>
            </c:strRef>
          </c:tx>
          <c:spPr>
            <a:solidFill>
              <a:srgbClr val="6B2D5B"/>
            </a:solidFill>
            <a:effectLst/>
          </c:spPr>
          <c:invertIfNegative val="0"/>
          <c:cat>
            <c:strRef>
              <c:f>Sheet1!$A$2:$A$9</c:f>
              <c:strCache>
                <c:ptCount val="8"/>
                <c:pt idx="0">
                  <c:v>1</c:v>
                </c:pt>
                <c:pt idx="1">
                  <c:v>2</c:v>
                </c:pt>
                <c:pt idx="2">
                  <c:v>3</c:v>
                </c:pt>
                <c:pt idx="3">
                  <c:v>4</c:v>
                </c:pt>
                <c:pt idx="4">
                  <c:v>5</c:v>
                </c:pt>
                <c:pt idx="5">
                  <c:v>6</c:v>
                </c:pt>
                <c:pt idx="6">
                  <c:v>7</c:v>
                </c:pt>
                <c:pt idx="7">
                  <c:v>8</c:v>
                </c:pt>
              </c:strCache>
            </c:strRef>
          </c:cat>
          <c:val>
            <c:numRef>
              <c:f>Sheet1!$B$2:$B$9</c:f>
              <c:numCache>
                <c:formatCode>General</c:formatCode>
                <c:ptCount val="8"/>
                <c:pt idx="0">
                  <c:v>3</c:v>
                </c:pt>
                <c:pt idx="1">
                  <c:v>4</c:v>
                </c:pt>
                <c:pt idx="2">
                  <c:v>3</c:v>
                </c:pt>
                <c:pt idx="3">
                  <c:v>5</c:v>
                </c:pt>
                <c:pt idx="4">
                  <c:v>2</c:v>
                </c:pt>
                <c:pt idx="5">
                  <c:v>4</c:v>
                </c:pt>
                <c:pt idx="6">
                  <c:v>3</c:v>
                </c:pt>
                <c:pt idx="7">
                  <c:v>5</c:v>
                </c:pt>
              </c:numCache>
            </c:numRef>
          </c:val>
          <c:extLst>
            <c:ext xmlns:c16="http://schemas.microsoft.com/office/drawing/2014/chart" uri="{C3380CC4-5D6E-409C-BE32-E72D297353CC}">
              <c16:uniqueId val="{00000000-569B-2944-A9B0-787894A04F13}"/>
            </c:ext>
          </c:extLst>
        </c:ser>
        <c:ser>
          <c:idx val="1"/>
          <c:order val="1"/>
          <c:tx>
            <c:strRef>
              <c:f>Sheet1!$C$1</c:f>
              <c:strCache>
                <c:ptCount val="1"/>
                <c:pt idx="0">
                  <c:v>Placement</c:v>
                </c:pt>
              </c:strCache>
            </c:strRef>
          </c:tx>
          <c:spPr>
            <a:solidFill>
              <a:srgbClr val="4A5568"/>
            </a:solidFill>
            <a:effectLst/>
          </c:spPr>
          <c:invertIfNegative val="0"/>
          <c:cat>
            <c:strRef>
              <c:f>Sheet1!$A$2:$A$9</c:f>
              <c:strCache>
                <c:ptCount val="8"/>
                <c:pt idx="0">
                  <c:v>1</c:v>
                </c:pt>
                <c:pt idx="1">
                  <c:v>2</c:v>
                </c:pt>
                <c:pt idx="2">
                  <c:v>3</c:v>
                </c:pt>
                <c:pt idx="3">
                  <c:v>4</c:v>
                </c:pt>
                <c:pt idx="4">
                  <c:v>5</c:v>
                </c:pt>
                <c:pt idx="5">
                  <c:v>6</c:v>
                </c:pt>
                <c:pt idx="6">
                  <c:v>7</c:v>
                </c:pt>
                <c:pt idx="7">
                  <c:v>8</c:v>
                </c:pt>
              </c:strCache>
            </c:strRef>
          </c:cat>
          <c:val>
            <c:numRef>
              <c:f>Sheet1!$C$2:$C$9</c:f>
              <c:numCache>
                <c:formatCode>General</c:formatCode>
                <c:ptCount val="8"/>
                <c:pt idx="0">
                  <c:v>2</c:v>
                </c:pt>
                <c:pt idx="1">
                  <c:v>3</c:v>
                </c:pt>
                <c:pt idx="2">
                  <c:v>1</c:v>
                </c:pt>
                <c:pt idx="3">
                  <c:v>4</c:v>
                </c:pt>
                <c:pt idx="4">
                  <c:v>3</c:v>
                </c:pt>
                <c:pt idx="5">
                  <c:v>2</c:v>
                </c:pt>
                <c:pt idx="6">
                  <c:v>2</c:v>
                </c:pt>
                <c:pt idx="7">
                  <c:v>3</c:v>
                </c:pt>
              </c:numCache>
            </c:numRef>
          </c:val>
          <c:extLst>
            <c:ext xmlns:c16="http://schemas.microsoft.com/office/drawing/2014/chart" uri="{C3380CC4-5D6E-409C-BE32-E72D297353CC}">
              <c16:uniqueId val="{00000001-569B-2944-A9B0-787894A04F13}"/>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7A7A8A"/>
                </a:solidFill>
                <a:latin typeface="Arial"/>
              </a:defRPr>
            </a:pPr>
            <a:endParaRPr lang="es-MX"/>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4CFC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7A7A8A"/>
                </a:solidFill>
                <a:latin typeface="Arial"/>
              </a:defRPr>
            </a:pPr>
            <a:endParaRPr lang="es-MX"/>
          </a:p>
        </c:txPr>
        <c:crossAx val="2094734554"/>
        <c:crosses val="autoZero"/>
        <c:crossBetween val="between"/>
      </c:valAx>
      <c:spPr>
        <a:noFill/>
        <a:ln>
          <a:noFill/>
        </a:ln>
        <a:effectLst/>
      </c:spPr>
    </c:plotArea>
    <c:legend>
      <c:legendPos val="b"/>
      <c:overlay val="0"/>
      <c:txPr>
        <a:bodyPr/>
        <a:lstStyle/>
        <a:p>
          <a:pPr>
            <a:defRPr sz="800">
              <a:solidFill>
                <a:srgbClr val="2D2D3A"/>
              </a:solidFill>
            </a:defRPr>
          </a:pPr>
          <a:endParaRPr lang="es-MX"/>
        </a:p>
      </c:txPr>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lineChart>
        <c:grouping val="standard"/>
        <c:varyColors val="0"/>
        <c:ser>
          <c:idx val="0"/>
          <c:order val="0"/>
          <c:tx>
            <c:strRef>
              <c:f>Sheet1!$B$1</c:f>
              <c:strCache>
                <c:ptCount val="1"/>
                <c:pt idx="0">
                  <c:v>mu (estable)</c:v>
                </c:pt>
              </c:strCache>
            </c:strRef>
          </c:tx>
          <c:spPr>
            <a:ln w="31750" cap="flat">
              <a:solidFill>
                <a:srgbClr val="2D6B6B"/>
              </a:solidFill>
              <a:prstDash val="solid"/>
              <a:round/>
            </a:ln>
            <a:effectLst/>
          </c:spPr>
          <c:marker>
            <c:symbol val="circle"/>
            <c:size val="6"/>
            <c:spPr>
              <a:solidFill>
                <a:srgbClr val="2D6B6B"/>
              </a:solidFill>
              <a:ln w="9525" cap="flat">
                <a:solidFill>
                  <a:srgbClr val="2D6B6B"/>
                </a:solidFill>
                <a:prstDash val="solid"/>
                <a:round/>
              </a:ln>
              <a:effectLst/>
            </c:spPr>
          </c:marker>
          <c:cat>
            <c:strRef>
              <c:f>Sheet1!$A$2:$A$8</c:f>
              <c:strCache>
                <c:ptCount val="7"/>
                <c:pt idx="0">
                  <c:v>Mes 0</c:v>
                </c:pt>
                <c:pt idx="1">
                  <c:v>Mes 1</c:v>
                </c:pt>
                <c:pt idx="2">
                  <c:v>Mes 2</c:v>
                </c:pt>
                <c:pt idx="3">
                  <c:v>Mes 3</c:v>
                </c:pt>
                <c:pt idx="4">
                  <c:v>Mes 4</c:v>
                </c:pt>
                <c:pt idx="5">
                  <c:v>Mes 5</c:v>
                </c:pt>
                <c:pt idx="6">
                  <c:v>Mes 6</c:v>
                </c:pt>
              </c:strCache>
            </c:strRef>
          </c:cat>
          <c:val>
            <c:numRef>
              <c:f>Sheet1!$B$2:$B$8</c:f>
              <c:numCache>
                <c:formatCode>General</c:formatCode>
                <c:ptCount val="7"/>
                <c:pt idx="0">
                  <c:v>34</c:v>
                </c:pt>
                <c:pt idx="1">
                  <c:v>34</c:v>
                </c:pt>
                <c:pt idx="2">
                  <c:v>34</c:v>
                </c:pt>
                <c:pt idx="3">
                  <c:v>34</c:v>
                </c:pt>
                <c:pt idx="4">
                  <c:v>34</c:v>
                </c:pt>
                <c:pt idx="5">
                  <c:v>34</c:v>
                </c:pt>
                <c:pt idx="6">
                  <c:v>34</c:v>
                </c:pt>
              </c:numCache>
            </c:numRef>
          </c:val>
          <c:smooth val="1"/>
          <c:extLst>
            <c:ext xmlns:c16="http://schemas.microsoft.com/office/drawing/2014/chart" uri="{C3380CC4-5D6E-409C-BE32-E72D297353CC}">
              <c16:uniqueId val="{00000000-7D8F-B943-A8C5-D4B16C155B81}"/>
            </c:ext>
          </c:extLst>
        </c:ser>
        <c:ser>
          <c:idx val="1"/>
          <c:order val="1"/>
          <c:tx>
            <c:strRef>
              <c:f>Sheet1!$C$1</c:f>
              <c:strCache>
                <c:ptCount val="1"/>
                <c:pt idx="0">
                  <c:v>sigma (crece)</c:v>
                </c:pt>
              </c:strCache>
            </c:strRef>
          </c:tx>
          <c:spPr>
            <a:ln w="31750" cap="flat">
              <a:solidFill>
                <a:srgbClr val="C4956A"/>
              </a:solidFill>
              <a:prstDash val="solid"/>
              <a:round/>
            </a:ln>
            <a:effectLst/>
          </c:spPr>
          <c:marker>
            <c:symbol val="circle"/>
            <c:size val="6"/>
            <c:spPr>
              <a:solidFill>
                <a:srgbClr val="C4956A"/>
              </a:solidFill>
              <a:ln w="9525" cap="flat">
                <a:solidFill>
                  <a:srgbClr val="C4956A"/>
                </a:solidFill>
                <a:prstDash val="solid"/>
                <a:round/>
              </a:ln>
              <a:effectLst/>
            </c:spPr>
          </c:marker>
          <c:cat>
            <c:strRef>
              <c:f>Sheet1!$A$2:$A$8</c:f>
              <c:strCache>
                <c:ptCount val="7"/>
                <c:pt idx="0">
                  <c:v>Mes 0</c:v>
                </c:pt>
                <c:pt idx="1">
                  <c:v>Mes 1</c:v>
                </c:pt>
                <c:pt idx="2">
                  <c:v>Mes 2</c:v>
                </c:pt>
                <c:pt idx="3">
                  <c:v>Mes 3</c:v>
                </c:pt>
                <c:pt idx="4">
                  <c:v>Mes 4</c:v>
                </c:pt>
                <c:pt idx="5">
                  <c:v>Mes 5</c:v>
                </c:pt>
                <c:pt idx="6">
                  <c:v>Mes 6</c:v>
                </c:pt>
              </c:strCache>
            </c:strRef>
          </c:cat>
          <c:val>
            <c:numRef>
              <c:f>Sheet1!$C$2:$C$8</c:f>
              <c:numCache>
                <c:formatCode>General</c:formatCode>
                <c:ptCount val="7"/>
                <c:pt idx="0">
                  <c:v>3</c:v>
                </c:pt>
                <c:pt idx="1">
                  <c:v>3</c:v>
                </c:pt>
                <c:pt idx="2">
                  <c:v>3.5</c:v>
                </c:pt>
                <c:pt idx="3">
                  <c:v>4</c:v>
                </c:pt>
                <c:pt idx="4">
                  <c:v>4.5</c:v>
                </c:pt>
                <c:pt idx="5">
                  <c:v>5</c:v>
                </c:pt>
                <c:pt idx="6">
                  <c:v>5.5</c:v>
                </c:pt>
              </c:numCache>
            </c:numRef>
          </c:val>
          <c:smooth val="1"/>
          <c:extLst>
            <c:ext xmlns:c16="http://schemas.microsoft.com/office/drawing/2014/chart" uri="{C3380CC4-5D6E-409C-BE32-E72D297353CC}">
              <c16:uniqueId val="{00000001-7D8F-B943-A8C5-D4B16C155B81}"/>
            </c:ext>
          </c:extLst>
        </c:ser>
        <c:ser>
          <c:idx val="2"/>
          <c:order val="2"/>
          <c:tx>
            <c:strRef>
              <c:f>Sheet1!$D$1</c:f>
              <c:strCache>
                <c:ptCount val="1"/>
                <c:pt idx="0">
                  <c:v>PSR (decrece)</c:v>
                </c:pt>
              </c:strCache>
            </c:strRef>
          </c:tx>
          <c:spPr>
            <a:ln w="31750" cap="flat">
              <a:solidFill>
                <a:srgbClr val="B8860B"/>
              </a:solidFill>
              <a:prstDash val="solid"/>
              <a:round/>
            </a:ln>
            <a:effectLst/>
          </c:spPr>
          <c:marker>
            <c:symbol val="circle"/>
            <c:size val="6"/>
            <c:spPr>
              <a:solidFill>
                <a:srgbClr val="B8860B"/>
              </a:solidFill>
              <a:ln w="9525" cap="flat">
                <a:solidFill>
                  <a:srgbClr val="B8860B"/>
                </a:solidFill>
                <a:prstDash val="solid"/>
                <a:round/>
              </a:ln>
              <a:effectLst/>
            </c:spPr>
          </c:marker>
          <c:cat>
            <c:strRef>
              <c:f>Sheet1!$A$2:$A$8</c:f>
              <c:strCache>
                <c:ptCount val="7"/>
                <c:pt idx="0">
                  <c:v>Mes 0</c:v>
                </c:pt>
                <c:pt idx="1">
                  <c:v>Mes 1</c:v>
                </c:pt>
                <c:pt idx="2">
                  <c:v>Mes 2</c:v>
                </c:pt>
                <c:pt idx="3">
                  <c:v>Mes 3</c:v>
                </c:pt>
                <c:pt idx="4">
                  <c:v>Mes 4</c:v>
                </c:pt>
                <c:pt idx="5">
                  <c:v>Mes 5</c:v>
                </c:pt>
                <c:pt idx="6">
                  <c:v>Mes 6</c:v>
                </c:pt>
              </c:strCache>
            </c:strRef>
          </c:cat>
          <c:val>
            <c:numRef>
              <c:f>Sheet1!$D$2:$D$8</c:f>
              <c:numCache>
                <c:formatCode>General</c:formatCode>
                <c:ptCount val="7"/>
                <c:pt idx="0">
                  <c:v>25</c:v>
                </c:pt>
                <c:pt idx="1">
                  <c:v>25</c:v>
                </c:pt>
                <c:pt idx="2">
                  <c:v>23.5</c:v>
                </c:pt>
                <c:pt idx="3">
                  <c:v>22</c:v>
                </c:pt>
                <c:pt idx="4">
                  <c:v>20.5</c:v>
                </c:pt>
                <c:pt idx="5">
                  <c:v>19</c:v>
                </c:pt>
                <c:pt idx="6">
                  <c:v>17.5</c:v>
                </c:pt>
              </c:numCache>
            </c:numRef>
          </c:val>
          <c:smooth val="1"/>
          <c:extLst>
            <c:ext xmlns:c16="http://schemas.microsoft.com/office/drawing/2014/chart" uri="{C3380CC4-5D6E-409C-BE32-E72D297353CC}">
              <c16:uniqueId val="{00000002-7D8F-B943-A8C5-D4B16C155B81}"/>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7A7A8A"/>
                </a:solidFill>
                <a:latin typeface="Arial"/>
              </a:defRPr>
            </a:pPr>
            <a:endParaRPr lang="es-MX"/>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4CFC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7A8A"/>
                </a:solidFill>
                <a:latin typeface="Arial"/>
              </a:defRPr>
            </a:pPr>
            <a:endParaRPr lang="es-MX"/>
          </a:p>
        </c:txPr>
        <c:crossAx val="2094734554"/>
        <c:crosses val="autoZero"/>
        <c:crossBetween val="between"/>
      </c:valAx>
      <c:spPr>
        <a:noFill/>
        <a:ln>
          <a:noFill/>
        </a:ln>
        <a:effectLst/>
      </c:spPr>
    </c:plotArea>
    <c:legend>
      <c:legendPos val="b"/>
      <c:overlay val="0"/>
      <c:txPr>
        <a:bodyPr/>
        <a:lstStyle/>
        <a:p>
          <a:pPr>
            <a:defRPr sz="900">
              <a:solidFill>
                <a:srgbClr val="2D2D3A"/>
              </a:solidFill>
            </a:defRPr>
          </a:pPr>
          <a:endParaRPr lang="es-MX"/>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0912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elegante con fondo oscuro. El logo es el unico elemento visual. Tipografia Georgia (serif) para transmitir sofisticacion. Linea dorada como separador. El tono es sobrio y ejecutivo, diferente a las versiones anteriores que eran mas gaming/tech.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modelos presentados como filas horizontales elegantes, no como cards separadas. Cada fila tiene: nombre en color del modelo, ano, ecuacion en monospace, descripcion en serif. Linea dorada a la izquierda de cada fila. Al final, una nota sutil que conecta todo con PSR. El diseno es limpio, tipo informe academico premium.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columnas con cards blancas sobre fondo ivory. Izquierda: senales de entrada con acento cobre. Derecha: motor bayesiano con acento wine. Cada ecuacion tiene su label en serif bold y la formula en Consolas gris. Es sobrio, legible, profesional. No hay colores neon ni efectos — solo tipografia, espacio y jerarquia.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tarjetas verticales blancas con numeros grandes (01-06) en el color del paso. Cada tarjeta tiene nombre, linea divisoria sutil, y detalle debajo. Conectores minimalistas entre tarjetas. Abajo, la capa de auditoria en texto monoespaciado sutil. Todo sobre fondo ivory calido.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Grafico de dona con paleta calida (cobre, teal, dorado). A la derecha, tres tarjetas blancas explicando cada componente con nombre, formula y descripcion. El diseno es limpio tipo revista de negocios premium.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oscura para el grafico de evolucion. Tres lineas suaves (teal, cobre, dorado) sobre fondo charcoal. Panel lateral derecho con hitos clave. La tipografia serif le da un toque editorial, como una visualizacion del Financial Times.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Comparacion elegante lado a lado. Graficos de barras con paleta wine/steel sobre fondo blanco. Cards de resultado debajo con acento de color a la izquierda. El mensaje visual es claro: el Anchor gana en PSR por consistencia.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columnas oscuras sobre fondo charcoal. Numeros grandes de PSR en el color del jugador. Barras de mu y sigma con estetica minimalista. La formula debajo. Es la misma informacion pero con un look editorial oscuro tipo Bloomberg/FT dark mode.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Grafico de lineas con paleta calida sobre fondo blanco. Panel lateral con interpretacion punto por punto. El estilo es tipo informe de consultoria — limpio, datos claros, sin ruido visual.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tarjetas blancas lado a lado con circulos de colores representando equipos. Wine para equipos fuertes, gris para nuevos. Texto elegante debajo explicando el impacto. La visualizacion es simple pero inmediatamente comprensible.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Barra de percentiles con tres zonas en colores sobrios (steel, teal, gold). Jugadores de ejemplo posicionados debajo con circulos y lineas conectoras. Reglas en italica al final. Todo en Georgia serif — se ve como un grafico de The Economist.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sobrio y memorable. Logo, linea dorada, frase en Georgia serif. Sin adornos. Solo el mensaje: rendimiento, no opinion. El estilo es completamente diferente a las versiones cyberpunk y tech. Se siente como el cierre de una presentacion de McKinsey o Goldman Sachs.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EAF92117-260A-524D-C3BA-A1B65715970A}"/>
              </a:ext>
            </a:extLst>
          </p:cNvPr>
          <p:cNvPicPr>
            <a:picLocks noChangeAspect="1"/>
          </p:cNvPicPr>
          <p:nvPr userDrawn="1"/>
        </p:nvPicPr>
        <p:blipFill rotWithShape="1">
          <a:blip r:embed="rId2"/>
          <a:srcRect b="30984"/>
          <a:stretch/>
        </p:blipFill>
        <p:spPr>
          <a:xfrm>
            <a:off x="7687339" y="4134820"/>
            <a:ext cx="1714339" cy="905014"/>
          </a:xfrm>
          <a:prstGeom prst="rect">
            <a:avLst/>
          </a:prstGeom>
        </p:spPr>
      </p:pic>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2286000" y="0"/>
            <a:ext cx="4572000" cy="3657600"/>
          </a:xfrm>
          <a:prstGeom prst="ellipse">
            <a:avLst/>
          </a:prstGeom>
          <a:solidFill>
            <a:srgbClr val="2A2A4E">
              <a:alpha val="60000"/>
            </a:srgbClr>
          </a:solidFill>
          <a:ln/>
        </p:spPr>
        <p:txBody>
          <a:bodyPr/>
          <a:lstStyle/>
          <a:p>
            <a:endParaRPr lang="es-MX"/>
          </a:p>
        </p:txBody>
      </p:sp>
      <p:pic>
        <p:nvPicPr>
          <p:cNvPr id="3" name="Image 0" descr="/Users/drux/Documents/Drux/GAMERapp/phoenix-arena/public/logo-color.png"/>
          <p:cNvPicPr>
            <a:picLocks noChangeAspect="1"/>
          </p:cNvPicPr>
          <p:nvPr/>
        </p:nvPicPr>
        <p:blipFill>
          <a:blip r:embed="rId3"/>
          <a:srcRect/>
          <a:stretch/>
        </p:blipFill>
        <p:spPr>
          <a:xfrm>
            <a:off x="3429000" y="685800"/>
            <a:ext cx="2286000" cy="2286000"/>
          </a:xfrm>
          <a:prstGeom prst="rect">
            <a:avLst/>
          </a:prstGeom>
        </p:spPr>
      </p:pic>
      <p:sp>
        <p:nvSpPr>
          <p:cNvPr id="4" name="Shape 1"/>
          <p:cNvSpPr/>
          <p:nvPr/>
        </p:nvSpPr>
        <p:spPr>
          <a:xfrm>
            <a:off x="3657600" y="2788920"/>
            <a:ext cx="1828800" cy="13716"/>
          </a:xfrm>
          <a:prstGeom prst="rect">
            <a:avLst/>
          </a:prstGeom>
          <a:solidFill>
            <a:srgbClr val="B8860B"/>
          </a:solidFill>
          <a:ln/>
        </p:spPr>
        <p:txBody>
          <a:bodyPr/>
          <a:lstStyle/>
          <a:p>
            <a:endParaRPr lang="es-MX"/>
          </a:p>
        </p:txBody>
      </p:sp>
      <p:sp>
        <p:nvSpPr>
          <p:cNvPr id="5" name="Text 2"/>
          <p:cNvSpPr/>
          <p:nvPr/>
        </p:nvSpPr>
        <p:spPr>
          <a:xfrm>
            <a:off x="457200" y="2926080"/>
            <a:ext cx="8229600" cy="548640"/>
          </a:xfrm>
          <a:prstGeom prst="rect">
            <a:avLst/>
          </a:prstGeom>
          <a:noFill/>
          <a:ln/>
        </p:spPr>
        <p:txBody>
          <a:bodyPr wrap="square" rtlCol="0" anchor="ctr"/>
          <a:lstStyle/>
          <a:p>
            <a:pPr marL="0" indent="0" algn="ctr">
              <a:buNone/>
            </a:pPr>
            <a:r>
              <a:rPr lang="en-US" sz="3200" dirty="0">
                <a:solidFill>
                  <a:srgbClr val="FFFFFF"/>
                </a:solidFill>
                <a:latin typeface="Georgia" pitchFamily="34" charset="0"/>
                <a:ea typeface="Georgia" pitchFamily="34" charset="-122"/>
                <a:cs typeface="Georgia" pitchFamily="34" charset="-120"/>
              </a:rPr>
              <a:t>Phoenix Skill Rating</a:t>
            </a:r>
            <a:endParaRPr lang="en-US" sz="3200" dirty="0"/>
          </a:p>
        </p:txBody>
      </p:sp>
      <p:sp>
        <p:nvSpPr>
          <p:cNvPr id="6" name="Text 3"/>
          <p:cNvSpPr/>
          <p:nvPr/>
        </p:nvSpPr>
        <p:spPr>
          <a:xfrm>
            <a:off x="457200" y="3474720"/>
            <a:ext cx="8229600" cy="320040"/>
          </a:xfrm>
          <a:prstGeom prst="rect">
            <a:avLst/>
          </a:prstGeom>
          <a:noFill/>
          <a:ln/>
        </p:spPr>
        <p:txBody>
          <a:bodyPr wrap="square" rtlCol="0" anchor="ctr"/>
          <a:lstStyle/>
          <a:p>
            <a:pPr marL="0" indent="0" algn="ctr">
              <a:buNone/>
            </a:pPr>
            <a:r>
              <a:rPr lang="en-US" sz="1300" i="1" dirty="0">
                <a:solidFill>
                  <a:srgbClr val="7A7A8A"/>
                </a:solidFill>
                <a:latin typeface="Georgia" pitchFamily="34" charset="0"/>
                <a:ea typeface="Georgia" pitchFamily="34" charset="-122"/>
                <a:cs typeface="Georgia" pitchFamily="34" charset="-120"/>
              </a:rPr>
              <a:t>Modelo algoritmico y ejemplos de evolucion</a:t>
            </a:r>
            <a:endParaRPr lang="en-US" sz="1300" dirty="0"/>
          </a:p>
        </p:txBody>
      </p:sp>
      <p:sp>
        <p:nvSpPr>
          <p:cNvPr id="7" name="Text 4"/>
          <p:cNvSpPr/>
          <p:nvPr/>
        </p:nvSpPr>
        <p:spPr>
          <a:xfrm>
            <a:off x="457200" y="4572000"/>
            <a:ext cx="8229600" cy="274320"/>
          </a:xfrm>
          <a:prstGeom prst="rect">
            <a:avLst/>
          </a:prstGeom>
          <a:noFill/>
          <a:ln/>
        </p:spPr>
        <p:txBody>
          <a:bodyPr wrap="square" rtlCol="0" anchor="ctr"/>
          <a:lstStyle/>
          <a:p>
            <a:pPr marL="0" indent="0" algn="ctr">
              <a:buNone/>
            </a:pPr>
            <a:r>
              <a:rPr lang="en-US" sz="900" kern="0" spc="200" dirty="0">
                <a:solidFill>
                  <a:srgbClr val="666666"/>
                </a:solidFill>
                <a:latin typeface="Georgia" pitchFamily="34" charset="0"/>
                <a:ea typeface="Georgia" pitchFamily="34" charset="-122"/>
                <a:cs typeface="Georgia" pitchFamily="34" charset="-120"/>
              </a:rPr>
              <a:t>Phoenix Arena  |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731520" y="411480"/>
            <a:ext cx="7680960" cy="594360"/>
          </a:xfrm>
          <a:prstGeom prst="rect">
            <a:avLst/>
          </a:prstGeom>
          <a:noFill/>
          <a:ln/>
        </p:spPr>
        <p:txBody>
          <a:bodyPr wrap="square" lIns="0" tIns="0" rIns="0" bIns="0" rtlCol="0" anchor="ctr"/>
          <a:lstStyle/>
          <a:p>
            <a:pPr marL="0" indent="0">
              <a:buNone/>
            </a:pPr>
            <a:r>
              <a:rPr lang="en-US" sz="2600" dirty="0">
                <a:solidFill>
                  <a:srgbClr val="2D2D3A"/>
                </a:solidFill>
                <a:latin typeface="Georgia" pitchFamily="34" charset="0"/>
                <a:ea typeface="Georgia" pitchFamily="34" charset="-122"/>
                <a:cs typeface="Georgia" pitchFamily="34" charset="-120"/>
              </a:rPr>
              <a:t>Fundamentos academicos</a:t>
            </a:r>
            <a:endParaRPr lang="en-US" sz="2600" dirty="0"/>
          </a:p>
        </p:txBody>
      </p:sp>
      <p:sp>
        <p:nvSpPr>
          <p:cNvPr id="3" name="Shape 1"/>
          <p:cNvSpPr/>
          <p:nvPr/>
        </p:nvSpPr>
        <p:spPr>
          <a:xfrm>
            <a:off x="731520" y="1051560"/>
            <a:ext cx="914400" cy="18288"/>
          </a:xfrm>
          <a:prstGeom prst="rect">
            <a:avLst/>
          </a:prstGeom>
          <a:solidFill>
            <a:srgbClr val="C4956A"/>
          </a:solidFill>
          <a:ln/>
        </p:spPr>
        <p:txBody>
          <a:bodyPr/>
          <a:lstStyle/>
          <a:p>
            <a:endParaRPr lang="es-MX"/>
          </a:p>
        </p:txBody>
      </p:sp>
      <p:sp>
        <p:nvSpPr>
          <p:cNvPr id="4" name="Text 2"/>
          <p:cNvSpPr/>
          <p:nvPr/>
        </p:nvSpPr>
        <p:spPr>
          <a:xfrm>
            <a:off x="731520" y="1107440"/>
            <a:ext cx="3657600" cy="228600"/>
          </a:xfrm>
          <a:prstGeom prst="rect">
            <a:avLst/>
          </a:prstGeom>
          <a:noFill/>
          <a:ln/>
        </p:spPr>
        <p:txBody>
          <a:bodyPr wrap="square" lIns="0" tIns="0" rIns="0" bIns="0" rtlCol="0" anchor="ctr"/>
          <a:lstStyle/>
          <a:p>
            <a:pPr marL="0" indent="0">
              <a:buNone/>
            </a:pPr>
            <a:r>
              <a:rPr lang="en-US" sz="800" kern="0" spc="300" dirty="0">
                <a:solidFill>
                  <a:srgbClr val="7A7A8A"/>
                </a:solidFill>
                <a:latin typeface="Georgia" pitchFamily="34" charset="0"/>
                <a:ea typeface="Georgia" pitchFamily="34" charset="-122"/>
                <a:cs typeface="Georgia" pitchFamily="34" charset="-120"/>
              </a:rPr>
              <a:t>MODELOS PUBLICADOS QUE INSPIRAN PSR</a:t>
            </a:r>
            <a:endParaRPr lang="en-US" sz="800" dirty="0"/>
          </a:p>
        </p:txBody>
      </p:sp>
      <p:sp>
        <p:nvSpPr>
          <p:cNvPr id="5" name="Shape 3"/>
          <p:cNvSpPr/>
          <p:nvPr/>
        </p:nvSpPr>
        <p:spPr>
          <a:xfrm>
            <a:off x="731520" y="1473200"/>
            <a:ext cx="7680960" cy="68580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6" name="Shape 4"/>
          <p:cNvSpPr/>
          <p:nvPr/>
        </p:nvSpPr>
        <p:spPr>
          <a:xfrm>
            <a:off x="731520" y="1473200"/>
            <a:ext cx="32004" cy="685800"/>
          </a:xfrm>
          <a:prstGeom prst="rect">
            <a:avLst/>
          </a:prstGeom>
          <a:solidFill>
            <a:srgbClr val="4A5568"/>
          </a:solidFill>
          <a:ln/>
        </p:spPr>
        <p:txBody>
          <a:bodyPr/>
          <a:lstStyle/>
          <a:p>
            <a:endParaRPr lang="es-MX"/>
          </a:p>
        </p:txBody>
      </p:sp>
      <p:sp>
        <p:nvSpPr>
          <p:cNvPr id="7" name="Text 5"/>
          <p:cNvSpPr/>
          <p:nvPr/>
        </p:nvSpPr>
        <p:spPr>
          <a:xfrm>
            <a:off x="914400" y="1473200"/>
            <a:ext cx="1097280" cy="685800"/>
          </a:xfrm>
          <a:prstGeom prst="rect">
            <a:avLst/>
          </a:prstGeom>
          <a:noFill/>
          <a:ln/>
        </p:spPr>
        <p:txBody>
          <a:bodyPr wrap="square" lIns="0" tIns="0" rIns="0" bIns="0" rtlCol="0" anchor="ctr"/>
          <a:lstStyle/>
          <a:p>
            <a:pPr marL="0" indent="0">
              <a:buNone/>
            </a:pPr>
            <a:r>
              <a:rPr lang="en-US" sz="1400" b="1" dirty="0">
                <a:solidFill>
                  <a:srgbClr val="4A5568"/>
                </a:solidFill>
                <a:latin typeface="Georgia" pitchFamily="34" charset="0"/>
                <a:ea typeface="Georgia" pitchFamily="34" charset="-122"/>
                <a:cs typeface="Georgia" pitchFamily="34" charset="-120"/>
              </a:rPr>
              <a:t>Elo</a:t>
            </a:r>
            <a:endParaRPr lang="en-US" sz="1400" dirty="0"/>
          </a:p>
        </p:txBody>
      </p:sp>
      <p:sp>
        <p:nvSpPr>
          <p:cNvPr id="8" name="Text 6"/>
          <p:cNvSpPr/>
          <p:nvPr/>
        </p:nvSpPr>
        <p:spPr>
          <a:xfrm>
            <a:off x="2011680" y="1473200"/>
            <a:ext cx="548640" cy="685800"/>
          </a:xfrm>
          <a:prstGeom prst="rect">
            <a:avLst/>
          </a:prstGeom>
          <a:noFill/>
          <a:ln/>
        </p:spPr>
        <p:txBody>
          <a:bodyPr wrap="square" lIns="0" tIns="0" rIns="0" bIns="0" rtlCol="0" anchor="ctr"/>
          <a:lstStyle/>
          <a:p>
            <a:pPr marL="0" indent="0">
              <a:buNone/>
            </a:pPr>
            <a:r>
              <a:rPr lang="en-US" sz="1000" dirty="0">
                <a:solidFill>
                  <a:srgbClr val="7A7A8A"/>
                </a:solidFill>
                <a:latin typeface="Georgia" pitchFamily="34" charset="0"/>
                <a:ea typeface="Georgia" pitchFamily="34" charset="-122"/>
                <a:cs typeface="Georgia" pitchFamily="34" charset="-120"/>
              </a:rPr>
              <a:t>1960</a:t>
            </a:r>
            <a:endParaRPr lang="en-US" sz="1000" dirty="0"/>
          </a:p>
        </p:txBody>
      </p:sp>
      <p:sp>
        <p:nvSpPr>
          <p:cNvPr id="9" name="Text 7"/>
          <p:cNvSpPr/>
          <p:nvPr/>
        </p:nvSpPr>
        <p:spPr>
          <a:xfrm>
            <a:off x="2651760" y="1473200"/>
            <a:ext cx="2560320" cy="685800"/>
          </a:xfrm>
          <a:prstGeom prst="rect">
            <a:avLst/>
          </a:prstGeom>
          <a:noFill/>
          <a:ln/>
        </p:spPr>
        <p:txBody>
          <a:bodyPr wrap="square" lIns="0" tIns="0" rIns="0" bIns="0" rtlCol="0" anchor="ctr"/>
          <a:lstStyle/>
          <a:p>
            <a:pPr marL="0" indent="0">
              <a:buNone/>
            </a:pPr>
            <a:r>
              <a:rPr lang="en-US" sz="1100" dirty="0">
                <a:solidFill>
                  <a:srgbClr val="2D2D3A"/>
                </a:solidFill>
                <a:latin typeface="Consolas" pitchFamily="34" charset="0"/>
                <a:ea typeface="Consolas" pitchFamily="34" charset="-122"/>
                <a:cs typeface="Consolas" pitchFamily="34" charset="-120"/>
              </a:rPr>
              <a:t>R' = R + K(S - E)</a:t>
            </a:r>
            <a:endParaRPr lang="en-US" sz="1100" dirty="0"/>
          </a:p>
        </p:txBody>
      </p:sp>
      <p:sp>
        <p:nvSpPr>
          <p:cNvPr id="10" name="Text 8"/>
          <p:cNvSpPr/>
          <p:nvPr/>
        </p:nvSpPr>
        <p:spPr>
          <a:xfrm>
            <a:off x="5303520" y="1473200"/>
            <a:ext cx="2926080" cy="685800"/>
          </a:xfrm>
          <a:prstGeom prst="rect">
            <a:avLst/>
          </a:prstGeom>
          <a:noFill/>
          <a:ln/>
        </p:spPr>
        <p:txBody>
          <a:bodyPr wrap="square" lIns="0" tIns="0" rIns="0" bIns="0" rtlCol="0" anchor="ctr"/>
          <a:lstStyle/>
          <a:p>
            <a:pPr marL="0" indent="0">
              <a:buNone/>
            </a:pPr>
            <a:r>
              <a:rPr lang="en-US" sz="1000" dirty="0">
                <a:solidFill>
                  <a:srgbClr val="7A7A8A"/>
                </a:solidFill>
                <a:latin typeface="Georgia" pitchFamily="34" charset="0"/>
                <a:ea typeface="Georgia" pitchFamily="34" charset="-122"/>
                <a:cs typeface="Georgia" pitchFamily="34" charset="-120"/>
              </a:rPr>
              <a:t>Rating lineal. Sube o baja segun resultado. Sin modelo de incertidumbre.</a:t>
            </a:r>
            <a:endParaRPr lang="en-US" sz="1000" dirty="0"/>
          </a:p>
        </p:txBody>
      </p:sp>
      <p:sp>
        <p:nvSpPr>
          <p:cNvPr id="11" name="Shape 9"/>
          <p:cNvSpPr/>
          <p:nvPr/>
        </p:nvSpPr>
        <p:spPr>
          <a:xfrm>
            <a:off x="731520" y="2296160"/>
            <a:ext cx="7680960" cy="68580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12" name="Shape 10"/>
          <p:cNvSpPr/>
          <p:nvPr/>
        </p:nvSpPr>
        <p:spPr>
          <a:xfrm>
            <a:off x="731520" y="2296160"/>
            <a:ext cx="32004" cy="685800"/>
          </a:xfrm>
          <a:prstGeom prst="rect">
            <a:avLst/>
          </a:prstGeom>
          <a:solidFill>
            <a:srgbClr val="2D6B6B"/>
          </a:solidFill>
          <a:ln/>
        </p:spPr>
        <p:txBody>
          <a:bodyPr/>
          <a:lstStyle/>
          <a:p>
            <a:endParaRPr lang="es-MX"/>
          </a:p>
        </p:txBody>
      </p:sp>
      <p:sp>
        <p:nvSpPr>
          <p:cNvPr id="13" name="Text 11"/>
          <p:cNvSpPr/>
          <p:nvPr/>
        </p:nvSpPr>
        <p:spPr>
          <a:xfrm>
            <a:off x="914400" y="2296160"/>
            <a:ext cx="1097280" cy="685800"/>
          </a:xfrm>
          <a:prstGeom prst="rect">
            <a:avLst/>
          </a:prstGeom>
          <a:noFill/>
          <a:ln/>
        </p:spPr>
        <p:txBody>
          <a:bodyPr wrap="square" lIns="0" tIns="0" rIns="0" bIns="0" rtlCol="0" anchor="ctr"/>
          <a:lstStyle/>
          <a:p>
            <a:pPr marL="0" indent="0">
              <a:buNone/>
            </a:pPr>
            <a:r>
              <a:rPr lang="en-US" sz="1400" b="1" dirty="0">
                <a:solidFill>
                  <a:srgbClr val="2D6B6B"/>
                </a:solidFill>
                <a:latin typeface="Georgia" pitchFamily="34" charset="0"/>
                <a:ea typeface="Georgia" pitchFamily="34" charset="-122"/>
                <a:cs typeface="Georgia" pitchFamily="34" charset="-120"/>
              </a:rPr>
              <a:t>Glicko-2</a:t>
            </a:r>
            <a:endParaRPr lang="en-US" sz="1400" dirty="0"/>
          </a:p>
        </p:txBody>
      </p:sp>
      <p:sp>
        <p:nvSpPr>
          <p:cNvPr id="14" name="Text 12"/>
          <p:cNvSpPr/>
          <p:nvPr/>
        </p:nvSpPr>
        <p:spPr>
          <a:xfrm>
            <a:off x="2011680" y="2296160"/>
            <a:ext cx="548640" cy="685800"/>
          </a:xfrm>
          <a:prstGeom prst="rect">
            <a:avLst/>
          </a:prstGeom>
          <a:noFill/>
          <a:ln/>
        </p:spPr>
        <p:txBody>
          <a:bodyPr wrap="square" lIns="0" tIns="0" rIns="0" bIns="0" rtlCol="0" anchor="ctr"/>
          <a:lstStyle/>
          <a:p>
            <a:pPr marL="0" indent="0">
              <a:buNone/>
            </a:pPr>
            <a:r>
              <a:rPr lang="en-US" sz="1000" dirty="0">
                <a:solidFill>
                  <a:srgbClr val="7A7A8A"/>
                </a:solidFill>
                <a:latin typeface="Georgia" pitchFamily="34" charset="0"/>
                <a:ea typeface="Georgia" pitchFamily="34" charset="-122"/>
                <a:cs typeface="Georgia" pitchFamily="34" charset="-120"/>
              </a:rPr>
              <a:t>2000</a:t>
            </a:r>
            <a:endParaRPr lang="en-US" sz="1000" dirty="0"/>
          </a:p>
        </p:txBody>
      </p:sp>
      <p:sp>
        <p:nvSpPr>
          <p:cNvPr id="15" name="Text 13"/>
          <p:cNvSpPr/>
          <p:nvPr/>
        </p:nvSpPr>
        <p:spPr>
          <a:xfrm>
            <a:off x="2651760" y="2296160"/>
            <a:ext cx="2560320" cy="685800"/>
          </a:xfrm>
          <a:prstGeom prst="rect">
            <a:avLst/>
          </a:prstGeom>
          <a:noFill/>
          <a:ln/>
        </p:spPr>
        <p:txBody>
          <a:bodyPr wrap="square" lIns="0" tIns="0" rIns="0" bIns="0" rtlCol="0" anchor="ctr"/>
          <a:lstStyle/>
          <a:p>
            <a:pPr marL="0" indent="0">
              <a:buNone/>
            </a:pPr>
            <a:r>
              <a:rPr lang="en-US" sz="1100" dirty="0">
                <a:solidFill>
                  <a:srgbClr val="2D2D3A"/>
                </a:solidFill>
                <a:latin typeface="Consolas" pitchFamily="34" charset="0"/>
                <a:ea typeface="Consolas" pitchFamily="34" charset="-122"/>
                <a:cs typeface="Consolas" pitchFamily="34" charset="-120"/>
              </a:rPr>
              <a:t>R + RD + volatility</a:t>
            </a:r>
            <a:endParaRPr lang="en-US" sz="1100" dirty="0"/>
          </a:p>
        </p:txBody>
      </p:sp>
      <p:sp>
        <p:nvSpPr>
          <p:cNvPr id="16" name="Text 14"/>
          <p:cNvSpPr/>
          <p:nvPr/>
        </p:nvSpPr>
        <p:spPr>
          <a:xfrm>
            <a:off x="5303520" y="2296160"/>
            <a:ext cx="2926080" cy="685800"/>
          </a:xfrm>
          <a:prstGeom prst="rect">
            <a:avLst/>
          </a:prstGeom>
          <a:noFill/>
          <a:ln/>
        </p:spPr>
        <p:txBody>
          <a:bodyPr wrap="square" lIns="0" tIns="0" rIns="0" bIns="0" rtlCol="0" anchor="ctr"/>
          <a:lstStyle/>
          <a:p>
            <a:pPr marL="0" indent="0">
              <a:buNone/>
            </a:pPr>
            <a:r>
              <a:rPr lang="en-US" sz="1000" dirty="0">
                <a:solidFill>
                  <a:srgbClr val="7A7A8A"/>
                </a:solidFill>
                <a:latin typeface="Georgia" pitchFamily="34" charset="0"/>
                <a:ea typeface="Georgia" pitchFamily="34" charset="-122"/>
                <a:cs typeface="Georgia" pitchFamily="34" charset="-120"/>
              </a:rPr>
              <a:t>Incorpora desviacion del rating. Menos partidas implica menor certeza.</a:t>
            </a:r>
            <a:endParaRPr lang="en-US" sz="1000" dirty="0"/>
          </a:p>
        </p:txBody>
      </p:sp>
      <p:sp>
        <p:nvSpPr>
          <p:cNvPr id="17" name="Shape 15"/>
          <p:cNvSpPr/>
          <p:nvPr/>
        </p:nvSpPr>
        <p:spPr>
          <a:xfrm>
            <a:off x="731520" y="3119120"/>
            <a:ext cx="7680960" cy="68580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18" name="Shape 16"/>
          <p:cNvSpPr/>
          <p:nvPr/>
        </p:nvSpPr>
        <p:spPr>
          <a:xfrm>
            <a:off x="731520" y="3119120"/>
            <a:ext cx="32004" cy="685800"/>
          </a:xfrm>
          <a:prstGeom prst="rect">
            <a:avLst/>
          </a:prstGeom>
          <a:solidFill>
            <a:srgbClr val="6B2D5B"/>
          </a:solidFill>
          <a:ln/>
        </p:spPr>
        <p:txBody>
          <a:bodyPr/>
          <a:lstStyle/>
          <a:p>
            <a:endParaRPr lang="es-MX"/>
          </a:p>
        </p:txBody>
      </p:sp>
      <p:sp>
        <p:nvSpPr>
          <p:cNvPr id="19" name="Text 17"/>
          <p:cNvSpPr/>
          <p:nvPr/>
        </p:nvSpPr>
        <p:spPr>
          <a:xfrm>
            <a:off x="914400" y="3119120"/>
            <a:ext cx="1097280" cy="685800"/>
          </a:xfrm>
          <a:prstGeom prst="rect">
            <a:avLst/>
          </a:prstGeom>
          <a:noFill/>
          <a:ln/>
        </p:spPr>
        <p:txBody>
          <a:bodyPr wrap="square" lIns="0" tIns="0" rIns="0" bIns="0" rtlCol="0" anchor="ctr"/>
          <a:lstStyle/>
          <a:p>
            <a:pPr marL="0" indent="0">
              <a:buNone/>
            </a:pPr>
            <a:r>
              <a:rPr lang="en-US" sz="1400" b="1" dirty="0">
                <a:solidFill>
                  <a:srgbClr val="6B2D5B"/>
                </a:solidFill>
                <a:latin typeface="Georgia" pitchFamily="34" charset="0"/>
                <a:ea typeface="Georgia" pitchFamily="34" charset="-122"/>
                <a:cs typeface="Georgia" pitchFamily="34" charset="-120"/>
              </a:rPr>
              <a:t>TrueSkill</a:t>
            </a:r>
            <a:endParaRPr lang="en-US" sz="1400" dirty="0"/>
          </a:p>
        </p:txBody>
      </p:sp>
      <p:sp>
        <p:nvSpPr>
          <p:cNvPr id="20" name="Text 18"/>
          <p:cNvSpPr/>
          <p:nvPr/>
        </p:nvSpPr>
        <p:spPr>
          <a:xfrm>
            <a:off x="2011680" y="3119120"/>
            <a:ext cx="548640" cy="685800"/>
          </a:xfrm>
          <a:prstGeom prst="rect">
            <a:avLst/>
          </a:prstGeom>
          <a:noFill/>
          <a:ln/>
        </p:spPr>
        <p:txBody>
          <a:bodyPr wrap="square" lIns="0" tIns="0" rIns="0" bIns="0" rtlCol="0" anchor="ctr"/>
          <a:lstStyle/>
          <a:p>
            <a:pPr marL="0" indent="0">
              <a:buNone/>
            </a:pPr>
            <a:r>
              <a:rPr lang="en-US" sz="1000" dirty="0">
                <a:solidFill>
                  <a:srgbClr val="7A7A8A"/>
                </a:solidFill>
                <a:latin typeface="Georgia" pitchFamily="34" charset="0"/>
                <a:ea typeface="Georgia" pitchFamily="34" charset="-122"/>
                <a:cs typeface="Georgia" pitchFamily="34" charset="-120"/>
              </a:rPr>
              <a:t>2006</a:t>
            </a:r>
            <a:endParaRPr lang="en-US" sz="1000" dirty="0"/>
          </a:p>
        </p:txBody>
      </p:sp>
      <p:sp>
        <p:nvSpPr>
          <p:cNvPr id="21" name="Text 19"/>
          <p:cNvSpPr/>
          <p:nvPr/>
        </p:nvSpPr>
        <p:spPr>
          <a:xfrm>
            <a:off x="2651760" y="3119120"/>
            <a:ext cx="2560320" cy="685800"/>
          </a:xfrm>
          <a:prstGeom prst="rect">
            <a:avLst/>
          </a:prstGeom>
          <a:noFill/>
          <a:ln/>
        </p:spPr>
        <p:txBody>
          <a:bodyPr wrap="square" lIns="0" tIns="0" rIns="0" bIns="0" rtlCol="0" anchor="ctr"/>
          <a:lstStyle/>
          <a:p>
            <a:pPr marL="0" indent="0">
              <a:buNone/>
            </a:pPr>
            <a:r>
              <a:rPr lang="en-US" sz="1100" dirty="0">
                <a:solidFill>
                  <a:srgbClr val="2D2D3A"/>
                </a:solidFill>
                <a:latin typeface="Consolas" pitchFamily="34" charset="0"/>
                <a:ea typeface="Consolas" pitchFamily="34" charset="-122"/>
                <a:cs typeface="Consolas" pitchFamily="34" charset="-120"/>
              </a:rPr>
              <a:t>skill ~ N(mu, sigma²)</a:t>
            </a:r>
            <a:endParaRPr lang="en-US" sz="1100" dirty="0"/>
          </a:p>
        </p:txBody>
      </p:sp>
      <p:sp>
        <p:nvSpPr>
          <p:cNvPr id="22" name="Text 20"/>
          <p:cNvSpPr/>
          <p:nvPr/>
        </p:nvSpPr>
        <p:spPr>
          <a:xfrm>
            <a:off x="5303520" y="3119120"/>
            <a:ext cx="2926080" cy="685800"/>
          </a:xfrm>
          <a:prstGeom prst="rect">
            <a:avLst/>
          </a:prstGeom>
          <a:noFill/>
          <a:ln/>
        </p:spPr>
        <p:txBody>
          <a:bodyPr wrap="square" lIns="0" tIns="0" rIns="0" bIns="0" rtlCol="0" anchor="ctr"/>
          <a:lstStyle/>
          <a:p>
            <a:pPr marL="0" indent="0">
              <a:buNone/>
            </a:pPr>
            <a:r>
              <a:rPr lang="en-US" sz="1000" dirty="0">
                <a:solidFill>
                  <a:srgbClr val="7A7A8A"/>
                </a:solidFill>
                <a:latin typeface="Georgia" pitchFamily="34" charset="0"/>
                <a:ea typeface="Georgia" pitchFamily="34" charset="-122"/>
                <a:cs typeface="Georgia" pitchFamily="34" charset="-120"/>
              </a:rPr>
              <a:t>Variable latente con distribucion normal. Incertidumbre explicita.</a:t>
            </a:r>
            <a:endParaRPr lang="en-US" sz="1000" dirty="0"/>
          </a:p>
        </p:txBody>
      </p:sp>
      <p:sp>
        <p:nvSpPr>
          <p:cNvPr id="23" name="Shape 21"/>
          <p:cNvSpPr/>
          <p:nvPr/>
        </p:nvSpPr>
        <p:spPr>
          <a:xfrm>
            <a:off x="731520" y="3942080"/>
            <a:ext cx="7680960" cy="68580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24" name="Shape 22"/>
          <p:cNvSpPr/>
          <p:nvPr/>
        </p:nvSpPr>
        <p:spPr>
          <a:xfrm>
            <a:off x="731520" y="3942080"/>
            <a:ext cx="32004" cy="685800"/>
          </a:xfrm>
          <a:prstGeom prst="rect">
            <a:avLst/>
          </a:prstGeom>
          <a:solidFill>
            <a:srgbClr val="B8860B"/>
          </a:solidFill>
          <a:ln/>
        </p:spPr>
        <p:txBody>
          <a:bodyPr/>
          <a:lstStyle/>
          <a:p>
            <a:endParaRPr lang="es-MX"/>
          </a:p>
        </p:txBody>
      </p:sp>
      <p:sp>
        <p:nvSpPr>
          <p:cNvPr id="25" name="Text 23"/>
          <p:cNvSpPr/>
          <p:nvPr/>
        </p:nvSpPr>
        <p:spPr>
          <a:xfrm>
            <a:off x="914400" y="3942080"/>
            <a:ext cx="1097280" cy="685800"/>
          </a:xfrm>
          <a:prstGeom prst="rect">
            <a:avLst/>
          </a:prstGeom>
          <a:noFill/>
          <a:ln/>
        </p:spPr>
        <p:txBody>
          <a:bodyPr wrap="square" lIns="0" tIns="0" rIns="0" bIns="0" rtlCol="0" anchor="ctr"/>
          <a:lstStyle/>
          <a:p>
            <a:pPr marL="0" indent="0">
              <a:buNone/>
            </a:pPr>
            <a:r>
              <a:rPr lang="en-US" sz="1400" b="1" dirty="0">
                <a:solidFill>
                  <a:srgbClr val="B8860B"/>
                </a:solidFill>
                <a:latin typeface="Georgia" pitchFamily="34" charset="0"/>
                <a:ea typeface="Georgia" pitchFamily="34" charset="-122"/>
                <a:cs typeface="Georgia" pitchFamily="34" charset="-120"/>
              </a:rPr>
              <a:t>OpenSkill</a:t>
            </a:r>
            <a:endParaRPr lang="en-US" sz="1400" dirty="0"/>
          </a:p>
        </p:txBody>
      </p:sp>
      <p:sp>
        <p:nvSpPr>
          <p:cNvPr id="26" name="Text 24"/>
          <p:cNvSpPr/>
          <p:nvPr/>
        </p:nvSpPr>
        <p:spPr>
          <a:xfrm>
            <a:off x="2011680" y="3942080"/>
            <a:ext cx="548640" cy="685800"/>
          </a:xfrm>
          <a:prstGeom prst="rect">
            <a:avLst/>
          </a:prstGeom>
          <a:noFill/>
          <a:ln/>
        </p:spPr>
        <p:txBody>
          <a:bodyPr wrap="square" lIns="0" tIns="0" rIns="0" bIns="0" rtlCol="0" anchor="ctr"/>
          <a:lstStyle/>
          <a:p>
            <a:pPr marL="0" indent="0">
              <a:buNone/>
            </a:pPr>
            <a:r>
              <a:rPr lang="en-US" sz="1000" dirty="0">
                <a:solidFill>
                  <a:srgbClr val="7A7A8A"/>
                </a:solidFill>
                <a:latin typeface="Georgia" pitchFamily="34" charset="0"/>
                <a:ea typeface="Georgia" pitchFamily="34" charset="-122"/>
                <a:cs typeface="Georgia" pitchFamily="34" charset="-120"/>
              </a:rPr>
              <a:t>2024</a:t>
            </a:r>
            <a:endParaRPr lang="en-US" sz="1000" dirty="0"/>
          </a:p>
        </p:txBody>
      </p:sp>
      <p:sp>
        <p:nvSpPr>
          <p:cNvPr id="27" name="Text 25"/>
          <p:cNvSpPr/>
          <p:nvPr/>
        </p:nvSpPr>
        <p:spPr>
          <a:xfrm>
            <a:off x="2651760" y="3942080"/>
            <a:ext cx="2560320" cy="685800"/>
          </a:xfrm>
          <a:prstGeom prst="rect">
            <a:avLst/>
          </a:prstGeom>
          <a:noFill/>
          <a:ln/>
        </p:spPr>
        <p:txBody>
          <a:bodyPr wrap="square" lIns="0" tIns="0" rIns="0" bIns="0" rtlCol="0" anchor="ctr"/>
          <a:lstStyle/>
          <a:p>
            <a:pPr marL="0" indent="0">
              <a:buNone/>
            </a:pPr>
            <a:r>
              <a:rPr lang="en-US" sz="1100" dirty="0">
                <a:solidFill>
                  <a:srgbClr val="2D2D3A"/>
                </a:solidFill>
                <a:latin typeface="Consolas" pitchFamily="34" charset="0"/>
                <a:ea typeface="Consolas" pitchFamily="34" charset="-122"/>
                <a:cs typeface="Consolas" pitchFamily="34" charset="-120"/>
              </a:rPr>
              <a:t>Weng-Lin + Plackett-Luce</a:t>
            </a:r>
            <a:endParaRPr lang="en-US" sz="1100" dirty="0"/>
          </a:p>
        </p:txBody>
      </p:sp>
      <p:sp>
        <p:nvSpPr>
          <p:cNvPr id="28" name="Text 26"/>
          <p:cNvSpPr/>
          <p:nvPr/>
        </p:nvSpPr>
        <p:spPr>
          <a:xfrm>
            <a:off x="5303520" y="3942080"/>
            <a:ext cx="2926080" cy="685800"/>
          </a:xfrm>
          <a:prstGeom prst="rect">
            <a:avLst/>
          </a:prstGeom>
          <a:noFill/>
          <a:ln/>
        </p:spPr>
        <p:txBody>
          <a:bodyPr wrap="square" lIns="0" tIns="0" rIns="0" bIns="0" rtlCol="0" anchor="ctr"/>
          <a:lstStyle/>
          <a:p>
            <a:pPr marL="0" indent="0">
              <a:buNone/>
            </a:pPr>
            <a:r>
              <a:rPr lang="en-US" sz="1000" dirty="0">
                <a:solidFill>
                  <a:srgbClr val="7A7A8A"/>
                </a:solidFill>
                <a:latin typeface="Georgia" pitchFamily="34" charset="0"/>
                <a:ea typeface="Georgia" pitchFamily="34" charset="-122"/>
                <a:cs typeface="Georgia" pitchFamily="34" charset="-120"/>
              </a:rPr>
              <a:t>Extension bayesiana para multiples equipos y placements.</a:t>
            </a:r>
            <a:endParaRPr lang="en-US" sz="1000" dirty="0"/>
          </a:p>
        </p:txBody>
      </p:sp>
      <p:sp>
        <p:nvSpPr>
          <p:cNvPr id="29" name="Shape 27"/>
          <p:cNvSpPr/>
          <p:nvPr/>
        </p:nvSpPr>
        <p:spPr>
          <a:xfrm>
            <a:off x="731520" y="4490720"/>
            <a:ext cx="7680960" cy="13716"/>
          </a:xfrm>
          <a:prstGeom prst="rect">
            <a:avLst/>
          </a:prstGeom>
          <a:solidFill>
            <a:srgbClr val="D4CFC7"/>
          </a:solidFill>
          <a:ln/>
        </p:spPr>
        <p:txBody>
          <a:bodyPr/>
          <a:lstStyle/>
          <a:p>
            <a:endParaRPr lang="es-MX"/>
          </a:p>
        </p:txBody>
      </p:sp>
      <p:sp>
        <p:nvSpPr>
          <p:cNvPr id="30" name="Text 28"/>
          <p:cNvSpPr/>
          <p:nvPr/>
        </p:nvSpPr>
        <p:spPr>
          <a:xfrm>
            <a:off x="731520" y="4726940"/>
            <a:ext cx="7680960" cy="182880"/>
          </a:xfrm>
          <a:prstGeom prst="rect">
            <a:avLst/>
          </a:prstGeom>
          <a:noFill/>
          <a:ln/>
        </p:spPr>
        <p:txBody>
          <a:bodyPr wrap="square" lIns="0" tIns="0" rIns="0" bIns="0" rtlCol="0" anchor="ctr"/>
          <a:lstStyle/>
          <a:p>
            <a:pPr marL="0" indent="0">
              <a:buNone/>
            </a:pPr>
            <a:r>
              <a:rPr lang="en-US" sz="900" i="1" dirty="0">
                <a:solidFill>
                  <a:srgbClr val="7A7A8A"/>
                </a:solidFill>
                <a:latin typeface="Georgia" pitchFamily="34" charset="0"/>
                <a:ea typeface="Georgia" pitchFamily="34" charset="-122"/>
                <a:cs typeface="Georgia" pitchFamily="34" charset="-120"/>
              </a:rPr>
              <a:t>PSR se inspira en estos modelos, combinando incertidumbre explicita, variable latente y comparacion multi-jugador.</a:t>
            </a:r>
            <a:endParaRPr lang="en-US" sz="900" dirty="0"/>
          </a:p>
        </p:txBody>
      </p:sp>
      <p:sp>
        <p:nvSpPr>
          <p:cNvPr id="32" name="Text 30"/>
          <p:cNvSpPr/>
          <p:nvPr/>
        </p:nvSpPr>
        <p:spPr>
          <a:xfrm>
            <a:off x="-40640" y="4927600"/>
            <a:ext cx="8046720" cy="274320"/>
          </a:xfrm>
          <a:prstGeom prst="rect">
            <a:avLst/>
          </a:prstGeom>
          <a:noFill/>
          <a:ln/>
        </p:spPr>
        <p:txBody>
          <a:bodyPr wrap="square" rtlCol="0" anchor="ctr"/>
          <a:lstStyle/>
          <a:p>
            <a:pPr marL="0" indent="0">
              <a:buNone/>
            </a:pPr>
            <a:r>
              <a:rPr lang="en-US" sz="700" i="1" dirty="0">
                <a:solidFill>
                  <a:srgbClr val="AAAAAA"/>
                </a:solidFill>
                <a:latin typeface="Georgia" pitchFamily="34" charset="0"/>
                <a:ea typeface="Georgia" pitchFamily="34" charset="-122"/>
                <a:cs typeface="Georgia" pitchFamily="34" charset="-120"/>
              </a:rPr>
              <a:t>Herbrich et al. 2006; Glickman 2000; Weng &amp; Lin 2011; </a:t>
            </a:r>
            <a:r>
              <a:rPr lang="en-US" sz="700" i="1" dirty="0" err="1">
                <a:solidFill>
                  <a:srgbClr val="AAAAAA"/>
                </a:solidFill>
                <a:latin typeface="Georgia" pitchFamily="34" charset="0"/>
                <a:ea typeface="Georgia" pitchFamily="34" charset="-122"/>
                <a:cs typeface="Georgia" pitchFamily="34" charset="-120"/>
              </a:rPr>
              <a:t>Joshy</a:t>
            </a:r>
            <a:r>
              <a:rPr lang="en-US" sz="700" i="1" dirty="0">
                <a:solidFill>
                  <a:srgbClr val="AAAAAA"/>
                </a:solidFill>
                <a:latin typeface="Georgia" pitchFamily="34" charset="0"/>
                <a:ea typeface="Georgia" pitchFamily="34" charset="-122"/>
                <a:cs typeface="Georgia" pitchFamily="34" charset="-120"/>
              </a:rPr>
              <a:t> 2024</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731520" y="411480"/>
            <a:ext cx="7680960" cy="594360"/>
          </a:xfrm>
          <a:prstGeom prst="rect">
            <a:avLst/>
          </a:prstGeom>
          <a:noFill/>
          <a:ln/>
        </p:spPr>
        <p:txBody>
          <a:bodyPr wrap="square" lIns="0" tIns="0" rIns="0" bIns="0" rtlCol="0" anchor="ctr"/>
          <a:lstStyle/>
          <a:p>
            <a:pPr marL="0" indent="0">
              <a:buNone/>
            </a:pPr>
            <a:r>
              <a:rPr lang="en-US" sz="2600" dirty="0">
                <a:solidFill>
                  <a:srgbClr val="2D2D3A"/>
                </a:solidFill>
                <a:latin typeface="Georgia" pitchFamily="34" charset="0"/>
                <a:ea typeface="Georgia" pitchFamily="34" charset="-122"/>
                <a:cs typeface="Georgia" pitchFamily="34" charset="-120"/>
              </a:rPr>
              <a:t>Arquitectura matematica</a:t>
            </a:r>
            <a:endParaRPr lang="en-US" sz="2600" dirty="0"/>
          </a:p>
        </p:txBody>
      </p:sp>
      <p:sp>
        <p:nvSpPr>
          <p:cNvPr id="3" name="Shape 1"/>
          <p:cNvSpPr/>
          <p:nvPr/>
        </p:nvSpPr>
        <p:spPr>
          <a:xfrm>
            <a:off x="731520" y="1051560"/>
            <a:ext cx="914400" cy="18288"/>
          </a:xfrm>
          <a:prstGeom prst="rect">
            <a:avLst/>
          </a:prstGeom>
          <a:solidFill>
            <a:srgbClr val="C4956A"/>
          </a:solidFill>
          <a:ln/>
        </p:spPr>
        <p:txBody>
          <a:bodyPr/>
          <a:lstStyle/>
          <a:p>
            <a:endParaRPr lang="es-MX"/>
          </a:p>
        </p:txBody>
      </p:sp>
      <p:sp>
        <p:nvSpPr>
          <p:cNvPr id="4" name="Text 2"/>
          <p:cNvSpPr/>
          <p:nvPr/>
        </p:nvSpPr>
        <p:spPr>
          <a:xfrm>
            <a:off x="731520" y="1188720"/>
            <a:ext cx="3657600" cy="228600"/>
          </a:xfrm>
          <a:prstGeom prst="rect">
            <a:avLst/>
          </a:prstGeom>
          <a:noFill/>
          <a:ln/>
        </p:spPr>
        <p:txBody>
          <a:bodyPr wrap="square" lIns="0" tIns="0" rIns="0" bIns="0" rtlCol="0" anchor="ctr"/>
          <a:lstStyle/>
          <a:p>
            <a:pPr marL="0" indent="0">
              <a:buNone/>
            </a:pPr>
            <a:r>
              <a:rPr lang="en-US" sz="800" kern="0" spc="300" dirty="0">
                <a:solidFill>
                  <a:srgbClr val="7A7A8A"/>
                </a:solidFill>
                <a:latin typeface="Georgia" pitchFamily="34" charset="0"/>
                <a:ea typeface="Georgia" pitchFamily="34" charset="-122"/>
                <a:cs typeface="Georgia" pitchFamily="34" charset="-120"/>
              </a:rPr>
              <a:t>SENALES DE ENTRADA Y MOTOR BAYESIANO</a:t>
            </a:r>
            <a:endParaRPr lang="en-US" sz="800" dirty="0"/>
          </a:p>
        </p:txBody>
      </p:sp>
      <p:sp>
        <p:nvSpPr>
          <p:cNvPr id="5" name="Shape 3"/>
          <p:cNvSpPr/>
          <p:nvPr/>
        </p:nvSpPr>
        <p:spPr>
          <a:xfrm>
            <a:off x="731520" y="1508760"/>
            <a:ext cx="3657600" cy="310896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6" name="Shape 4"/>
          <p:cNvSpPr/>
          <p:nvPr/>
        </p:nvSpPr>
        <p:spPr>
          <a:xfrm>
            <a:off x="731520" y="1508760"/>
            <a:ext cx="32004" cy="3108960"/>
          </a:xfrm>
          <a:prstGeom prst="rect">
            <a:avLst/>
          </a:prstGeom>
          <a:solidFill>
            <a:srgbClr val="C4956A"/>
          </a:solidFill>
          <a:ln/>
        </p:spPr>
        <p:txBody>
          <a:bodyPr/>
          <a:lstStyle/>
          <a:p>
            <a:endParaRPr lang="es-MX"/>
          </a:p>
        </p:txBody>
      </p:sp>
      <p:sp>
        <p:nvSpPr>
          <p:cNvPr id="7" name="Text 5"/>
          <p:cNvSpPr/>
          <p:nvPr/>
        </p:nvSpPr>
        <p:spPr>
          <a:xfrm>
            <a:off x="914400" y="1600200"/>
            <a:ext cx="3291840" cy="274320"/>
          </a:xfrm>
          <a:prstGeom prst="rect">
            <a:avLst/>
          </a:prstGeom>
          <a:noFill/>
          <a:ln/>
        </p:spPr>
        <p:txBody>
          <a:bodyPr wrap="square" lIns="0" tIns="0" rIns="0" bIns="0" rtlCol="0" anchor="ctr"/>
          <a:lstStyle/>
          <a:p>
            <a:pPr marL="0" indent="0">
              <a:buNone/>
            </a:pPr>
            <a:r>
              <a:rPr lang="en-US" sz="1100" b="1" dirty="0">
                <a:solidFill>
                  <a:srgbClr val="C4956A"/>
                </a:solidFill>
                <a:latin typeface="Georgia" pitchFamily="34" charset="0"/>
                <a:ea typeface="Georgia" pitchFamily="34" charset="-122"/>
                <a:cs typeface="Georgia" pitchFamily="34" charset="-120"/>
              </a:rPr>
              <a:t>Senales observadas</a:t>
            </a:r>
            <a:endParaRPr lang="en-US" sz="1100" dirty="0"/>
          </a:p>
        </p:txBody>
      </p:sp>
      <p:sp>
        <p:nvSpPr>
          <p:cNvPr id="8" name="Text 6"/>
          <p:cNvSpPr/>
          <p:nvPr/>
        </p:nvSpPr>
        <p:spPr>
          <a:xfrm>
            <a:off x="914400" y="1965960"/>
            <a:ext cx="1280160" cy="201168"/>
          </a:xfrm>
          <a:prstGeom prst="rect">
            <a:avLst/>
          </a:prstGeom>
          <a:noFill/>
          <a:ln/>
        </p:spPr>
        <p:txBody>
          <a:bodyPr wrap="square" lIns="0" tIns="0" rIns="0" bIns="0" rtlCol="0" anchor="ctr"/>
          <a:lstStyle/>
          <a:p>
            <a:pPr marL="0" indent="0">
              <a:buNone/>
            </a:pPr>
            <a:r>
              <a:rPr lang="en-US" sz="900" b="1" dirty="0">
                <a:solidFill>
                  <a:srgbClr val="2D2D3A"/>
                </a:solidFill>
                <a:latin typeface="Georgia" pitchFamily="34" charset="0"/>
                <a:ea typeface="Georgia" pitchFamily="34" charset="-122"/>
                <a:cs typeface="Georgia" pitchFamily="34" charset="-120"/>
              </a:rPr>
              <a:t>Placement</a:t>
            </a:r>
            <a:endParaRPr lang="en-US" sz="900" dirty="0"/>
          </a:p>
        </p:txBody>
      </p:sp>
      <p:sp>
        <p:nvSpPr>
          <p:cNvPr id="9" name="Text 7"/>
          <p:cNvSpPr/>
          <p:nvPr/>
        </p:nvSpPr>
        <p:spPr>
          <a:xfrm>
            <a:off x="914400" y="2167128"/>
            <a:ext cx="3291840" cy="201168"/>
          </a:xfrm>
          <a:prstGeom prst="rect">
            <a:avLst/>
          </a:prstGeom>
          <a:noFill/>
          <a:ln/>
        </p:spPr>
        <p:txBody>
          <a:bodyPr wrap="square" lIns="0" tIns="0" rIns="0" bIns="0" rtlCol="0" anchor="ctr"/>
          <a:lstStyle/>
          <a:p>
            <a:pPr marL="0" indent="0">
              <a:buNone/>
            </a:pPr>
            <a:r>
              <a:rPr lang="en-US" sz="900" dirty="0">
                <a:solidFill>
                  <a:srgbClr val="7A7A8A"/>
                </a:solidFill>
                <a:latin typeface="Consolas" pitchFamily="34" charset="0"/>
                <a:ea typeface="Consolas" pitchFamily="34" charset="-122"/>
                <a:cs typeface="Consolas" pitchFamily="34" charset="-120"/>
              </a:rPr>
              <a:t>(total - pos) / (total - 1)</a:t>
            </a:r>
            <a:endParaRPr lang="en-US" sz="900" dirty="0"/>
          </a:p>
        </p:txBody>
      </p:sp>
      <p:sp>
        <p:nvSpPr>
          <p:cNvPr id="10" name="Text 8"/>
          <p:cNvSpPr/>
          <p:nvPr/>
        </p:nvSpPr>
        <p:spPr>
          <a:xfrm>
            <a:off x="914400" y="2468880"/>
            <a:ext cx="1280160" cy="201168"/>
          </a:xfrm>
          <a:prstGeom prst="rect">
            <a:avLst/>
          </a:prstGeom>
          <a:noFill/>
          <a:ln/>
        </p:spPr>
        <p:txBody>
          <a:bodyPr wrap="square" lIns="0" tIns="0" rIns="0" bIns="0" rtlCol="0" anchor="ctr"/>
          <a:lstStyle/>
          <a:p>
            <a:pPr marL="0" indent="0">
              <a:buNone/>
            </a:pPr>
            <a:r>
              <a:rPr lang="en-US" sz="900" b="1" dirty="0">
                <a:solidFill>
                  <a:srgbClr val="2D2D3A"/>
                </a:solidFill>
                <a:latin typeface="Georgia" pitchFamily="34" charset="0"/>
                <a:ea typeface="Georgia" pitchFamily="34" charset="-122"/>
                <a:cs typeface="Georgia" pitchFamily="34" charset="-120"/>
              </a:rPr>
              <a:t>Compuesto</a:t>
            </a:r>
            <a:endParaRPr lang="en-US" sz="900" dirty="0"/>
          </a:p>
        </p:txBody>
      </p:sp>
      <p:sp>
        <p:nvSpPr>
          <p:cNvPr id="11" name="Text 9"/>
          <p:cNvSpPr/>
          <p:nvPr/>
        </p:nvSpPr>
        <p:spPr>
          <a:xfrm>
            <a:off x="914400" y="2670048"/>
            <a:ext cx="3291840" cy="201168"/>
          </a:xfrm>
          <a:prstGeom prst="rect">
            <a:avLst/>
          </a:prstGeom>
          <a:noFill/>
          <a:ln/>
        </p:spPr>
        <p:txBody>
          <a:bodyPr wrap="square" lIns="0" tIns="0" rIns="0" bIns="0" rtlCol="0" anchor="ctr"/>
          <a:lstStyle/>
          <a:p>
            <a:pPr marL="0" indent="0">
              <a:buNone/>
            </a:pPr>
            <a:r>
              <a:rPr lang="en-US" sz="900" dirty="0">
                <a:solidFill>
                  <a:srgbClr val="7A7A8A"/>
                </a:solidFill>
                <a:latin typeface="Consolas" pitchFamily="34" charset="0"/>
                <a:ea typeface="Consolas" pitchFamily="34" charset="-122"/>
                <a:cs typeface="Consolas" pitchFamily="34" charset="-120"/>
              </a:rPr>
              <a:t>0.72 · final + 0.28 · promedio</a:t>
            </a:r>
            <a:endParaRPr lang="en-US" sz="900" dirty="0"/>
          </a:p>
        </p:txBody>
      </p:sp>
      <p:sp>
        <p:nvSpPr>
          <p:cNvPr id="12" name="Text 10"/>
          <p:cNvSpPr/>
          <p:nvPr/>
        </p:nvSpPr>
        <p:spPr>
          <a:xfrm>
            <a:off x="914400" y="2971800"/>
            <a:ext cx="1280160" cy="201168"/>
          </a:xfrm>
          <a:prstGeom prst="rect">
            <a:avLst/>
          </a:prstGeom>
          <a:noFill/>
          <a:ln/>
        </p:spPr>
        <p:txBody>
          <a:bodyPr wrap="square" lIns="0" tIns="0" rIns="0" bIns="0" rtlCol="0" anchor="ctr"/>
          <a:lstStyle/>
          <a:p>
            <a:pPr marL="0" indent="0">
              <a:buNone/>
            </a:pPr>
            <a:r>
              <a:rPr lang="en-US" sz="900" b="1" dirty="0">
                <a:solidFill>
                  <a:srgbClr val="2D2D3A"/>
                </a:solidFill>
                <a:latin typeface="Georgia" pitchFamily="34" charset="0"/>
                <a:ea typeface="Georgia" pitchFamily="34" charset="-122"/>
                <a:cs typeface="Georgia" pitchFamily="34" charset="-120"/>
              </a:rPr>
              <a:t>Kills</a:t>
            </a:r>
            <a:endParaRPr lang="en-US" sz="900" dirty="0"/>
          </a:p>
        </p:txBody>
      </p:sp>
      <p:sp>
        <p:nvSpPr>
          <p:cNvPr id="13" name="Text 11"/>
          <p:cNvSpPr/>
          <p:nvPr/>
        </p:nvSpPr>
        <p:spPr>
          <a:xfrm>
            <a:off x="914400" y="3172968"/>
            <a:ext cx="3291840" cy="201168"/>
          </a:xfrm>
          <a:prstGeom prst="rect">
            <a:avLst/>
          </a:prstGeom>
          <a:noFill/>
          <a:ln/>
        </p:spPr>
        <p:txBody>
          <a:bodyPr wrap="square" lIns="0" tIns="0" rIns="0" bIns="0" rtlCol="0" anchor="ctr"/>
          <a:lstStyle/>
          <a:p>
            <a:pPr marL="0" indent="0">
              <a:buNone/>
            </a:pPr>
            <a:r>
              <a:rPr lang="en-US" sz="900" dirty="0">
                <a:solidFill>
                  <a:srgbClr val="7A7A8A"/>
                </a:solidFill>
                <a:latin typeface="Consolas" pitchFamily="34" charset="0"/>
                <a:ea typeface="Consolas" pitchFamily="34" charset="-122"/>
                <a:cs typeface="Consolas" pitchFamily="34" charset="-120"/>
              </a:rPr>
              <a:t>log(1 + avg) / log(1 + max)</a:t>
            </a:r>
            <a:endParaRPr lang="en-US" sz="900" dirty="0"/>
          </a:p>
        </p:txBody>
      </p:sp>
      <p:sp>
        <p:nvSpPr>
          <p:cNvPr id="14" name="Text 12"/>
          <p:cNvSpPr/>
          <p:nvPr/>
        </p:nvSpPr>
        <p:spPr>
          <a:xfrm>
            <a:off x="914400" y="3474720"/>
            <a:ext cx="1280160" cy="201168"/>
          </a:xfrm>
          <a:prstGeom prst="rect">
            <a:avLst/>
          </a:prstGeom>
          <a:noFill/>
          <a:ln/>
        </p:spPr>
        <p:txBody>
          <a:bodyPr wrap="square" lIns="0" tIns="0" rIns="0" bIns="0" rtlCol="0" anchor="ctr"/>
          <a:lstStyle/>
          <a:p>
            <a:pPr marL="0" indent="0">
              <a:buNone/>
            </a:pPr>
            <a:r>
              <a:rPr lang="en-US" sz="900" b="1" dirty="0">
                <a:solidFill>
                  <a:srgbClr val="2D2D3A"/>
                </a:solidFill>
                <a:latin typeface="Georgia" pitchFamily="34" charset="0"/>
                <a:ea typeface="Georgia" pitchFamily="34" charset="-122"/>
                <a:cs typeface="Georgia" pitchFamily="34" charset="-120"/>
              </a:rPr>
              <a:t>Equipo</a:t>
            </a:r>
            <a:endParaRPr lang="en-US" sz="900" dirty="0"/>
          </a:p>
        </p:txBody>
      </p:sp>
      <p:sp>
        <p:nvSpPr>
          <p:cNvPr id="15" name="Text 13"/>
          <p:cNvSpPr/>
          <p:nvPr/>
        </p:nvSpPr>
        <p:spPr>
          <a:xfrm>
            <a:off x="914400" y="3675888"/>
            <a:ext cx="3291840" cy="201168"/>
          </a:xfrm>
          <a:prstGeom prst="rect">
            <a:avLst/>
          </a:prstGeom>
          <a:noFill/>
          <a:ln/>
        </p:spPr>
        <p:txBody>
          <a:bodyPr wrap="square" lIns="0" tIns="0" rIns="0" bIns="0" rtlCol="0" anchor="ctr"/>
          <a:lstStyle/>
          <a:p>
            <a:pPr marL="0" indent="0">
              <a:buNone/>
            </a:pPr>
            <a:r>
              <a:rPr lang="en-US" sz="900" dirty="0">
                <a:solidFill>
                  <a:srgbClr val="7A7A8A"/>
                </a:solidFill>
                <a:latin typeface="Consolas" pitchFamily="34" charset="0"/>
                <a:ea typeface="Consolas" pitchFamily="34" charset="-122"/>
                <a:cs typeface="Consolas" pitchFamily="34" charset="-120"/>
              </a:rPr>
              <a:t>skillPts / max_skillPts</a:t>
            </a:r>
            <a:endParaRPr lang="en-US" sz="900" dirty="0"/>
          </a:p>
        </p:txBody>
      </p:sp>
      <p:sp>
        <p:nvSpPr>
          <p:cNvPr id="16" name="Text 14"/>
          <p:cNvSpPr/>
          <p:nvPr/>
        </p:nvSpPr>
        <p:spPr>
          <a:xfrm>
            <a:off x="914400" y="3977640"/>
            <a:ext cx="1280160" cy="201168"/>
          </a:xfrm>
          <a:prstGeom prst="rect">
            <a:avLst/>
          </a:prstGeom>
          <a:noFill/>
          <a:ln/>
        </p:spPr>
        <p:txBody>
          <a:bodyPr wrap="square" lIns="0" tIns="0" rIns="0" bIns="0" rtlCol="0" anchor="ctr"/>
          <a:lstStyle/>
          <a:p>
            <a:pPr marL="0" indent="0">
              <a:buNone/>
            </a:pPr>
            <a:r>
              <a:rPr lang="en-US" sz="900" b="1" dirty="0">
                <a:solidFill>
                  <a:srgbClr val="2D2D3A"/>
                </a:solidFill>
                <a:latin typeface="Georgia" pitchFamily="34" charset="0"/>
                <a:ea typeface="Georgia" pitchFamily="34" charset="-122"/>
                <a:cs typeface="Georgia" pitchFamily="34" charset="-120"/>
              </a:rPr>
              <a:t>Performance</a:t>
            </a:r>
            <a:endParaRPr lang="en-US" sz="900" dirty="0"/>
          </a:p>
        </p:txBody>
      </p:sp>
      <p:sp>
        <p:nvSpPr>
          <p:cNvPr id="17" name="Text 15"/>
          <p:cNvSpPr/>
          <p:nvPr/>
        </p:nvSpPr>
        <p:spPr>
          <a:xfrm>
            <a:off x="914400" y="4178808"/>
            <a:ext cx="3291840" cy="201168"/>
          </a:xfrm>
          <a:prstGeom prst="rect">
            <a:avLst/>
          </a:prstGeom>
          <a:noFill/>
          <a:ln/>
        </p:spPr>
        <p:txBody>
          <a:bodyPr wrap="square" lIns="0" tIns="0" rIns="0" bIns="0" rtlCol="0" anchor="ctr"/>
          <a:lstStyle/>
          <a:p>
            <a:pPr marL="0" indent="0">
              <a:buNone/>
            </a:pPr>
            <a:r>
              <a:rPr lang="en-US" sz="900" dirty="0">
                <a:solidFill>
                  <a:srgbClr val="7A7A8A"/>
                </a:solidFill>
                <a:latin typeface="Consolas" pitchFamily="34" charset="0"/>
                <a:ea typeface="Consolas" pitchFamily="34" charset="-122"/>
                <a:cs typeface="Consolas" pitchFamily="34" charset="-120"/>
              </a:rPr>
              <a:t>0.70·plc + 0.20·kll + 0.10·tm</a:t>
            </a:r>
            <a:endParaRPr lang="en-US" sz="900" dirty="0"/>
          </a:p>
        </p:txBody>
      </p:sp>
      <p:sp>
        <p:nvSpPr>
          <p:cNvPr id="18" name="Shape 16"/>
          <p:cNvSpPr/>
          <p:nvPr/>
        </p:nvSpPr>
        <p:spPr>
          <a:xfrm>
            <a:off x="4754880" y="1508760"/>
            <a:ext cx="3657600" cy="310896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19" name="Shape 17"/>
          <p:cNvSpPr/>
          <p:nvPr/>
        </p:nvSpPr>
        <p:spPr>
          <a:xfrm>
            <a:off x="4754880" y="1508760"/>
            <a:ext cx="32004" cy="3108960"/>
          </a:xfrm>
          <a:prstGeom prst="rect">
            <a:avLst/>
          </a:prstGeom>
          <a:solidFill>
            <a:srgbClr val="6B2D5B"/>
          </a:solidFill>
          <a:ln/>
        </p:spPr>
        <p:txBody>
          <a:bodyPr/>
          <a:lstStyle/>
          <a:p>
            <a:endParaRPr lang="es-MX"/>
          </a:p>
        </p:txBody>
      </p:sp>
      <p:sp>
        <p:nvSpPr>
          <p:cNvPr id="20" name="Text 18"/>
          <p:cNvSpPr/>
          <p:nvPr/>
        </p:nvSpPr>
        <p:spPr>
          <a:xfrm>
            <a:off x="4937760" y="1600200"/>
            <a:ext cx="3291840" cy="274320"/>
          </a:xfrm>
          <a:prstGeom prst="rect">
            <a:avLst/>
          </a:prstGeom>
          <a:noFill/>
          <a:ln/>
        </p:spPr>
        <p:txBody>
          <a:bodyPr wrap="square" lIns="0" tIns="0" rIns="0" bIns="0" rtlCol="0" anchor="ctr"/>
          <a:lstStyle/>
          <a:p>
            <a:pPr marL="0" indent="0">
              <a:buNone/>
            </a:pPr>
            <a:r>
              <a:rPr lang="en-US" sz="1100" b="1" dirty="0">
                <a:solidFill>
                  <a:srgbClr val="6B2D5B"/>
                </a:solidFill>
                <a:latin typeface="Georgia" pitchFamily="34" charset="0"/>
                <a:ea typeface="Georgia" pitchFamily="34" charset="-122"/>
                <a:cs typeface="Georgia" pitchFamily="34" charset="-120"/>
              </a:rPr>
              <a:t>Motor bayesiano</a:t>
            </a:r>
            <a:endParaRPr lang="en-US" sz="1100" dirty="0"/>
          </a:p>
        </p:txBody>
      </p:sp>
      <p:sp>
        <p:nvSpPr>
          <p:cNvPr id="21" name="Text 19"/>
          <p:cNvSpPr/>
          <p:nvPr/>
        </p:nvSpPr>
        <p:spPr>
          <a:xfrm>
            <a:off x="4937760" y="1965960"/>
            <a:ext cx="1280160" cy="201168"/>
          </a:xfrm>
          <a:prstGeom prst="rect">
            <a:avLst/>
          </a:prstGeom>
          <a:noFill/>
          <a:ln/>
        </p:spPr>
        <p:txBody>
          <a:bodyPr wrap="square" lIns="0" tIns="0" rIns="0" bIns="0" rtlCol="0" anchor="ctr"/>
          <a:lstStyle/>
          <a:p>
            <a:pPr marL="0" indent="0">
              <a:buNone/>
            </a:pPr>
            <a:r>
              <a:rPr lang="en-US" sz="900" b="1" dirty="0">
                <a:solidFill>
                  <a:srgbClr val="2D2D3A"/>
                </a:solidFill>
                <a:latin typeface="Georgia" pitchFamily="34" charset="0"/>
                <a:ea typeface="Georgia" pitchFamily="34" charset="-122"/>
                <a:cs typeface="Georgia" pitchFamily="34" charset="-120"/>
              </a:rPr>
              <a:t>Comparacion</a:t>
            </a:r>
            <a:endParaRPr lang="en-US" sz="900" dirty="0"/>
          </a:p>
        </p:txBody>
      </p:sp>
      <p:sp>
        <p:nvSpPr>
          <p:cNvPr id="22" name="Text 20"/>
          <p:cNvSpPr/>
          <p:nvPr/>
        </p:nvSpPr>
        <p:spPr>
          <a:xfrm>
            <a:off x="4937760" y="2167128"/>
            <a:ext cx="3291840" cy="201168"/>
          </a:xfrm>
          <a:prstGeom prst="rect">
            <a:avLst/>
          </a:prstGeom>
          <a:noFill/>
          <a:ln/>
        </p:spPr>
        <p:txBody>
          <a:bodyPr wrap="square" lIns="0" tIns="0" rIns="0" bIns="0" rtlCol="0" anchor="ctr"/>
          <a:lstStyle/>
          <a:p>
            <a:pPr marL="0" indent="0">
              <a:buNone/>
            </a:pPr>
            <a:r>
              <a:rPr lang="en-US" sz="900" dirty="0">
                <a:solidFill>
                  <a:srgbClr val="7A7A8A"/>
                </a:solidFill>
                <a:latin typeface="Consolas" pitchFamily="34" charset="0"/>
                <a:ea typeface="Consolas" pitchFamily="34" charset="-122"/>
                <a:cs typeface="Consolas" pitchFamily="34" charset="-120"/>
              </a:rPr>
              <a:t>c = sqrt(2·beta² + sigma_w² + sigma_l²)</a:t>
            </a:r>
            <a:endParaRPr lang="en-US" sz="900" dirty="0"/>
          </a:p>
        </p:txBody>
      </p:sp>
      <p:sp>
        <p:nvSpPr>
          <p:cNvPr id="23" name="Text 21"/>
          <p:cNvSpPr/>
          <p:nvPr/>
        </p:nvSpPr>
        <p:spPr>
          <a:xfrm>
            <a:off x="4937760" y="2468880"/>
            <a:ext cx="1280160" cy="201168"/>
          </a:xfrm>
          <a:prstGeom prst="rect">
            <a:avLst/>
          </a:prstGeom>
          <a:noFill/>
          <a:ln/>
        </p:spPr>
        <p:txBody>
          <a:bodyPr wrap="square" lIns="0" tIns="0" rIns="0" bIns="0" rtlCol="0" anchor="ctr"/>
          <a:lstStyle/>
          <a:p>
            <a:pPr marL="0" indent="0">
              <a:buNone/>
            </a:pPr>
            <a:r>
              <a:rPr lang="en-US" sz="900" b="1" dirty="0">
                <a:solidFill>
                  <a:srgbClr val="2D2D3A"/>
                </a:solidFill>
                <a:latin typeface="Georgia" pitchFamily="34" charset="0"/>
                <a:ea typeface="Georgia" pitchFamily="34" charset="-122"/>
                <a:cs typeface="Georgia" pitchFamily="34" charset="-120"/>
              </a:rPr>
              <a:t>Evidencia</a:t>
            </a:r>
            <a:endParaRPr lang="en-US" sz="900" dirty="0"/>
          </a:p>
        </p:txBody>
      </p:sp>
      <p:sp>
        <p:nvSpPr>
          <p:cNvPr id="24" name="Text 22"/>
          <p:cNvSpPr/>
          <p:nvPr/>
        </p:nvSpPr>
        <p:spPr>
          <a:xfrm>
            <a:off x="4937760" y="2670048"/>
            <a:ext cx="3291840" cy="201168"/>
          </a:xfrm>
          <a:prstGeom prst="rect">
            <a:avLst/>
          </a:prstGeom>
          <a:noFill/>
          <a:ln/>
        </p:spPr>
        <p:txBody>
          <a:bodyPr wrap="square" lIns="0" tIns="0" rIns="0" bIns="0" rtlCol="0" anchor="ctr"/>
          <a:lstStyle/>
          <a:p>
            <a:pPr marL="0" indent="0">
              <a:buNone/>
            </a:pPr>
            <a:r>
              <a:rPr lang="en-US" sz="900" dirty="0">
                <a:solidFill>
                  <a:srgbClr val="7A7A8A"/>
                </a:solidFill>
                <a:latin typeface="Consolas" pitchFamily="34" charset="0"/>
                <a:ea typeface="Consolas" pitchFamily="34" charset="-122"/>
                <a:cs typeface="Consolas" pitchFamily="34" charset="-120"/>
              </a:rPr>
              <a:t>t = (mu_w - mu_l) / c</a:t>
            </a:r>
            <a:endParaRPr lang="en-US" sz="900" dirty="0"/>
          </a:p>
        </p:txBody>
      </p:sp>
      <p:sp>
        <p:nvSpPr>
          <p:cNvPr id="25" name="Text 23"/>
          <p:cNvSpPr/>
          <p:nvPr/>
        </p:nvSpPr>
        <p:spPr>
          <a:xfrm>
            <a:off x="4937760" y="2971800"/>
            <a:ext cx="1280160" cy="201168"/>
          </a:xfrm>
          <a:prstGeom prst="rect">
            <a:avLst/>
          </a:prstGeom>
          <a:noFill/>
          <a:ln/>
        </p:spPr>
        <p:txBody>
          <a:bodyPr wrap="square" lIns="0" tIns="0" rIns="0" bIns="0" rtlCol="0" anchor="ctr"/>
          <a:lstStyle/>
          <a:p>
            <a:pPr marL="0" indent="0">
              <a:buNone/>
            </a:pPr>
            <a:r>
              <a:rPr lang="en-US" sz="900" b="1" dirty="0">
                <a:solidFill>
                  <a:srgbClr val="2D2D3A"/>
                </a:solidFill>
                <a:latin typeface="Georgia" pitchFamily="34" charset="0"/>
                <a:ea typeface="Georgia" pitchFamily="34" charset="-122"/>
                <a:cs typeface="Georgia" pitchFamily="34" charset="-120"/>
              </a:rPr>
              <a:t>Factor</a:t>
            </a:r>
            <a:endParaRPr lang="en-US" sz="900" dirty="0"/>
          </a:p>
        </p:txBody>
      </p:sp>
      <p:sp>
        <p:nvSpPr>
          <p:cNvPr id="26" name="Text 24"/>
          <p:cNvSpPr/>
          <p:nvPr/>
        </p:nvSpPr>
        <p:spPr>
          <a:xfrm>
            <a:off x="4937760" y="3172968"/>
            <a:ext cx="3291840" cy="201168"/>
          </a:xfrm>
          <a:prstGeom prst="rect">
            <a:avLst/>
          </a:prstGeom>
          <a:noFill/>
          <a:ln/>
        </p:spPr>
        <p:txBody>
          <a:bodyPr wrap="square" lIns="0" tIns="0" rIns="0" bIns="0" rtlCol="0" anchor="ctr"/>
          <a:lstStyle/>
          <a:p>
            <a:pPr marL="0" indent="0">
              <a:buNone/>
            </a:pPr>
            <a:r>
              <a:rPr lang="en-US" sz="900" dirty="0">
                <a:solidFill>
                  <a:srgbClr val="7A7A8A"/>
                </a:solidFill>
                <a:latin typeface="Consolas" pitchFamily="34" charset="0"/>
                <a:ea typeface="Consolas" pitchFamily="34" charset="-122"/>
                <a:cs typeface="Consolas" pitchFamily="34" charset="-120"/>
              </a:rPr>
              <a:t>v = N(t) / Phi(t)</a:t>
            </a:r>
            <a:endParaRPr lang="en-US" sz="900" dirty="0"/>
          </a:p>
        </p:txBody>
      </p:sp>
      <p:sp>
        <p:nvSpPr>
          <p:cNvPr id="27" name="Text 25"/>
          <p:cNvSpPr/>
          <p:nvPr/>
        </p:nvSpPr>
        <p:spPr>
          <a:xfrm>
            <a:off x="4937760" y="3474720"/>
            <a:ext cx="1280160" cy="201168"/>
          </a:xfrm>
          <a:prstGeom prst="rect">
            <a:avLst/>
          </a:prstGeom>
          <a:noFill/>
          <a:ln/>
        </p:spPr>
        <p:txBody>
          <a:bodyPr wrap="square" lIns="0" tIns="0" rIns="0" bIns="0" rtlCol="0" anchor="ctr"/>
          <a:lstStyle/>
          <a:p>
            <a:pPr marL="0" indent="0">
              <a:buNone/>
            </a:pPr>
            <a:r>
              <a:rPr lang="en-US" sz="900" b="1" dirty="0">
                <a:solidFill>
                  <a:srgbClr val="2D2D3A"/>
                </a:solidFill>
                <a:latin typeface="Georgia" pitchFamily="34" charset="0"/>
                <a:ea typeface="Georgia" pitchFamily="34" charset="-122"/>
                <a:cs typeface="Georgia" pitchFamily="34" charset="-120"/>
              </a:rPr>
              <a:t>Ajuste</a:t>
            </a:r>
            <a:endParaRPr lang="en-US" sz="900" dirty="0"/>
          </a:p>
        </p:txBody>
      </p:sp>
      <p:sp>
        <p:nvSpPr>
          <p:cNvPr id="28" name="Text 26"/>
          <p:cNvSpPr/>
          <p:nvPr/>
        </p:nvSpPr>
        <p:spPr>
          <a:xfrm>
            <a:off x="4937760" y="3675888"/>
            <a:ext cx="3291840" cy="201168"/>
          </a:xfrm>
          <a:prstGeom prst="rect">
            <a:avLst/>
          </a:prstGeom>
          <a:noFill/>
          <a:ln/>
        </p:spPr>
        <p:txBody>
          <a:bodyPr wrap="square" lIns="0" tIns="0" rIns="0" bIns="0" rtlCol="0" anchor="ctr"/>
          <a:lstStyle/>
          <a:p>
            <a:pPr marL="0" indent="0">
              <a:buNone/>
            </a:pPr>
            <a:r>
              <a:rPr lang="en-US" sz="900" dirty="0">
                <a:solidFill>
                  <a:srgbClr val="7A7A8A"/>
                </a:solidFill>
                <a:latin typeface="Consolas" pitchFamily="34" charset="0"/>
                <a:ea typeface="Consolas" pitchFamily="34" charset="-122"/>
                <a:cs typeface="Consolas" pitchFamily="34" charset="-120"/>
              </a:rPr>
              <a:t>mu += perf_adj · maxMuAdj</a:t>
            </a:r>
            <a:endParaRPr lang="en-US" sz="900" dirty="0"/>
          </a:p>
        </p:txBody>
      </p:sp>
      <p:sp>
        <p:nvSpPr>
          <p:cNvPr id="29" name="Text 27"/>
          <p:cNvSpPr/>
          <p:nvPr/>
        </p:nvSpPr>
        <p:spPr>
          <a:xfrm>
            <a:off x="4937760" y="3977640"/>
            <a:ext cx="1280160" cy="201168"/>
          </a:xfrm>
          <a:prstGeom prst="rect">
            <a:avLst/>
          </a:prstGeom>
          <a:noFill/>
          <a:ln/>
        </p:spPr>
        <p:txBody>
          <a:bodyPr wrap="square" lIns="0" tIns="0" rIns="0" bIns="0" rtlCol="0" anchor="ctr"/>
          <a:lstStyle/>
          <a:p>
            <a:pPr marL="0" indent="0">
              <a:buNone/>
            </a:pPr>
            <a:r>
              <a:rPr lang="en-US" sz="900" b="1" dirty="0">
                <a:solidFill>
                  <a:srgbClr val="2D2D3A"/>
                </a:solidFill>
                <a:latin typeface="Georgia" pitchFamily="34" charset="0"/>
                <a:ea typeface="Georgia" pitchFamily="34" charset="-122"/>
                <a:cs typeface="Georgia" pitchFamily="34" charset="-120"/>
              </a:rPr>
              <a:t>Publicacion</a:t>
            </a:r>
            <a:endParaRPr lang="en-US" sz="900" dirty="0"/>
          </a:p>
        </p:txBody>
      </p:sp>
      <p:sp>
        <p:nvSpPr>
          <p:cNvPr id="30" name="Text 28"/>
          <p:cNvSpPr/>
          <p:nvPr/>
        </p:nvSpPr>
        <p:spPr>
          <a:xfrm>
            <a:off x="4937760" y="4178808"/>
            <a:ext cx="3291840" cy="201168"/>
          </a:xfrm>
          <a:prstGeom prst="rect">
            <a:avLst/>
          </a:prstGeom>
          <a:noFill/>
          <a:ln/>
        </p:spPr>
        <p:txBody>
          <a:bodyPr wrap="square" lIns="0" tIns="0" rIns="0" bIns="0" rtlCol="0" anchor="ctr"/>
          <a:lstStyle/>
          <a:p>
            <a:pPr marL="0" indent="0">
              <a:buNone/>
            </a:pPr>
            <a:r>
              <a:rPr lang="en-US" sz="900" dirty="0">
                <a:solidFill>
                  <a:srgbClr val="7A7A8A"/>
                </a:solidFill>
                <a:latin typeface="Consolas" pitchFamily="34" charset="0"/>
                <a:ea typeface="Consolas" pitchFamily="34" charset="-122"/>
                <a:cs typeface="Consolas" pitchFamily="34" charset="-120"/>
              </a:rPr>
              <a:t>PSR = mu - 3 · sigma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731520" y="411480"/>
            <a:ext cx="7680960" cy="594360"/>
          </a:xfrm>
          <a:prstGeom prst="rect">
            <a:avLst/>
          </a:prstGeom>
          <a:noFill/>
          <a:ln/>
        </p:spPr>
        <p:txBody>
          <a:bodyPr wrap="square" lIns="0" tIns="0" rIns="0" bIns="0" rtlCol="0" anchor="ctr"/>
          <a:lstStyle/>
          <a:p>
            <a:pPr marL="0" indent="0">
              <a:buNone/>
            </a:pPr>
            <a:r>
              <a:rPr lang="en-US" sz="2600" dirty="0">
                <a:solidFill>
                  <a:srgbClr val="2D2D3A"/>
                </a:solidFill>
                <a:latin typeface="Georgia" pitchFamily="34" charset="0"/>
                <a:ea typeface="Georgia" pitchFamily="34" charset="-122"/>
                <a:cs typeface="Georgia" pitchFamily="34" charset="-120"/>
              </a:rPr>
              <a:t>Pipeline de procesamiento</a:t>
            </a:r>
            <a:endParaRPr lang="en-US" sz="2600" dirty="0"/>
          </a:p>
        </p:txBody>
      </p:sp>
      <p:sp>
        <p:nvSpPr>
          <p:cNvPr id="3" name="Shape 1"/>
          <p:cNvSpPr/>
          <p:nvPr/>
        </p:nvSpPr>
        <p:spPr>
          <a:xfrm>
            <a:off x="731520" y="1051560"/>
            <a:ext cx="914400" cy="18288"/>
          </a:xfrm>
          <a:prstGeom prst="rect">
            <a:avLst/>
          </a:prstGeom>
          <a:solidFill>
            <a:srgbClr val="C4956A"/>
          </a:solidFill>
          <a:ln/>
        </p:spPr>
        <p:txBody>
          <a:bodyPr/>
          <a:lstStyle/>
          <a:p>
            <a:endParaRPr lang="es-MX"/>
          </a:p>
        </p:txBody>
      </p:sp>
      <p:sp>
        <p:nvSpPr>
          <p:cNvPr id="4" name="Text 2"/>
          <p:cNvSpPr/>
          <p:nvPr/>
        </p:nvSpPr>
        <p:spPr>
          <a:xfrm>
            <a:off x="731520" y="1188720"/>
            <a:ext cx="3657600" cy="228600"/>
          </a:xfrm>
          <a:prstGeom prst="rect">
            <a:avLst/>
          </a:prstGeom>
          <a:noFill/>
          <a:ln/>
        </p:spPr>
        <p:txBody>
          <a:bodyPr wrap="square" lIns="0" tIns="0" rIns="0" bIns="0" rtlCol="0" anchor="ctr"/>
          <a:lstStyle/>
          <a:p>
            <a:pPr marL="0" indent="0">
              <a:buNone/>
            </a:pPr>
            <a:r>
              <a:rPr lang="en-US" sz="800" kern="0" spc="300" dirty="0">
                <a:solidFill>
                  <a:srgbClr val="7A7A8A"/>
                </a:solidFill>
                <a:latin typeface="Georgia" pitchFamily="34" charset="0"/>
                <a:ea typeface="Georgia" pitchFamily="34" charset="-122"/>
                <a:cs typeface="Georgia" pitchFamily="34" charset="-120"/>
              </a:rPr>
              <a:t>DEL DATO CRUDO AL RANKING PUBLICADO</a:t>
            </a:r>
            <a:endParaRPr lang="en-US" sz="800" dirty="0"/>
          </a:p>
        </p:txBody>
      </p:sp>
      <p:sp>
        <p:nvSpPr>
          <p:cNvPr id="5" name="Shape 3"/>
          <p:cNvSpPr/>
          <p:nvPr/>
        </p:nvSpPr>
        <p:spPr>
          <a:xfrm>
            <a:off x="457200" y="1463040"/>
            <a:ext cx="1280160" cy="201168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6" name="Shape 4"/>
          <p:cNvSpPr/>
          <p:nvPr/>
        </p:nvSpPr>
        <p:spPr>
          <a:xfrm>
            <a:off x="457200" y="1463040"/>
            <a:ext cx="32004" cy="2011680"/>
          </a:xfrm>
          <a:prstGeom prst="rect">
            <a:avLst/>
          </a:prstGeom>
          <a:solidFill>
            <a:srgbClr val="4A5568"/>
          </a:solidFill>
          <a:ln/>
        </p:spPr>
        <p:txBody>
          <a:bodyPr/>
          <a:lstStyle/>
          <a:p>
            <a:endParaRPr lang="es-MX"/>
          </a:p>
        </p:txBody>
      </p:sp>
      <p:sp>
        <p:nvSpPr>
          <p:cNvPr id="7" name="Text 5"/>
          <p:cNvSpPr/>
          <p:nvPr/>
        </p:nvSpPr>
        <p:spPr>
          <a:xfrm>
            <a:off x="457200" y="1554480"/>
            <a:ext cx="1280160" cy="320040"/>
          </a:xfrm>
          <a:prstGeom prst="rect">
            <a:avLst/>
          </a:prstGeom>
          <a:noFill/>
          <a:ln/>
        </p:spPr>
        <p:txBody>
          <a:bodyPr wrap="square" lIns="0" tIns="0" rIns="0" bIns="0" rtlCol="0" anchor="ctr"/>
          <a:lstStyle/>
          <a:p>
            <a:pPr marL="0" indent="0" algn="ctr">
              <a:buNone/>
            </a:pPr>
            <a:r>
              <a:rPr lang="en-US" sz="1800" b="1" dirty="0">
                <a:solidFill>
                  <a:srgbClr val="4A5568"/>
                </a:solidFill>
                <a:latin typeface="Georgia" pitchFamily="34" charset="0"/>
                <a:ea typeface="Georgia" pitchFamily="34" charset="-122"/>
                <a:cs typeface="Georgia" pitchFamily="34" charset="-120"/>
              </a:rPr>
              <a:t>01</a:t>
            </a:r>
            <a:endParaRPr lang="en-US" sz="1800" dirty="0"/>
          </a:p>
        </p:txBody>
      </p:sp>
      <p:sp>
        <p:nvSpPr>
          <p:cNvPr id="8" name="Text 6"/>
          <p:cNvSpPr/>
          <p:nvPr/>
        </p:nvSpPr>
        <p:spPr>
          <a:xfrm>
            <a:off x="457200" y="1920240"/>
            <a:ext cx="1280160" cy="274320"/>
          </a:xfrm>
          <a:prstGeom prst="rect">
            <a:avLst/>
          </a:prstGeom>
          <a:noFill/>
          <a:ln/>
        </p:spPr>
        <p:txBody>
          <a:bodyPr wrap="square" lIns="0" tIns="0" rIns="0" bIns="0" rtlCol="0" anchor="ctr"/>
          <a:lstStyle/>
          <a:p>
            <a:pPr marL="0" indent="0" algn="ctr">
              <a:buNone/>
            </a:pPr>
            <a:r>
              <a:rPr lang="en-US" sz="1100" b="1" dirty="0">
                <a:solidFill>
                  <a:srgbClr val="2D2D3A"/>
                </a:solidFill>
                <a:latin typeface="Georgia" pitchFamily="34" charset="0"/>
                <a:ea typeface="Georgia" pitchFamily="34" charset="-122"/>
                <a:cs typeface="Georgia" pitchFamily="34" charset="-120"/>
              </a:rPr>
              <a:t>Captura</a:t>
            </a:r>
            <a:endParaRPr lang="en-US" sz="1100" dirty="0"/>
          </a:p>
        </p:txBody>
      </p:sp>
      <p:sp>
        <p:nvSpPr>
          <p:cNvPr id="9" name="Shape 7"/>
          <p:cNvSpPr/>
          <p:nvPr/>
        </p:nvSpPr>
        <p:spPr>
          <a:xfrm>
            <a:off x="822960" y="2240280"/>
            <a:ext cx="548640" cy="9144"/>
          </a:xfrm>
          <a:prstGeom prst="rect">
            <a:avLst/>
          </a:prstGeom>
          <a:solidFill>
            <a:srgbClr val="D4CFC7"/>
          </a:solidFill>
          <a:ln/>
        </p:spPr>
        <p:txBody>
          <a:bodyPr/>
          <a:lstStyle/>
          <a:p>
            <a:endParaRPr lang="es-MX"/>
          </a:p>
        </p:txBody>
      </p:sp>
      <p:sp>
        <p:nvSpPr>
          <p:cNvPr id="10" name="Text 8"/>
          <p:cNvSpPr/>
          <p:nvPr/>
        </p:nvSpPr>
        <p:spPr>
          <a:xfrm>
            <a:off x="548640" y="2331720"/>
            <a:ext cx="1097280" cy="914400"/>
          </a:xfrm>
          <a:prstGeom prst="rect">
            <a:avLst/>
          </a:prstGeom>
          <a:noFill/>
          <a:ln/>
        </p:spPr>
        <p:txBody>
          <a:bodyPr wrap="square" lIns="0" tIns="0" rIns="0" bIns="0" rtlCol="0" anchor="t"/>
          <a:lstStyle/>
          <a:p>
            <a:pPr marL="0" indent="0" algn="ctr">
              <a:buNone/>
            </a:pPr>
            <a:r>
              <a:rPr lang="en-US" sz="800" dirty="0">
                <a:solidFill>
                  <a:srgbClr val="7A7A8A"/>
                </a:solidFill>
                <a:latin typeface="Georgia" pitchFamily="34" charset="0"/>
                <a:ea typeface="Georgia" pitchFamily="34" charset="-122"/>
                <a:cs typeface="Georgia" pitchFamily="34" charset="-120"/>
              </a:rPr>
              <a:t>Placement, kills,</a:t>
            </a:r>
            <a:endParaRPr lang="en-US" sz="800" dirty="0"/>
          </a:p>
          <a:p>
            <a:pPr marL="0" indent="0" algn="ctr">
              <a:buNone/>
            </a:pPr>
            <a:r>
              <a:rPr lang="en-US" sz="800" dirty="0">
                <a:solidFill>
                  <a:srgbClr val="7A7A8A"/>
                </a:solidFill>
                <a:latin typeface="Georgia" pitchFamily="34" charset="0"/>
                <a:ea typeface="Georgia" pitchFamily="34" charset="-122"/>
                <a:cs typeface="Georgia" pitchFamily="34" charset="-120"/>
              </a:rPr>
              <a:t>equipo, tipo</a:t>
            </a:r>
            <a:endParaRPr lang="en-US" sz="800" dirty="0"/>
          </a:p>
        </p:txBody>
      </p:sp>
      <p:sp>
        <p:nvSpPr>
          <p:cNvPr id="11" name="Shape 9"/>
          <p:cNvSpPr/>
          <p:nvPr/>
        </p:nvSpPr>
        <p:spPr>
          <a:xfrm>
            <a:off x="1755648" y="2377440"/>
            <a:ext cx="109728" cy="9144"/>
          </a:xfrm>
          <a:prstGeom prst="rect">
            <a:avLst/>
          </a:prstGeom>
          <a:solidFill>
            <a:srgbClr val="D4CFC7"/>
          </a:solidFill>
          <a:ln/>
        </p:spPr>
        <p:txBody>
          <a:bodyPr/>
          <a:lstStyle/>
          <a:p>
            <a:endParaRPr lang="es-MX"/>
          </a:p>
        </p:txBody>
      </p:sp>
      <p:sp>
        <p:nvSpPr>
          <p:cNvPr id="12" name="Shape 10"/>
          <p:cNvSpPr/>
          <p:nvPr/>
        </p:nvSpPr>
        <p:spPr>
          <a:xfrm>
            <a:off x="1874520" y="1463040"/>
            <a:ext cx="1280160" cy="201168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13" name="Shape 11"/>
          <p:cNvSpPr/>
          <p:nvPr/>
        </p:nvSpPr>
        <p:spPr>
          <a:xfrm>
            <a:off x="1874520" y="1463040"/>
            <a:ext cx="32004" cy="2011680"/>
          </a:xfrm>
          <a:prstGeom prst="rect">
            <a:avLst/>
          </a:prstGeom>
          <a:solidFill>
            <a:srgbClr val="2D6B6B"/>
          </a:solidFill>
          <a:ln/>
        </p:spPr>
        <p:txBody>
          <a:bodyPr/>
          <a:lstStyle/>
          <a:p>
            <a:endParaRPr lang="es-MX"/>
          </a:p>
        </p:txBody>
      </p:sp>
      <p:sp>
        <p:nvSpPr>
          <p:cNvPr id="14" name="Text 12"/>
          <p:cNvSpPr/>
          <p:nvPr/>
        </p:nvSpPr>
        <p:spPr>
          <a:xfrm>
            <a:off x="1874520" y="1554480"/>
            <a:ext cx="1280160" cy="320040"/>
          </a:xfrm>
          <a:prstGeom prst="rect">
            <a:avLst/>
          </a:prstGeom>
          <a:noFill/>
          <a:ln/>
        </p:spPr>
        <p:txBody>
          <a:bodyPr wrap="square" lIns="0" tIns="0" rIns="0" bIns="0" rtlCol="0" anchor="ctr"/>
          <a:lstStyle/>
          <a:p>
            <a:pPr marL="0" indent="0" algn="ctr">
              <a:buNone/>
            </a:pPr>
            <a:r>
              <a:rPr lang="en-US" sz="1800" b="1" dirty="0">
                <a:solidFill>
                  <a:srgbClr val="2D6B6B"/>
                </a:solidFill>
                <a:latin typeface="Georgia" pitchFamily="34" charset="0"/>
                <a:ea typeface="Georgia" pitchFamily="34" charset="-122"/>
                <a:cs typeface="Georgia" pitchFamily="34" charset="-120"/>
              </a:rPr>
              <a:t>02</a:t>
            </a:r>
            <a:endParaRPr lang="en-US" sz="1800" dirty="0"/>
          </a:p>
        </p:txBody>
      </p:sp>
      <p:sp>
        <p:nvSpPr>
          <p:cNvPr id="15" name="Text 13"/>
          <p:cNvSpPr/>
          <p:nvPr/>
        </p:nvSpPr>
        <p:spPr>
          <a:xfrm>
            <a:off x="1874520" y="1920240"/>
            <a:ext cx="1280160" cy="274320"/>
          </a:xfrm>
          <a:prstGeom prst="rect">
            <a:avLst/>
          </a:prstGeom>
          <a:noFill/>
          <a:ln/>
        </p:spPr>
        <p:txBody>
          <a:bodyPr wrap="square" lIns="0" tIns="0" rIns="0" bIns="0" rtlCol="0" anchor="ctr"/>
          <a:lstStyle/>
          <a:p>
            <a:pPr marL="0" indent="0" algn="ctr">
              <a:buNone/>
            </a:pPr>
            <a:r>
              <a:rPr lang="en-US" sz="1100" b="1" dirty="0" err="1">
                <a:solidFill>
                  <a:srgbClr val="2D2D3A"/>
                </a:solidFill>
                <a:latin typeface="Georgia" pitchFamily="34" charset="0"/>
                <a:ea typeface="Georgia" pitchFamily="34" charset="-122"/>
                <a:cs typeface="Georgia" pitchFamily="34" charset="-120"/>
              </a:rPr>
              <a:t>Normaliza</a:t>
            </a:r>
            <a:endParaRPr lang="en-US" sz="1100" dirty="0"/>
          </a:p>
        </p:txBody>
      </p:sp>
      <p:sp>
        <p:nvSpPr>
          <p:cNvPr id="16" name="Shape 14"/>
          <p:cNvSpPr/>
          <p:nvPr/>
        </p:nvSpPr>
        <p:spPr>
          <a:xfrm>
            <a:off x="2240280" y="2240280"/>
            <a:ext cx="548640" cy="9144"/>
          </a:xfrm>
          <a:prstGeom prst="rect">
            <a:avLst/>
          </a:prstGeom>
          <a:solidFill>
            <a:srgbClr val="D4CFC7"/>
          </a:solidFill>
          <a:ln/>
        </p:spPr>
        <p:txBody>
          <a:bodyPr/>
          <a:lstStyle/>
          <a:p>
            <a:endParaRPr lang="es-MX"/>
          </a:p>
        </p:txBody>
      </p:sp>
      <p:sp>
        <p:nvSpPr>
          <p:cNvPr id="17" name="Text 15"/>
          <p:cNvSpPr/>
          <p:nvPr/>
        </p:nvSpPr>
        <p:spPr>
          <a:xfrm>
            <a:off x="1965960" y="2331720"/>
            <a:ext cx="1097280" cy="914400"/>
          </a:xfrm>
          <a:prstGeom prst="rect">
            <a:avLst/>
          </a:prstGeom>
          <a:noFill/>
          <a:ln/>
        </p:spPr>
        <p:txBody>
          <a:bodyPr wrap="square" lIns="0" tIns="0" rIns="0" bIns="0" rtlCol="0" anchor="t"/>
          <a:lstStyle/>
          <a:p>
            <a:pPr marL="0" indent="0" algn="ctr">
              <a:buNone/>
            </a:pPr>
            <a:r>
              <a:rPr lang="en-US" sz="800" dirty="0">
                <a:solidFill>
                  <a:srgbClr val="7A7A8A"/>
                </a:solidFill>
                <a:latin typeface="Georgia" pitchFamily="34" charset="0"/>
                <a:ea typeface="Georgia" pitchFamily="34" charset="-122"/>
                <a:cs typeface="Georgia" pitchFamily="34" charset="-120"/>
              </a:rPr>
              <a:t>Log kills, placement</a:t>
            </a:r>
            <a:endParaRPr lang="en-US" sz="800" dirty="0"/>
          </a:p>
          <a:p>
            <a:pPr marL="0" indent="0" algn="ctr">
              <a:buNone/>
            </a:pPr>
            <a:r>
              <a:rPr lang="en-US" sz="800" dirty="0">
                <a:solidFill>
                  <a:srgbClr val="7A7A8A"/>
                </a:solidFill>
                <a:latin typeface="Georgia" pitchFamily="34" charset="0"/>
                <a:ea typeface="Georgia" pitchFamily="34" charset="-122"/>
                <a:cs typeface="Georgia" pitchFamily="34" charset="-120"/>
              </a:rPr>
              <a:t>relativo, skillPts</a:t>
            </a:r>
            <a:endParaRPr lang="en-US" sz="800" dirty="0"/>
          </a:p>
        </p:txBody>
      </p:sp>
      <p:sp>
        <p:nvSpPr>
          <p:cNvPr id="18" name="Shape 16"/>
          <p:cNvSpPr/>
          <p:nvPr/>
        </p:nvSpPr>
        <p:spPr>
          <a:xfrm>
            <a:off x="3172968" y="2377440"/>
            <a:ext cx="109728" cy="9144"/>
          </a:xfrm>
          <a:prstGeom prst="rect">
            <a:avLst/>
          </a:prstGeom>
          <a:solidFill>
            <a:srgbClr val="D4CFC7"/>
          </a:solidFill>
          <a:ln/>
        </p:spPr>
        <p:txBody>
          <a:bodyPr/>
          <a:lstStyle/>
          <a:p>
            <a:endParaRPr lang="es-MX"/>
          </a:p>
        </p:txBody>
      </p:sp>
      <p:sp>
        <p:nvSpPr>
          <p:cNvPr id="19" name="Shape 17"/>
          <p:cNvSpPr/>
          <p:nvPr/>
        </p:nvSpPr>
        <p:spPr>
          <a:xfrm>
            <a:off x="3291840" y="1463040"/>
            <a:ext cx="1280160" cy="201168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20" name="Shape 18"/>
          <p:cNvSpPr/>
          <p:nvPr/>
        </p:nvSpPr>
        <p:spPr>
          <a:xfrm>
            <a:off x="3291840" y="1463040"/>
            <a:ext cx="32004" cy="2011680"/>
          </a:xfrm>
          <a:prstGeom prst="rect">
            <a:avLst/>
          </a:prstGeom>
          <a:solidFill>
            <a:srgbClr val="C4956A"/>
          </a:solidFill>
          <a:ln/>
        </p:spPr>
        <p:txBody>
          <a:bodyPr/>
          <a:lstStyle/>
          <a:p>
            <a:endParaRPr lang="es-MX"/>
          </a:p>
        </p:txBody>
      </p:sp>
      <p:sp>
        <p:nvSpPr>
          <p:cNvPr id="21" name="Text 19"/>
          <p:cNvSpPr/>
          <p:nvPr/>
        </p:nvSpPr>
        <p:spPr>
          <a:xfrm>
            <a:off x="3291840" y="1554480"/>
            <a:ext cx="1280160" cy="320040"/>
          </a:xfrm>
          <a:prstGeom prst="rect">
            <a:avLst/>
          </a:prstGeom>
          <a:noFill/>
          <a:ln/>
        </p:spPr>
        <p:txBody>
          <a:bodyPr wrap="square" lIns="0" tIns="0" rIns="0" bIns="0" rtlCol="0" anchor="ctr"/>
          <a:lstStyle/>
          <a:p>
            <a:pPr marL="0" indent="0" algn="ctr">
              <a:buNone/>
            </a:pPr>
            <a:r>
              <a:rPr lang="en-US" sz="1800" b="1" dirty="0">
                <a:solidFill>
                  <a:srgbClr val="C4956A"/>
                </a:solidFill>
                <a:latin typeface="Georgia" pitchFamily="34" charset="0"/>
                <a:ea typeface="Georgia" pitchFamily="34" charset="-122"/>
                <a:cs typeface="Georgia" pitchFamily="34" charset="-120"/>
              </a:rPr>
              <a:t>03</a:t>
            </a:r>
            <a:endParaRPr lang="en-US" sz="1800" dirty="0"/>
          </a:p>
        </p:txBody>
      </p:sp>
      <p:sp>
        <p:nvSpPr>
          <p:cNvPr id="22" name="Text 20"/>
          <p:cNvSpPr/>
          <p:nvPr/>
        </p:nvSpPr>
        <p:spPr>
          <a:xfrm>
            <a:off x="3291840" y="1920240"/>
            <a:ext cx="1280160" cy="274320"/>
          </a:xfrm>
          <a:prstGeom prst="rect">
            <a:avLst/>
          </a:prstGeom>
          <a:noFill/>
          <a:ln/>
        </p:spPr>
        <p:txBody>
          <a:bodyPr wrap="square" lIns="0" tIns="0" rIns="0" bIns="0" rtlCol="0" anchor="ctr"/>
          <a:lstStyle/>
          <a:p>
            <a:pPr marL="0" indent="0" algn="ctr">
              <a:buNone/>
            </a:pPr>
            <a:r>
              <a:rPr lang="en-US" sz="1100" b="1" dirty="0" err="1">
                <a:solidFill>
                  <a:srgbClr val="2D2D3A"/>
                </a:solidFill>
                <a:latin typeface="Georgia" pitchFamily="34" charset="0"/>
                <a:ea typeface="Georgia" pitchFamily="34" charset="-122"/>
                <a:cs typeface="Georgia" pitchFamily="34" charset="-120"/>
              </a:rPr>
              <a:t>Distribuye</a:t>
            </a:r>
            <a:endParaRPr lang="en-US" sz="1100" dirty="0"/>
          </a:p>
        </p:txBody>
      </p:sp>
      <p:sp>
        <p:nvSpPr>
          <p:cNvPr id="23" name="Shape 21"/>
          <p:cNvSpPr/>
          <p:nvPr/>
        </p:nvSpPr>
        <p:spPr>
          <a:xfrm>
            <a:off x="3657600" y="2240280"/>
            <a:ext cx="548640" cy="9144"/>
          </a:xfrm>
          <a:prstGeom prst="rect">
            <a:avLst/>
          </a:prstGeom>
          <a:solidFill>
            <a:srgbClr val="D4CFC7"/>
          </a:solidFill>
          <a:ln/>
        </p:spPr>
        <p:txBody>
          <a:bodyPr/>
          <a:lstStyle/>
          <a:p>
            <a:endParaRPr lang="es-MX"/>
          </a:p>
        </p:txBody>
      </p:sp>
      <p:sp>
        <p:nvSpPr>
          <p:cNvPr id="24" name="Text 22"/>
          <p:cNvSpPr/>
          <p:nvPr/>
        </p:nvSpPr>
        <p:spPr>
          <a:xfrm>
            <a:off x="3383280" y="2331720"/>
            <a:ext cx="1097280" cy="914400"/>
          </a:xfrm>
          <a:prstGeom prst="rect">
            <a:avLst/>
          </a:prstGeom>
          <a:noFill/>
          <a:ln/>
        </p:spPr>
        <p:txBody>
          <a:bodyPr wrap="square" lIns="0" tIns="0" rIns="0" bIns="0" rtlCol="0" anchor="t"/>
          <a:lstStyle/>
          <a:p>
            <a:pPr marL="0" indent="0" algn="ctr">
              <a:buNone/>
            </a:pPr>
            <a:r>
              <a:rPr lang="en-US" sz="800" dirty="0">
                <a:solidFill>
                  <a:srgbClr val="7A7A8A"/>
                </a:solidFill>
                <a:latin typeface="Georgia" pitchFamily="34" charset="0"/>
                <a:ea typeface="Georgia" pitchFamily="34" charset="-122"/>
                <a:cs typeface="Georgia" pitchFamily="34" charset="-120"/>
              </a:rPr>
              <a:t>70% placement</a:t>
            </a:r>
            <a:endParaRPr lang="en-US" sz="800" dirty="0"/>
          </a:p>
          <a:p>
            <a:pPr marL="0" indent="0" algn="ctr">
              <a:buNone/>
            </a:pPr>
            <a:r>
              <a:rPr lang="en-US" sz="800" dirty="0">
                <a:solidFill>
                  <a:srgbClr val="7A7A8A"/>
                </a:solidFill>
                <a:latin typeface="Georgia" pitchFamily="34" charset="0"/>
                <a:ea typeface="Georgia" pitchFamily="34" charset="-122"/>
                <a:cs typeface="Georgia" pitchFamily="34" charset="-120"/>
              </a:rPr>
              <a:t>20% kills, 10% team</a:t>
            </a:r>
            <a:endParaRPr lang="en-US" sz="800" dirty="0"/>
          </a:p>
        </p:txBody>
      </p:sp>
      <p:sp>
        <p:nvSpPr>
          <p:cNvPr id="25" name="Shape 23"/>
          <p:cNvSpPr/>
          <p:nvPr/>
        </p:nvSpPr>
        <p:spPr>
          <a:xfrm>
            <a:off x="4590288" y="2377440"/>
            <a:ext cx="109728" cy="9144"/>
          </a:xfrm>
          <a:prstGeom prst="rect">
            <a:avLst/>
          </a:prstGeom>
          <a:solidFill>
            <a:srgbClr val="D4CFC7"/>
          </a:solidFill>
          <a:ln/>
        </p:spPr>
        <p:txBody>
          <a:bodyPr/>
          <a:lstStyle/>
          <a:p>
            <a:endParaRPr lang="es-MX"/>
          </a:p>
        </p:txBody>
      </p:sp>
      <p:sp>
        <p:nvSpPr>
          <p:cNvPr id="26" name="Shape 24"/>
          <p:cNvSpPr/>
          <p:nvPr/>
        </p:nvSpPr>
        <p:spPr>
          <a:xfrm>
            <a:off x="4709160" y="1463040"/>
            <a:ext cx="1280160" cy="201168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27" name="Shape 25"/>
          <p:cNvSpPr/>
          <p:nvPr/>
        </p:nvSpPr>
        <p:spPr>
          <a:xfrm>
            <a:off x="4709160" y="1463040"/>
            <a:ext cx="32004" cy="2011680"/>
          </a:xfrm>
          <a:prstGeom prst="rect">
            <a:avLst/>
          </a:prstGeom>
          <a:solidFill>
            <a:srgbClr val="6B2D5B"/>
          </a:solidFill>
          <a:ln/>
        </p:spPr>
        <p:txBody>
          <a:bodyPr/>
          <a:lstStyle/>
          <a:p>
            <a:endParaRPr lang="es-MX"/>
          </a:p>
        </p:txBody>
      </p:sp>
      <p:sp>
        <p:nvSpPr>
          <p:cNvPr id="28" name="Text 26"/>
          <p:cNvSpPr/>
          <p:nvPr/>
        </p:nvSpPr>
        <p:spPr>
          <a:xfrm>
            <a:off x="4709160" y="1554480"/>
            <a:ext cx="1280160" cy="320040"/>
          </a:xfrm>
          <a:prstGeom prst="rect">
            <a:avLst/>
          </a:prstGeom>
          <a:noFill/>
          <a:ln/>
        </p:spPr>
        <p:txBody>
          <a:bodyPr wrap="square" lIns="0" tIns="0" rIns="0" bIns="0" rtlCol="0" anchor="ctr"/>
          <a:lstStyle/>
          <a:p>
            <a:pPr marL="0" indent="0" algn="ctr">
              <a:buNone/>
            </a:pPr>
            <a:r>
              <a:rPr lang="en-US" sz="1800" b="1" dirty="0">
                <a:solidFill>
                  <a:srgbClr val="6B2D5B"/>
                </a:solidFill>
                <a:latin typeface="Georgia" pitchFamily="34" charset="0"/>
                <a:ea typeface="Georgia" pitchFamily="34" charset="-122"/>
                <a:cs typeface="Georgia" pitchFamily="34" charset="-120"/>
              </a:rPr>
              <a:t>04</a:t>
            </a:r>
            <a:endParaRPr lang="en-US" sz="1800" dirty="0"/>
          </a:p>
        </p:txBody>
      </p:sp>
      <p:sp>
        <p:nvSpPr>
          <p:cNvPr id="29" name="Text 27"/>
          <p:cNvSpPr/>
          <p:nvPr/>
        </p:nvSpPr>
        <p:spPr>
          <a:xfrm>
            <a:off x="4709160" y="1920240"/>
            <a:ext cx="1280160" cy="274320"/>
          </a:xfrm>
          <a:prstGeom prst="rect">
            <a:avLst/>
          </a:prstGeom>
          <a:noFill/>
          <a:ln/>
        </p:spPr>
        <p:txBody>
          <a:bodyPr wrap="square" lIns="0" tIns="0" rIns="0" bIns="0" rtlCol="0" anchor="ctr"/>
          <a:lstStyle/>
          <a:p>
            <a:pPr marL="0" indent="0" algn="ctr">
              <a:buNone/>
            </a:pPr>
            <a:r>
              <a:rPr lang="en-US" sz="1100" b="1" dirty="0" err="1">
                <a:solidFill>
                  <a:srgbClr val="2D2D3A"/>
                </a:solidFill>
                <a:latin typeface="Georgia" pitchFamily="34" charset="0"/>
                <a:ea typeface="Georgia" pitchFamily="34" charset="-122"/>
                <a:cs typeface="Georgia" pitchFamily="34" charset="-120"/>
              </a:rPr>
              <a:t>Parea</a:t>
            </a:r>
            <a:endParaRPr lang="en-US" sz="1100" dirty="0"/>
          </a:p>
        </p:txBody>
      </p:sp>
      <p:sp>
        <p:nvSpPr>
          <p:cNvPr id="30" name="Shape 28"/>
          <p:cNvSpPr/>
          <p:nvPr/>
        </p:nvSpPr>
        <p:spPr>
          <a:xfrm>
            <a:off x="5074920" y="2240280"/>
            <a:ext cx="548640" cy="9144"/>
          </a:xfrm>
          <a:prstGeom prst="rect">
            <a:avLst/>
          </a:prstGeom>
          <a:solidFill>
            <a:srgbClr val="D4CFC7"/>
          </a:solidFill>
          <a:ln/>
        </p:spPr>
        <p:txBody>
          <a:bodyPr/>
          <a:lstStyle/>
          <a:p>
            <a:endParaRPr lang="es-MX"/>
          </a:p>
        </p:txBody>
      </p:sp>
      <p:sp>
        <p:nvSpPr>
          <p:cNvPr id="31" name="Text 29"/>
          <p:cNvSpPr/>
          <p:nvPr/>
        </p:nvSpPr>
        <p:spPr>
          <a:xfrm>
            <a:off x="4800600" y="2331720"/>
            <a:ext cx="1097280" cy="914400"/>
          </a:xfrm>
          <a:prstGeom prst="rect">
            <a:avLst/>
          </a:prstGeom>
          <a:noFill/>
          <a:ln/>
        </p:spPr>
        <p:txBody>
          <a:bodyPr wrap="square" lIns="0" tIns="0" rIns="0" bIns="0" rtlCol="0" anchor="t"/>
          <a:lstStyle/>
          <a:p>
            <a:pPr marL="0" indent="0" algn="ctr">
              <a:buNone/>
            </a:pPr>
            <a:r>
              <a:rPr lang="en-US" sz="800" dirty="0">
                <a:solidFill>
                  <a:srgbClr val="7A7A8A"/>
                </a:solidFill>
                <a:latin typeface="Georgia" pitchFamily="34" charset="0"/>
                <a:ea typeface="Georgia" pitchFamily="34" charset="-122"/>
                <a:cs typeface="Georgia" pitchFamily="34" charset="-120"/>
              </a:rPr>
              <a:t>Cada jugador vs</a:t>
            </a:r>
            <a:endParaRPr lang="en-US" sz="800" dirty="0"/>
          </a:p>
          <a:p>
            <a:pPr marL="0" indent="0" algn="ctr">
              <a:buNone/>
            </a:pPr>
            <a:r>
              <a:rPr lang="en-US" sz="800" dirty="0">
                <a:solidFill>
                  <a:srgbClr val="7A7A8A"/>
                </a:solidFill>
                <a:latin typeface="Georgia" pitchFamily="34" charset="0"/>
                <a:ea typeface="Georgia" pitchFamily="34" charset="-122"/>
                <a:cs typeface="Georgia" pitchFamily="34" charset="-120"/>
              </a:rPr>
              <a:t>cada otro del lobby</a:t>
            </a:r>
            <a:endParaRPr lang="en-US" sz="800" dirty="0"/>
          </a:p>
        </p:txBody>
      </p:sp>
      <p:sp>
        <p:nvSpPr>
          <p:cNvPr id="32" name="Shape 30"/>
          <p:cNvSpPr/>
          <p:nvPr/>
        </p:nvSpPr>
        <p:spPr>
          <a:xfrm>
            <a:off x="6007608" y="2377440"/>
            <a:ext cx="109728" cy="9144"/>
          </a:xfrm>
          <a:prstGeom prst="rect">
            <a:avLst/>
          </a:prstGeom>
          <a:solidFill>
            <a:srgbClr val="D4CFC7"/>
          </a:solidFill>
          <a:ln/>
        </p:spPr>
        <p:txBody>
          <a:bodyPr/>
          <a:lstStyle/>
          <a:p>
            <a:endParaRPr lang="es-MX"/>
          </a:p>
        </p:txBody>
      </p:sp>
      <p:sp>
        <p:nvSpPr>
          <p:cNvPr id="33" name="Shape 31"/>
          <p:cNvSpPr/>
          <p:nvPr/>
        </p:nvSpPr>
        <p:spPr>
          <a:xfrm>
            <a:off x="6126480" y="1463040"/>
            <a:ext cx="1280160" cy="201168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34" name="Shape 32"/>
          <p:cNvSpPr/>
          <p:nvPr/>
        </p:nvSpPr>
        <p:spPr>
          <a:xfrm>
            <a:off x="6126480" y="1463040"/>
            <a:ext cx="32004" cy="2011680"/>
          </a:xfrm>
          <a:prstGeom prst="rect">
            <a:avLst/>
          </a:prstGeom>
          <a:solidFill>
            <a:srgbClr val="B8860B"/>
          </a:solidFill>
          <a:ln/>
        </p:spPr>
        <p:txBody>
          <a:bodyPr/>
          <a:lstStyle/>
          <a:p>
            <a:endParaRPr lang="es-MX"/>
          </a:p>
        </p:txBody>
      </p:sp>
      <p:sp>
        <p:nvSpPr>
          <p:cNvPr id="35" name="Text 33"/>
          <p:cNvSpPr/>
          <p:nvPr/>
        </p:nvSpPr>
        <p:spPr>
          <a:xfrm>
            <a:off x="6126480" y="1554480"/>
            <a:ext cx="1280160" cy="320040"/>
          </a:xfrm>
          <a:prstGeom prst="rect">
            <a:avLst/>
          </a:prstGeom>
          <a:noFill/>
          <a:ln/>
        </p:spPr>
        <p:txBody>
          <a:bodyPr wrap="square" lIns="0" tIns="0" rIns="0" bIns="0" rtlCol="0" anchor="ctr"/>
          <a:lstStyle/>
          <a:p>
            <a:pPr marL="0" indent="0" algn="ctr">
              <a:buNone/>
            </a:pPr>
            <a:r>
              <a:rPr lang="en-US" sz="1800" b="1" dirty="0">
                <a:solidFill>
                  <a:srgbClr val="B8860B"/>
                </a:solidFill>
                <a:latin typeface="Georgia" pitchFamily="34" charset="0"/>
                <a:ea typeface="Georgia" pitchFamily="34" charset="-122"/>
                <a:cs typeface="Georgia" pitchFamily="34" charset="-120"/>
              </a:rPr>
              <a:t>05</a:t>
            </a:r>
            <a:endParaRPr lang="en-US" sz="1800" dirty="0"/>
          </a:p>
        </p:txBody>
      </p:sp>
      <p:sp>
        <p:nvSpPr>
          <p:cNvPr id="36" name="Text 34"/>
          <p:cNvSpPr/>
          <p:nvPr/>
        </p:nvSpPr>
        <p:spPr>
          <a:xfrm>
            <a:off x="6126480" y="1920240"/>
            <a:ext cx="1280160" cy="274320"/>
          </a:xfrm>
          <a:prstGeom prst="rect">
            <a:avLst/>
          </a:prstGeom>
          <a:noFill/>
          <a:ln/>
        </p:spPr>
        <p:txBody>
          <a:bodyPr wrap="square" lIns="0" tIns="0" rIns="0" bIns="0" rtlCol="0" anchor="ctr"/>
          <a:lstStyle/>
          <a:p>
            <a:pPr marL="0" indent="0" algn="ctr">
              <a:buNone/>
            </a:pPr>
            <a:r>
              <a:rPr lang="en-US" sz="1100" b="1" dirty="0" err="1">
                <a:solidFill>
                  <a:srgbClr val="2D2D3A"/>
                </a:solidFill>
                <a:latin typeface="Georgia" pitchFamily="34" charset="0"/>
                <a:ea typeface="Georgia" pitchFamily="34" charset="-122"/>
                <a:cs typeface="Georgia" pitchFamily="34" charset="-120"/>
              </a:rPr>
              <a:t>Bayesiano</a:t>
            </a:r>
            <a:endParaRPr lang="en-US" sz="1100" dirty="0"/>
          </a:p>
        </p:txBody>
      </p:sp>
      <p:sp>
        <p:nvSpPr>
          <p:cNvPr id="37" name="Shape 35"/>
          <p:cNvSpPr/>
          <p:nvPr/>
        </p:nvSpPr>
        <p:spPr>
          <a:xfrm>
            <a:off x="6492240" y="2240280"/>
            <a:ext cx="548640" cy="9144"/>
          </a:xfrm>
          <a:prstGeom prst="rect">
            <a:avLst/>
          </a:prstGeom>
          <a:solidFill>
            <a:srgbClr val="D4CFC7"/>
          </a:solidFill>
          <a:ln/>
        </p:spPr>
        <p:txBody>
          <a:bodyPr/>
          <a:lstStyle/>
          <a:p>
            <a:endParaRPr lang="es-MX"/>
          </a:p>
        </p:txBody>
      </p:sp>
      <p:sp>
        <p:nvSpPr>
          <p:cNvPr id="38" name="Text 36"/>
          <p:cNvSpPr/>
          <p:nvPr/>
        </p:nvSpPr>
        <p:spPr>
          <a:xfrm>
            <a:off x="6217920" y="2331720"/>
            <a:ext cx="1097280" cy="914400"/>
          </a:xfrm>
          <a:prstGeom prst="rect">
            <a:avLst/>
          </a:prstGeom>
          <a:noFill/>
          <a:ln/>
        </p:spPr>
        <p:txBody>
          <a:bodyPr wrap="square" lIns="0" tIns="0" rIns="0" bIns="0" rtlCol="0" anchor="t"/>
          <a:lstStyle/>
          <a:p>
            <a:pPr marL="0" indent="0" algn="ctr">
              <a:buNone/>
            </a:pPr>
            <a:r>
              <a:rPr lang="en-US" sz="800" dirty="0">
                <a:solidFill>
                  <a:srgbClr val="7A7A8A"/>
                </a:solidFill>
                <a:latin typeface="Georgia" pitchFamily="34" charset="0"/>
                <a:ea typeface="Georgia" pitchFamily="34" charset="-122"/>
                <a:cs typeface="Georgia" pitchFamily="34" charset="-120"/>
              </a:rPr>
              <a:t>mu sube/baja</a:t>
            </a:r>
            <a:endParaRPr lang="en-US" sz="800" dirty="0"/>
          </a:p>
          <a:p>
            <a:pPr marL="0" indent="0" algn="ctr">
              <a:buNone/>
            </a:pPr>
            <a:r>
              <a:rPr lang="en-US" sz="800" dirty="0">
                <a:solidFill>
                  <a:srgbClr val="7A7A8A"/>
                </a:solidFill>
                <a:latin typeface="Georgia" pitchFamily="34" charset="0"/>
                <a:ea typeface="Georgia" pitchFamily="34" charset="-122"/>
                <a:cs typeface="Georgia" pitchFamily="34" charset="-120"/>
              </a:rPr>
              <a:t>sigma se reduce</a:t>
            </a:r>
            <a:endParaRPr lang="en-US" sz="800" dirty="0"/>
          </a:p>
        </p:txBody>
      </p:sp>
      <p:sp>
        <p:nvSpPr>
          <p:cNvPr id="39" name="Shape 37"/>
          <p:cNvSpPr/>
          <p:nvPr/>
        </p:nvSpPr>
        <p:spPr>
          <a:xfrm>
            <a:off x="7424928" y="2377440"/>
            <a:ext cx="109728" cy="9144"/>
          </a:xfrm>
          <a:prstGeom prst="rect">
            <a:avLst/>
          </a:prstGeom>
          <a:solidFill>
            <a:srgbClr val="D4CFC7"/>
          </a:solidFill>
          <a:ln/>
        </p:spPr>
        <p:txBody>
          <a:bodyPr/>
          <a:lstStyle/>
          <a:p>
            <a:endParaRPr lang="es-MX"/>
          </a:p>
        </p:txBody>
      </p:sp>
      <p:sp>
        <p:nvSpPr>
          <p:cNvPr id="40" name="Shape 38"/>
          <p:cNvSpPr/>
          <p:nvPr/>
        </p:nvSpPr>
        <p:spPr>
          <a:xfrm>
            <a:off x="7543800" y="1463040"/>
            <a:ext cx="1280160" cy="201168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41" name="Shape 39"/>
          <p:cNvSpPr/>
          <p:nvPr/>
        </p:nvSpPr>
        <p:spPr>
          <a:xfrm>
            <a:off x="7543800" y="1463040"/>
            <a:ext cx="32004" cy="2011680"/>
          </a:xfrm>
          <a:prstGeom prst="rect">
            <a:avLst/>
          </a:prstGeom>
          <a:solidFill>
            <a:srgbClr val="1A1A2E"/>
          </a:solidFill>
          <a:ln/>
        </p:spPr>
        <p:txBody>
          <a:bodyPr/>
          <a:lstStyle/>
          <a:p>
            <a:endParaRPr lang="es-MX"/>
          </a:p>
        </p:txBody>
      </p:sp>
      <p:sp>
        <p:nvSpPr>
          <p:cNvPr id="42" name="Text 40"/>
          <p:cNvSpPr/>
          <p:nvPr/>
        </p:nvSpPr>
        <p:spPr>
          <a:xfrm>
            <a:off x="7543800" y="1554480"/>
            <a:ext cx="1280160" cy="320040"/>
          </a:xfrm>
          <a:prstGeom prst="rect">
            <a:avLst/>
          </a:prstGeom>
          <a:noFill/>
          <a:ln/>
        </p:spPr>
        <p:txBody>
          <a:bodyPr wrap="square" lIns="0" tIns="0" rIns="0" bIns="0" rtlCol="0" anchor="ctr"/>
          <a:lstStyle/>
          <a:p>
            <a:pPr marL="0" indent="0" algn="ctr">
              <a:buNone/>
            </a:pPr>
            <a:r>
              <a:rPr lang="en-US" sz="1800" b="1" dirty="0">
                <a:solidFill>
                  <a:srgbClr val="1A1A2E"/>
                </a:solidFill>
                <a:latin typeface="Georgia" pitchFamily="34" charset="0"/>
                <a:ea typeface="Georgia" pitchFamily="34" charset="-122"/>
                <a:cs typeface="Georgia" pitchFamily="34" charset="-120"/>
              </a:rPr>
              <a:t>06</a:t>
            </a:r>
            <a:endParaRPr lang="en-US" sz="1800" dirty="0"/>
          </a:p>
        </p:txBody>
      </p:sp>
      <p:sp>
        <p:nvSpPr>
          <p:cNvPr id="43" name="Text 41"/>
          <p:cNvSpPr/>
          <p:nvPr/>
        </p:nvSpPr>
        <p:spPr>
          <a:xfrm>
            <a:off x="7543800" y="1920240"/>
            <a:ext cx="1280160" cy="274320"/>
          </a:xfrm>
          <a:prstGeom prst="rect">
            <a:avLst/>
          </a:prstGeom>
          <a:noFill/>
          <a:ln/>
        </p:spPr>
        <p:txBody>
          <a:bodyPr wrap="square" lIns="0" tIns="0" rIns="0" bIns="0" rtlCol="0" anchor="ctr"/>
          <a:lstStyle/>
          <a:p>
            <a:pPr marL="0" indent="0" algn="ctr">
              <a:buNone/>
            </a:pPr>
            <a:r>
              <a:rPr lang="en-US" sz="1100" b="1" dirty="0">
                <a:solidFill>
                  <a:srgbClr val="2D2D3A"/>
                </a:solidFill>
                <a:latin typeface="Georgia" pitchFamily="34" charset="0"/>
                <a:ea typeface="Georgia" pitchFamily="34" charset="-122"/>
                <a:cs typeface="Georgia" pitchFamily="34" charset="-120"/>
              </a:rPr>
              <a:t>PSR</a:t>
            </a:r>
            <a:endParaRPr lang="en-US" sz="1100" dirty="0"/>
          </a:p>
        </p:txBody>
      </p:sp>
      <p:sp>
        <p:nvSpPr>
          <p:cNvPr id="44" name="Shape 42"/>
          <p:cNvSpPr/>
          <p:nvPr/>
        </p:nvSpPr>
        <p:spPr>
          <a:xfrm>
            <a:off x="7909560" y="2240280"/>
            <a:ext cx="548640" cy="9144"/>
          </a:xfrm>
          <a:prstGeom prst="rect">
            <a:avLst/>
          </a:prstGeom>
          <a:solidFill>
            <a:srgbClr val="D4CFC7"/>
          </a:solidFill>
          <a:ln/>
        </p:spPr>
        <p:txBody>
          <a:bodyPr/>
          <a:lstStyle/>
          <a:p>
            <a:endParaRPr lang="es-MX"/>
          </a:p>
        </p:txBody>
      </p:sp>
      <p:sp>
        <p:nvSpPr>
          <p:cNvPr id="45" name="Text 43"/>
          <p:cNvSpPr/>
          <p:nvPr/>
        </p:nvSpPr>
        <p:spPr>
          <a:xfrm>
            <a:off x="7635240" y="2331720"/>
            <a:ext cx="1097280" cy="914400"/>
          </a:xfrm>
          <a:prstGeom prst="rect">
            <a:avLst/>
          </a:prstGeom>
          <a:noFill/>
          <a:ln/>
        </p:spPr>
        <p:txBody>
          <a:bodyPr wrap="square" lIns="0" tIns="0" rIns="0" bIns="0" rtlCol="0" anchor="t"/>
          <a:lstStyle/>
          <a:p>
            <a:pPr marL="0" indent="0" algn="ctr">
              <a:buNone/>
            </a:pPr>
            <a:r>
              <a:rPr lang="en-US" sz="800" dirty="0">
                <a:solidFill>
                  <a:srgbClr val="7A7A8A"/>
                </a:solidFill>
                <a:latin typeface="Georgia" pitchFamily="34" charset="0"/>
                <a:ea typeface="Georgia" pitchFamily="34" charset="-122"/>
                <a:cs typeface="Georgia" pitchFamily="34" charset="-120"/>
              </a:rPr>
              <a:t>mu - 3 · sigma</a:t>
            </a:r>
            <a:endParaRPr lang="en-US" sz="800" dirty="0"/>
          </a:p>
          <a:p>
            <a:pPr marL="0" indent="0" algn="ctr">
              <a:buNone/>
            </a:pPr>
            <a:r>
              <a:rPr lang="en-US" sz="800" dirty="0">
                <a:solidFill>
                  <a:srgbClr val="7A7A8A"/>
                </a:solidFill>
                <a:latin typeface="Georgia" pitchFamily="34" charset="0"/>
                <a:ea typeface="Georgia" pitchFamily="34" charset="-122"/>
                <a:cs typeface="Georgia" pitchFamily="34" charset="-120"/>
              </a:rPr>
              <a:t>Conservador</a:t>
            </a:r>
            <a:endParaRPr lang="en-US" sz="800" dirty="0"/>
          </a:p>
        </p:txBody>
      </p:sp>
      <p:sp>
        <p:nvSpPr>
          <p:cNvPr id="46" name="Shape 44"/>
          <p:cNvSpPr/>
          <p:nvPr/>
        </p:nvSpPr>
        <p:spPr>
          <a:xfrm>
            <a:off x="731520" y="3749040"/>
            <a:ext cx="7680960" cy="9144"/>
          </a:xfrm>
          <a:prstGeom prst="rect">
            <a:avLst/>
          </a:prstGeom>
          <a:solidFill>
            <a:srgbClr val="D4CFC7"/>
          </a:solidFill>
          <a:ln/>
        </p:spPr>
        <p:txBody>
          <a:bodyPr/>
          <a:lstStyle/>
          <a:p>
            <a:endParaRPr lang="es-MX"/>
          </a:p>
        </p:txBody>
      </p:sp>
      <p:sp>
        <p:nvSpPr>
          <p:cNvPr id="47" name="Text 45"/>
          <p:cNvSpPr/>
          <p:nvPr/>
        </p:nvSpPr>
        <p:spPr>
          <a:xfrm>
            <a:off x="731520" y="3840480"/>
            <a:ext cx="3657600" cy="228600"/>
          </a:xfrm>
          <a:prstGeom prst="rect">
            <a:avLst/>
          </a:prstGeom>
          <a:noFill/>
          <a:ln/>
        </p:spPr>
        <p:txBody>
          <a:bodyPr wrap="square" lIns="0" tIns="0" rIns="0" bIns="0" rtlCol="0" anchor="ctr"/>
          <a:lstStyle/>
          <a:p>
            <a:pPr marL="0" indent="0">
              <a:buNone/>
            </a:pPr>
            <a:r>
              <a:rPr lang="en-US" sz="800" kern="0" spc="300" dirty="0">
                <a:solidFill>
                  <a:srgbClr val="7A7A8A"/>
                </a:solidFill>
                <a:latin typeface="Georgia" pitchFamily="34" charset="0"/>
                <a:ea typeface="Georgia" pitchFamily="34" charset="-122"/>
                <a:cs typeface="Georgia" pitchFamily="34" charset="-120"/>
              </a:rPr>
              <a:t>CAPA DE AUDITORIA</a:t>
            </a:r>
            <a:endParaRPr lang="en-US" sz="800" dirty="0"/>
          </a:p>
        </p:txBody>
      </p:sp>
      <p:sp>
        <p:nvSpPr>
          <p:cNvPr id="48" name="Text 46"/>
          <p:cNvSpPr/>
          <p:nvPr/>
        </p:nvSpPr>
        <p:spPr>
          <a:xfrm>
            <a:off x="731520" y="4114800"/>
            <a:ext cx="1371600" cy="274320"/>
          </a:xfrm>
          <a:prstGeom prst="rect">
            <a:avLst/>
          </a:prstGeom>
          <a:noFill/>
          <a:ln/>
        </p:spPr>
        <p:txBody>
          <a:bodyPr wrap="square" lIns="0" tIns="0" rIns="0" bIns="0" rtlCol="0" anchor="ctr"/>
          <a:lstStyle/>
          <a:p>
            <a:pPr marL="0" indent="0" algn="ctr">
              <a:buNone/>
            </a:pPr>
            <a:r>
              <a:rPr lang="en-US" sz="800" dirty="0">
                <a:solidFill>
                  <a:srgbClr val="7A7A8A"/>
                </a:solidFill>
                <a:latin typeface="Consolas" pitchFamily="34" charset="0"/>
                <a:ea typeface="Consolas" pitchFamily="34" charset="-122"/>
                <a:cs typeface="Consolas" pitchFamily="34" charset="-120"/>
              </a:rPr>
              <a:t>MatchRecord</a:t>
            </a:r>
            <a:endParaRPr lang="en-US" sz="800" dirty="0"/>
          </a:p>
        </p:txBody>
      </p:sp>
      <p:sp>
        <p:nvSpPr>
          <p:cNvPr id="49" name="Text 47"/>
          <p:cNvSpPr/>
          <p:nvPr/>
        </p:nvSpPr>
        <p:spPr>
          <a:xfrm>
            <a:off x="2286000" y="4114800"/>
            <a:ext cx="1371600" cy="274320"/>
          </a:xfrm>
          <a:prstGeom prst="rect">
            <a:avLst/>
          </a:prstGeom>
          <a:noFill/>
          <a:ln/>
        </p:spPr>
        <p:txBody>
          <a:bodyPr wrap="square" lIns="0" tIns="0" rIns="0" bIns="0" rtlCol="0" anchor="ctr"/>
          <a:lstStyle/>
          <a:p>
            <a:pPr marL="0" indent="0" algn="ctr">
              <a:buNone/>
            </a:pPr>
            <a:r>
              <a:rPr lang="en-US" sz="800" dirty="0">
                <a:solidFill>
                  <a:srgbClr val="7A7A8A"/>
                </a:solidFill>
                <a:latin typeface="Consolas" pitchFamily="34" charset="0"/>
                <a:ea typeface="Consolas" pitchFamily="34" charset="-122"/>
                <a:cs typeface="Consolas" pitchFamily="34" charset="-120"/>
              </a:rPr>
              <a:t>EventLog</a:t>
            </a:r>
            <a:endParaRPr lang="en-US" sz="800" dirty="0"/>
          </a:p>
        </p:txBody>
      </p:sp>
      <p:sp>
        <p:nvSpPr>
          <p:cNvPr id="50" name="Text 48"/>
          <p:cNvSpPr/>
          <p:nvPr/>
        </p:nvSpPr>
        <p:spPr>
          <a:xfrm>
            <a:off x="3840480" y="4114800"/>
            <a:ext cx="1371600" cy="274320"/>
          </a:xfrm>
          <a:prstGeom prst="rect">
            <a:avLst/>
          </a:prstGeom>
          <a:noFill/>
          <a:ln/>
        </p:spPr>
        <p:txBody>
          <a:bodyPr wrap="square" lIns="0" tIns="0" rIns="0" bIns="0" rtlCol="0" anchor="ctr"/>
          <a:lstStyle/>
          <a:p>
            <a:pPr marL="0" indent="0" algn="ctr">
              <a:buNone/>
            </a:pPr>
            <a:r>
              <a:rPr lang="en-US" sz="800" dirty="0">
                <a:solidFill>
                  <a:srgbClr val="7A7A8A"/>
                </a:solidFill>
                <a:latin typeface="Consolas" pitchFamily="34" charset="0"/>
                <a:ea typeface="Consolas" pitchFamily="34" charset="-122"/>
                <a:cs typeface="Consolas" pitchFamily="34" charset="-120"/>
              </a:rPr>
              <a:t>RankingDelta</a:t>
            </a:r>
            <a:endParaRPr lang="en-US" sz="800" dirty="0"/>
          </a:p>
        </p:txBody>
      </p:sp>
      <p:sp>
        <p:nvSpPr>
          <p:cNvPr id="51" name="Text 49"/>
          <p:cNvSpPr/>
          <p:nvPr/>
        </p:nvSpPr>
        <p:spPr>
          <a:xfrm>
            <a:off x="5394960" y="4114800"/>
            <a:ext cx="1371600" cy="274320"/>
          </a:xfrm>
          <a:prstGeom prst="rect">
            <a:avLst/>
          </a:prstGeom>
          <a:noFill/>
          <a:ln/>
        </p:spPr>
        <p:txBody>
          <a:bodyPr wrap="square" lIns="0" tIns="0" rIns="0" bIns="0" rtlCol="0" anchor="ctr"/>
          <a:lstStyle/>
          <a:p>
            <a:pPr marL="0" indent="0" algn="ctr">
              <a:buNone/>
            </a:pPr>
            <a:r>
              <a:rPr lang="en-US" sz="800" dirty="0">
                <a:solidFill>
                  <a:srgbClr val="7A7A8A"/>
                </a:solidFill>
                <a:latin typeface="Consolas" pitchFamily="34" charset="0"/>
                <a:ea typeface="Consolas" pitchFamily="34" charset="-122"/>
                <a:cs typeface="Consolas" pitchFamily="34" charset="-120"/>
              </a:rPr>
              <a:t>Snapshot</a:t>
            </a:r>
            <a:endParaRPr lang="en-US" sz="800" dirty="0"/>
          </a:p>
        </p:txBody>
      </p:sp>
      <p:sp>
        <p:nvSpPr>
          <p:cNvPr id="52" name="Text 50"/>
          <p:cNvSpPr/>
          <p:nvPr/>
        </p:nvSpPr>
        <p:spPr>
          <a:xfrm>
            <a:off x="6949440" y="4114800"/>
            <a:ext cx="1371600" cy="274320"/>
          </a:xfrm>
          <a:prstGeom prst="rect">
            <a:avLst/>
          </a:prstGeom>
          <a:noFill/>
          <a:ln/>
        </p:spPr>
        <p:txBody>
          <a:bodyPr wrap="square" lIns="0" tIns="0" rIns="0" bIns="0" rtlCol="0" anchor="ctr"/>
          <a:lstStyle/>
          <a:p>
            <a:pPr marL="0" indent="0" algn="ctr">
              <a:buNone/>
            </a:pPr>
            <a:r>
              <a:rPr lang="en-US" sz="800" dirty="0">
                <a:solidFill>
                  <a:srgbClr val="7A7A8A"/>
                </a:solidFill>
                <a:latin typeface="Consolas" pitchFamily="34" charset="0"/>
                <a:ea typeface="Consolas" pitchFamily="34" charset="-122"/>
                <a:cs typeface="Consolas" pitchFamily="34" charset="-120"/>
              </a:rPr>
              <a:t>ModelVersion</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731520" y="411480"/>
            <a:ext cx="7680960" cy="594360"/>
          </a:xfrm>
          <a:prstGeom prst="rect">
            <a:avLst/>
          </a:prstGeom>
          <a:noFill/>
          <a:ln/>
        </p:spPr>
        <p:txBody>
          <a:bodyPr wrap="square" lIns="0" tIns="0" rIns="0" bIns="0" rtlCol="0" anchor="ctr"/>
          <a:lstStyle/>
          <a:p>
            <a:pPr marL="0" indent="0">
              <a:buNone/>
            </a:pPr>
            <a:r>
              <a:rPr lang="en-US" sz="2600" dirty="0">
                <a:solidFill>
                  <a:srgbClr val="2D2D3A"/>
                </a:solidFill>
                <a:latin typeface="Georgia" pitchFamily="34" charset="0"/>
                <a:ea typeface="Georgia" pitchFamily="34" charset="-122"/>
                <a:cs typeface="Georgia" pitchFamily="34" charset="-120"/>
              </a:rPr>
              <a:t>Composicion del rendimiento</a:t>
            </a:r>
            <a:endParaRPr lang="en-US" sz="2600" dirty="0"/>
          </a:p>
        </p:txBody>
      </p:sp>
      <p:sp>
        <p:nvSpPr>
          <p:cNvPr id="3" name="Shape 1"/>
          <p:cNvSpPr/>
          <p:nvPr/>
        </p:nvSpPr>
        <p:spPr>
          <a:xfrm>
            <a:off x="731520" y="1051560"/>
            <a:ext cx="914400" cy="18288"/>
          </a:xfrm>
          <a:prstGeom prst="rect">
            <a:avLst/>
          </a:prstGeom>
          <a:solidFill>
            <a:srgbClr val="C4956A"/>
          </a:solidFill>
          <a:ln/>
        </p:spPr>
        <p:txBody>
          <a:bodyPr/>
          <a:lstStyle/>
          <a:p>
            <a:endParaRPr lang="es-MX"/>
          </a:p>
        </p:txBody>
      </p:sp>
      <p:sp>
        <p:nvSpPr>
          <p:cNvPr id="4" name="Text 2"/>
          <p:cNvSpPr/>
          <p:nvPr/>
        </p:nvSpPr>
        <p:spPr>
          <a:xfrm>
            <a:off x="731520" y="1188720"/>
            <a:ext cx="3657600" cy="228600"/>
          </a:xfrm>
          <a:prstGeom prst="rect">
            <a:avLst/>
          </a:prstGeom>
          <a:noFill/>
          <a:ln/>
        </p:spPr>
        <p:txBody>
          <a:bodyPr wrap="square" lIns="0" tIns="0" rIns="0" bIns="0" rtlCol="0" anchor="ctr"/>
          <a:lstStyle/>
          <a:p>
            <a:pPr marL="0" indent="0">
              <a:buNone/>
            </a:pPr>
            <a:r>
              <a:rPr lang="en-US" sz="800" kern="0" spc="300" dirty="0">
                <a:solidFill>
                  <a:srgbClr val="7A7A8A"/>
                </a:solidFill>
                <a:latin typeface="Georgia" pitchFamily="34" charset="0"/>
                <a:ea typeface="Georgia" pitchFamily="34" charset="-122"/>
                <a:cs typeface="Georgia" pitchFamily="34" charset="-120"/>
              </a:rPr>
              <a:t>PONDERACION DE SENALES POR EVENTO</a:t>
            </a:r>
            <a:endParaRPr lang="en-US" sz="800" dirty="0"/>
          </a:p>
        </p:txBody>
      </p:sp>
      <p:graphicFrame>
        <p:nvGraphicFramePr>
          <p:cNvPr id="5" name="Chart 0"/>
          <p:cNvGraphicFramePr/>
          <p:nvPr/>
        </p:nvGraphicFramePr>
        <p:xfrm>
          <a:off x="457200" y="1371600"/>
          <a:ext cx="384048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4663440" y="1463040"/>
            <a:ext cx="3840480" cy="86868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7" name="Shape 4"/>
          <p:cNvSpPr/>
          <p:nvPr/>
        </p:nvSpPr>
        <p:spPr>
          <a:xfrm>
            <a:off x="4663440" y="1463040"/>
            <a:ext cx="32004" cy="868680"/>
          </a:xfrm>
          <a:prstGeom prst="rect">
            <a:avLst/>
          </a:prstGeom>
          <a:solidFill>
            <a:srgbClr val="C4956A"/>
          </a:solidFill>
          <a:ln/>
        </p:spPr>
        <p:txBody>
          <a:bodyPr/>
          <a:lstStyle/>
          <a:p>
            <a:endParaRPr lang="es-MX"/>
          </a:p>
        </p:txBody>
      </p:sp>
      <p:sp>
        <p:nvSpPr>
          <p:cNvPr id="8" name="Text 5"/>
          <p:cNvSpPr/>
          <p:nvPr/>
        </p:nvSpPr>
        <p:spPr>
          <a:xfrm>
            <a:off x="4846320" y="1536192"/>
            <a:ext cx="3474720" cy="228600"/>
          </a:xfrm>
          <a:prstGeom prst="rect">
            <a:avLst/>
          </a:prstGeom>
          <a:noFill/>
          <a:ln/>
        </p:spPr>
        <p:txBody>
          <a:bodyPr wrap="square" lIns="0" tIns="0" rIns="0" bIns="0" rtlCol="0" anchor="ctr"/>
          <a:lstStyle/>
          <a:p>
            <a:pPr marL="0" indent="0">
              <a:buNone/>
            </a:pPr>
            <a:r>
              <a:rPr lang="en-US" sz="1100" b="1" dirty="0">
                <a:solidFill>
                  <a:srgbClr val="C4956A"/>
                </a:solidFill>
                <a:latin typeface="Georgia" pitchFamily="34" charset="0"/>
                <a:ea typeface="Georgia" pitchFamily="34" charset="-122"/>
                <a:cs typeface="Georgia" pitchFamily="34" charset="-120"/>
              </a:rPr>
              <a:t>Placement (70%)</a:t>
            </a:r>
            <a:endParaRPr lang="en-US" sz="1100" dirty="0"/>
          </a:p>
        </p:txBody>
      </p:sp>
      <p:sp>
        <p:nvSpPr>
          <p:cNvPr id="9" name="Text 6"/>
          <p:cNvSpPr/>
          <p:nvPr/>
        </p:nvSpPr>
        <p:spPr>
          <a:xfrm>
            <a:off x="4846320" y="1783080"/>
            <a:ext cx="3474720" cy="182880"/>
          </a:xfrm>
          <a:prstGeom prst="rect">
            <a:avLst/>
          </a:prstGeom>
          <a:noFill/>
          <a:ln/>
        </p:spPr>
        <p:txBody>
          <a:bodyPr wrap="square" lIns="0" tIns="0" rIns="0" bIns="0" rtlCol="0" anchor="ctr"/>
          <a:lstStyle/>
          <a:p>
            <a:pPr marL="0" indent="0">
              <a:buNone/>
            </a:pPr>
            <a:r>
              <a:rPr lang="en-US" sz="900" dirty="0">
                <a:solidFill>
                  <a:srgbClr val="2D2D3A"/>
                </a:solidFill>
                <a:latin typeface="Consolas" pitchFamily="34" charset="0"/>
                <a:ea typeface="Consolas" pitchFamily="34" charset="-122"/>
                <a:cs typeface="Consolas" pitchFamily="34" charset="-120"/>
              </a:rPr>
              <a:t>0.72 · final + 0.28 · promedio</a:t>
            </a:r>
            <a:endParaRPr lang="en-US" sz="900" dirty="0"/>
          </a:p>
        </p:txBody>
      </p:sp>
      <p:sp>
        <p:nvSpPr>
          <p:cNvPr id="10" name="Text 7"/>
          <p:cNvSpPr/>
          <p:nvPr/>
        </p:nvSpPr>
        <p:spPr>
          <a:xfrm>
            <a:off x="4846320" y="1993392"/>
            <a:ext cx="3474720" cy="274320"/>
          </a:xfrm>
          <a:prstGeom prst="rect">
            <a:avLst/>
          </a:prstGeom>
          <a:noFill/>
          <a:ln/>
        </p:spPr>
        <p:txBody>
          <a:bodyPr wrap="square" lIns="0" tIns="0" rIns="0" bIns="0" rtlCol="0" anchor="ctr"/>
          <a:lstStyle/>
          <a:p>
            <a:pPr marL="0" indent="0">
              <a:buNone/>
            </a:pPr>
            <a:r>
              <a:rPr lang="en-US" sz="900" dirty="0">
                <a:solidFill>
                  <a:srgbClr val="7A7A8A"/>
                </a:solidFill>
                <a:latin typeface="Georgia" pitchFamily="34" charset="0"/>
                <a:ea typeface="Georgia" pitchFamily="34" charset="-122"/>
                <a:cs typeface="Georgia" pitchFamily="34" charset="-120"/>
              </a:rPr>
              <a:t>Posicion del equipo en el torneo. La senal mas importante.</a:t>
            </a:r>
            <a:endParaRPr lang="en-US" sz="900" dirty="0"/>
          </a:p>
        </p:txBody>
      </p:sp>
      <p:sp>
        <p:nvSpPr>
          <p:cNvPr id="11" name="Shape 8"/>
          <p:cNvSpPr/>
          <p:nvPr/>
        </p:nvSpPr>
        <p:spPr>
          <a:xfrm>
            <a:off x="4663440" y="2514600"/>
            <a:ext cx="3840480" cy="86868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12" name="Shape 9"/>
          <p:cNvSpPr/>
          <p:nvPr/>
        </p:nvSpPr>
        <p:spPr>
          <a:xfrm>
            <a:off x="4663440" y="2514600"/>
            <a:ext cx="32004" cy="868680"/>
          </a:xfrm>
          <a:prstGeom prst="rect">
            <a:avLst/>
          </a:prstGeom>
          <a:solidFill>
            <a:srgbClr val="2D6B6B"/>
          </a:solidFill>
          <a:ln/>
        </p:spPr>
        <p:txBody>
          <a:bodyPr/>
          <a:lstStyle/>
          <a:p>
            <a:endParaRPr lang="es-MX"/>
          </a:p>
        </p:txBody>
      </p:sp>
      <p:sp>
        <p:nvSpPr>
          <p:cNvPr id="13" name="Text 10"/>
          <p:cNvSpPr/>
          <p:nvPr/>
        </p:nvSpPr>
        <p:spPr>
          <a:xfrm>
            <a:off x="4846320" y="2587752"/>
            <a:ext cx="3474720" cy="228600"/>
          </a:xfrm>
          <a:prstGeom prst="rect">
            <a:avLst/>
          </a:prstGeom>
          <a:noFill/>
          <a:ln/>
        </p:spPr>
        <p:txBody>
          <a:bodyPr wrap="square" lIns="0" tIns="0" rIns="0" bIns="0" rtlCol="0" anchor="ctr"/>
          <a:lstStyle/>
          <a:p>
            <a:pPr marL="0" indent="0">
              <a:buNone/>
            </a:pPr>
            <a:r>
              <a:rPr lang="en-US" sz="1100" b="1" dirty="0">
                <a:solidFill>
                  <a:srgbClr val="2D6B6B"/>
                </a:solidFill>
                <a:latin typeface="Georgia" pitchFamily="34" charset="0"/>
                <a:ea typeface="Georgia" pitchFamily="34" charset="-122"/>
                <a:cs typeface="Georgia" pitchFamily="34" charset="-120"/>
              </a:rPr>
              <a:t>Kills (20%)</a:t>
            </a:r>
            <a:endParaRPr lang="en-US" sz="1100" dirty="0"/>
          </a:p>
        </p:txBody>
      </p:sp>
      <p:sp>
        <p:nvSpPr>
          <p:cNvPr id="14" name="Text 11"/>
          <p:cNvSpPr/>
          <p:nvPr/>
        </p:nvSpPr>
        <p:spPr>
          <a:xfrm>
            <a:off x="4846320" y="2834640"/>
            <a:ext cx="3474720" cy="182880"/>
          </a:xfrm>
          <a:prstGeom prst="rect">
            <a:avLst/>
          </a:prstGeom>
          <a:noFill/>
          <a:ln/>
        </p:spPr>
        <p:txBody>
          <a:bodyPr wrap="square" lIns="0" tIns="0" rIns="0" bIns="0" rtlCol="0" anchor="ctr"/>
          <a:lstStyle/>
          <a:p>
            <a:pPr marL="0" indent="0">
              <a:buNone/>
            </a:pPr>
            <a:r>
              <a:rPr lang="en-US" sz="900" dirty="0">
                <a:solidFill>
                  <a:srgbClr val="2D2D3A"/>
                </a:solidFill>
                <a:latin typeface="Consolas" pitchFamily="34" charset="0"/>
                <a:ea typeface="Consolas" pitchFamily="34" charset="-122"/>
                <a:cs typeface="Consolas" pitchFamily="34" charset="-120"/>
              </a:rPr>
              <a:t>log(1 + avg) / log(1 + max)</a:t>
            </a:r>
            <a:endParaRPr lang="en-US" sz="900" dirty="0"/>
          </a:p>
        </p:txBody>
      </p:sp>
      <p:sp>
        <p:nvSpPr>
          <p:cNvPr id="15" name="Text 12"/>
          <p:cNvSpPr/>
          <p:nvPr/>
        </p:nvSpPr>
        <p:spPr>
          <a:xfrm>
            <a:off x="4846320" y="3044952"/>
            <a:ext cx="3474720" cy="274320"/>
          </a:xfrm>
          <a:prstGeom prst="rect">
            <a:avLst/>
          </a:prstGeom>
          <a:noFill/>
          <a:ln/>
        </p:spPr>
        <p:txBody>
          <a:bodyPr wrap="square" lIns="0" tIns="0" rIns="0" bIns="0" rtlCol="0" anchor="ctr"/>
          <a:lstStyle/>
          <a:p>
            <a:pPr marL="0" indent="0">
              <a:buNone/>
            </a:pPr>
            <a:r>
              <a:rPr lang="en-US" sz="900" dirty="0">
                <a:solidFill>
                  <a:srgbClr val="7A7A8A"/>
                </a:solidFill>
                <a:latin typeface="Georgia" pitchFamily="34" charset="0"/>
                <a:ea typeface="Georgia" pitchFamily="34" charset="-122"/>
                <a:cs typeface="Georgia" pitchFamily="34" charset="-120"/>
              </a:rPr>
              <a:t>Contribucion individual. Rendimiento decreciente por diseno.</a:t>
            </a:r>
            <a:endParaRPr lang="en-US" sz="900" dirty="0"/>
          </a:p>
        </p:txBody>
      </p:sp>
      <p:sp>
        <p:nvSpPr>
          <p:cNvPr id="16" name="Shape 13"/>
          <p:cNvSpPr/>
          <p:nvPr/>
        </p:nvSpPr>
        <p:spPr>
          <a:xfrm>
            <a:off x="4663440" y="3566160"/>
            <a:ext cx="3840480" cy="86868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17" name="Shape 14"/>
          <p:cNvSpPr/>
          <p:nvPr/>
        </p:nvSpPr>
        <p:spPr>
          <a:xfrm>
            <a:off x="4663440" y="3566160"/>
            <a:ext cx="32004" cy="868680"/>
          </a:xfrm>
          <a:prstGeom prst="rect">
            <a:avLst/>
          </a:prstGeom>
          <a:solidFill>
            <a:srgbClr val="B8860B"/>
          </a:solidFill>
          <a:ln/>
        </p:spPr>
        <p:txBody>
          <a:bodyPr/>
          <a:lstStyle/>
          <a:p>
            <a:endParaRPr lang="es-MX"/>
          </a:p>
        </p:txBody>
      </p:sp>
      <p:sp>
        <p:nvSpPr>
          <p:cNvPr id="18" name="Text 15"/>
          <p:cNvSpPr/>
          <p:nvPr/>
        </p:nvSpPr>
        <p:spPr>
          <a:xfrm>
            <a:off x="4846320" y="3639312"/>
            <a:ext cx="3474720" cy="228600"/>
          </a:xfrm>
          <a:prstGeom prst="rect">
            <a:avLst/>
          </a:prstGeom>
          <a:noFill/>
          <a:ln/>
        </p:spPr>
        <p:txBody>
          <a:bodyPr wrap="square" lIns="0" tIns="0" rIns="0" bIns="0" rtlCol="0" anchor="ctr"/>
          <a:lstStyle/>
          <a:p>
            <a:pPr marL="0" indent="0">
              <a:buNone/>
            </a:pPr>
            <a:r>
              <a:rPr lang="en-US" sz="1100" b="1" dirty="0">
                <a:solidFill>
                  <a:srgbClr val="B8860B"/>
                </a:solidFill>
                <a:latin typeface="Georgia" pitchFamily="34" charset="0"/>
                <a:ea typeface="Georgia" pitchFamily="34" charset="-122"/>
                <a:cs typeface="Georgia" pitchFamily="34" charset="-120"/>
              </a:rPr>
              <a:t>Equipo (10%)</a:t>
            </a:r>
            <a:endParaRPr lang="en-US" sz="1100" dirty="0"/>
          </a:p>
        </p:txBody>
      </p:sp>
      <p:sp>
        <p:nvSpPr>
          <p:cNvPr id="19" name="Text 16"/>
          <p:cNvSpPr/>
          <p:nvPr/>
        </p:nvSpPr>
        <p:spPr>
          <a:xfrm>
            <a:off x="4846320" y="3886200"/>
            <a:ext cx="3474720" cy="182880"/>
          </a:xfrm>
          <a:prstGeom prst="rect">
            <a:avLst/>
          </a:prstGeom>
          <a:noFill/>
          <a:ln/>
        </p:spPr>
        <p:txBody>
          <a:bodyPr wrap="square" lIns="0" tIns="0" rIns="0" bIns="0" rtlCol="0" anchor="ctr"/>
          <a:lstStyle/>
          <a:p>
            <a:pPr marL="0" indent="0">
              <a:buNone/>
            </a:pPr>
            <a:r>
              <a:rPr lang="en-US" sz="900" dirty="0">
                <a:solidFill>
                  <a:srgbClr val="2D2D3A"/>
                </a:solidFill>
                <a:latin typeface="Consolas" pitchFamily="34" charset="0"/>
                <a:ea typeface="Consolas" pitchFamily="34" charset="-122"/>
                <a:cs typeface="Consolas" pitchFamily="34" charset="-120"/>
              </a:rPr>
              <a:t>skillPts / max_skillPts</a:t>
            </a:r>
            <a:endParaRPr lang="en-US" sz="900" dirty="0"/>
          </a:p>
        </p:txBody>
      </p:sp>
      <p:sp>
        <p:nvSpPr>
          <p:cNvPr id="20" name="Text 17"/>
          <p:cNvSpPr/>
          <p:nvPr/>
        </p:nvSpPr>
        <p:spPr>
          <a:xfrm>
            <a:off x="4846320" y="4096512"/>
            <a:ext cx="3474720" cy="274320"/>
          </a:xfrm>
          <a:prstGeom prst="rect">
            <a:avLst/>
          </a:prstGeom>
          <a:noFill/>
          <a:ln/>
        </p:spPr>
        <p:txBody>
          <a:bodyPr wrap="square" lIns="0" tIns="0" rIns="0" bIns="0" rtlCol="0" anchor="ctr"/>
          <a:lstStyle/>
          <a:p>
            <a:pPr marL="0" indent="0">
              <a:buNone/>
            </a:pPr>
            <a:r>
              <a:rPr lang="en-US" sz="900" dirty="0">
                <a:solidFill>
                  <a:srgbClr val="7A7A8A"/>
                </a:solidFill>
                <a:latin typeface="Georgia" pitchFamily="34" charset="0"/>
                <a:ea typeface="Georgia" pitchFamily="34" charset="-122"/>
                <a:cs typeface="Georgia" pitchFamily="34" charset="-120"/>
              </a:rPr>
              <a:t>Puntos colectivos. Normalizado contra el mejor del evento.</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731520" y="411480"/>
            <a:ext cx="7680960" cy="594360"/>
          </a:xfrm>
          <a:prstGeom prst="rect">
            <a:avLst/>
          </a:prstGeom>
          <a:noFill/>
          <a:ln/>
        </p:spPr>
        <p:txBody>
          <a:bodyPr wrap="square" lIns="0" tIns="0" rIns="0" bIns="0" rtlCol="0" anchor="ctr"/>
          <a:lstStyle/>
          <a:p>
            <a:pPr marL="0" indent="0">
              <a:buNone/>
            </a:pPr>
            <a:r>
              <a:rPr lang="en-US" sz="2600" dirty="0">
                <a:solidFill>
                  <a:srgbClr val="DDDDDD"/>
                </a:solidFill>
                <a:latin typeface="Georgia" pitchFamily="34" charset="0"/>
                <a:ea typeface="Georgia" pitchFamily="34" charset="-122"/>
                <a:cs typeface="Georgia" pitchFamily="34" charset="-120"/>
              </a:rPr>
              <a:t>Evolucion: de calibracion a elite</a:t>
            </a:r>
            <a:endParaRPr lang="en-US" sz="2600" dirty="0"/>
          </a:p>
        </p:txBody>
      </p:sp>
      <p:sp>
        <p:nvSpPr>
          <p:cNvPr id="3" name="Shape 1"/>
          <p:cNvSpPr/>
          <p:nvPr/>
        </p:nvSpPr>
        <p:spPr>
          <a:xfrm>
            <a:off x="731520" y="1051560"/>
            <a:ext cx="914400" cy="18288"/>
          </a:xfrm>
          <a:prstGeom prst="rect">
            <a:avLst/>
          </a:prstGeom>
          <a:solidFill>
            <a:srgbClr val="B8860B"/>
          </a:solidFill>
          <a:ln/>
        </p:spPr>
        <p:txBody>
          <a:bodyPr/>
          <a:lstStyle/>
          <a:p>
            <a:endParaRPr lang="es-MX"/>
          </a:p>
        </p:txBody>
      </p:sp>
      <p:sp>
        <p:nvSpPr>
          <p:cNvPr id="4" name="Text 2"/>
          <p:cNvSpPr/>
          <p:nvPr/>
        </p:nvSpPr>
        <p:spPr>
          <a:xfrm>
            <a:off x="731520" y="1188720"/>
            <a:ext cx="3657600" cy="228600"/>
          </a:xfrm>
          <a:prstGeom prst="rect">
            <a:avLst/>
          </a:prstGeom>
          <a:noFill/>
          <a:ln/>
        </p:spPr>
        <p:txBody>
          <a:bodyPr wrap="square" lIns="0" tIns="0" rIns="0" bIns="0" rtlCol="0" anchor="ctr"/>
          <a:lstStyle/>
          <a:p>
            <a:pPr marL="0" indent="0">
              <a:buNone/>
            </a:pPr>
            <a:r>
              <a:rPr lang="en-US" sz="800" kern="0" spc="300" dirty="0">
                <a:solidFill>
                  <a:srgbClr val="888888"/>
                </a:solidFill>
                <a:latin typeface="Georgia" pitchFamily="34" charset="0"/>
                <a:ea typeface="Georgia" pitchFamily="34" charset="-122"/>
                <a:cs typeface="Georgia" pitchFamily="34" charset="-120"/>
              </a:rPr>
              <a:t>JUGADOR 'ELFENIX' — 15 EVENTOS COMPETITIVOS</a:t>
            </a:r>
            <a:endParaRPr lang="en-US" sz="800" dirty="0"/>
          </a:p>
        </p:txBody>
      </p:sp>
      <p:graphicFrame>
        <p:nvGraphicFramePr>
          <p:cNvPr id="5" name="Chart 0"/>
          <p:cNvGraphicFramePr/>
          <p:nvPr/>
        </p:nvGraphicFramePr>
        <p:xfrm>
          <a:off x="274320" y="1371600"/>
          <a:ext cx="566928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217920" y="1371600"/>
            <a:ext cx="2651760" cy="3200400"/>
          </a:xfrm>
          <a:prstGeom prst="rect">
            <a:avLst/>
          </a:prstGeom>
          <a:solidFill>
            <a:srgbClr val="1E1E38"/>
          </a:solidFill>
          <a:ln/>
        </p:spPr>
        <p:txBody>
          <a:bodyPr/>
          <a:lstStyle/>
          <a:p>
            <a:endParaRPr lang="es-MX"/>
          </a:p>
        </p:txBody>
      </p:sp>
      <p:sp>
        <p:nvSpPr>
          <p:cNvPr id="7" name="Text 4"/>
          <p:cNvSpPr/>
          <p:nvPr/>
        </p:nvSpPr>
        <p:spPr>
          <a:xfrm>
            <a:off x="6355080" y="1508760"/>
            <a:ext cx="457200" cy="228600"/>
          </a:xfrm>
          <a:prstGeom prst="rect">
            <a:avLst/>
          </a:prstGeom>
          <a:noFill/>
          <a:ln/>
        </p:spPr>
        <p:txBody>
          <a:bodyPr wrap="square" lIns="0" tIns="0" rIns="0" bIns="0" rtlCol="0" anchor="ctr"/>
          <a:lstStyle/>
          <a:p>
            <a:pPr marL="0" indent="0">
              <a:buNone/>
            </a:pPr>
            <a:r>
              <a:rPr lang="en-US" sz="1000" b="1" dirty="0">
                <a:solidFill>
                  <a:srgbClr val="777777"/>
                </a:solidFill>
                <a:latin typeface="Consolas" pitchFamily="34" charset="0"/>
                <a:ea typeface="Consolas" pitchFamily="34" charset="-122"/>
                <a:cs typeface="Consolas" pitchFamily="34" charset="-120"/>
              </a:rPr>
              <a:t>E1</a:t>
            </a:r>
            <a:endParaRPr lang="en-US" sz="1000" dirty="0"/>
          </a:p>
        </p:txBody>
      </p:sp>
      <p:sp>
        <p:nvSpPr>
          <p:cNvPr id="8" name="Text 5"/>
          <p:cNvSpPr/>
          <p:nvPr/>
        </p:nvSpPr>
        <p:spPr>
          <a:xfrm>
            <a:off x="6858000" y="1508760"/>
            <a:ext cx="1828800" cy="228600"/>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Inicio</a:t>
            </a:r>
            <a:endParaRPr lang="en-US" sz="1000" dirty="0"/>
          </a:p>
        </p:txBody>
      </p:sp>
      <p:sp>
        <p:nvSpPr>
          <p:cNvPr id="9" name="Text 6"/>
          <p:cNvSpPr/>
          <p:nvPr/>
        </p:nvSpPr>
        <p:spPr>
          <a:xfrm>
            <a:off x="6858000" y="1737360"/>
            <a:ext cx="1828800" cy="182880"/>
          </a:xfrm>
          <a:prstGeom prst="rect">
            <a:avLst/>
          </a:prstGeom>
          <a:noFill/>
          <a:ln/>
        </p:spPr>
        <p:txBody>
          <a:bodyPr wrap="square" lIns="0" tIns="0" rIns="0" bIns="0" rtlCol="0" anchor="ctr"/>
          <a:lstStyle/>
          <a:p>
            <a:pPr marL="0" indent="0">
              <a:buNone/>
            </a:pPr>
            <a:r>
              <a:rPr lang="en-US" sz="800" dirty="0">
                <a:solidFill>
                  <a:srgbClr val="888888"/>
                </a:solidFill>
                <a:latin typeface="Georgia" pitchFamily="34" charset="0"/>
                <a:ea typeface="Georgia" pitchFamily="34" charset="-122"/>
                <a:cs typeface="Georgia" pitchFamily="34" charset="-120"/>
              </a:rPr>
              <a:t>PSR 0.01 — Alta incertidumbre</a:t>
            </a:r>
            <a:endParaRPr lang="en-US" sz="800" dirty="0"/>
          </a:p>
        </p:txBody>
      </p:sp>
      <p:sp>
        <p:nvSpPr>
          <p:cNvPr id="10" name="Text 7"/>
          <p:cNvSpPr/>
          <p:nvPr/>
        </p:nvSpPr>
        <p:spPr>
          <a:xfrm>
            <a:off x="6355080" y="2103120"/>
            <a:ext cx="457200" cy="228600"/>
          </a:xfrm>
          <a:prstGeom prst="rect">
            <a:avLst/>
          </a:prstGeom>
          <a:noFill/>
          <a:ln/>
        </p:spPr>
        <p:txBody>
          <a:bodyPr wrap="square" lIns="0" tIns="0" rIns="0" bIns="0" rtlCol="0" anchor="ctr"/>
          <a:lstStyle/>
          <a:p>
            <a:pPr marL="0" indent="0">
              <a:buNone/>
            </a:pPr>
            <a:r>
              <a:rPr lang="en-US" sz="1000" b="1" dirty="0">
                <a:solidFill>
                  <a:srgbClr val="2D6B6B"/>
                </a:solidFill>
                <a:latin typeface="Consolas" pitchFamily="34" charset="0"/>
                <a:ea typeface="Consolas" pitchFamily="34" charset="-122"/>
                <a:cs typeface="Consolas" pitchFamily="34" charset="-120"/>
              </a:rPr>
              <a:t>E4</a:t>
            </a:r>
            <a:endParaRPr lang="en-US" sz="1000" dirty="0"/>
          </a:p>
        </p:txBody>
      </p:sp>
      <p:sp>
        <p:nvSpPr>
          <p:cNvPr id="11" name="Text 8"/>
          <p:cNvSpPr/>
          <p:nvPr/>
        </p:nvSpPr>
        <p:spPr>
          <a:xfrm>
            <a:off x="6858000" y="2103120"/>
            <a:ext cx="1828800" cy="228600"/>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Elegible</a:t>
            </a:r>
            <a:endParaRPr lang="en-US" sz="1000" dirty="0"/>
          </a:p>
        </p:txBody>
      </p:sp>
      <p:sp>
        <p:nvSpPr>
          <p:cNvPr id="12" name="Text 9"/>
          <p:cNvSpPr/>
          <p:nvPr/>
        </p:nvSpPr>
        <p:spPr>
          <a:xfrm>
            <a:off x="6858000" y="2331720"/>
            <a:ext cx="1828800" cy="182880"/>
          </a:xfrm>
          <a:prstGeom prst="rect">
            <a:avLst/>
          </a:prstGeom>
          <a:noFill/>
          <a:ln/>
        </p:spPr>
        <p:txBody>
          <a:bodyPr wrap="square" lIns="0" tIns="0" rIns="0" bIns="0" rtlCol="0" anchor="ctr"/>
          <a:lstStyle/>
          <a:p>
            <a:pPr marL="0" indent="0">
              <a:buNone/>
            </a:pPr>
            <a:r>
              <a:rPr lang="en-US" sz="800" dirty="0">
                <a:solidFill>
                  <a:srgbClr val="888888"/>
                </a:solidFill>
                <a:latin typeface="Georgia" pitchFamily="34" charset="0"/>
                <a:ea typeface="Georgia" pitchFamily="34" charset="-122"/>
                <a:cs typeface="Georgia" pitchFamily="34" charset="-120"/>
              </a:rPr>
              <a:t>PSR 8.7 — 4 partidas minimas</a:t>
            </a:r>
            <a:endParaRPr lang="en-US" sz="800" dirty="0"/>
          </a:p>
        </p:txBody>
      </p:sp>
      <p:sp>
        <p:nvSpPr>
          <p:cNvPr id="13" name="Text 10"/>
          <p:cNvSpPr/>
          <p:nvPr/>
        </p:nvSpPr>
        <p:spPr>
          <a:xfrm>
            <a:off x="6355080" y="2697480"/>
            <a:ext cx="457200" cy="228600"/>
          </a:xfrm>
          <a:prstGeom prst="rect">
            <a:avLst/>
          </a:prstGeom>
          <a:noFill/>
          <a:ln/>
        </p:spPr>
        <p:txBody>
          <a:bodyPr wrap="square" lIns="0" tIns="0" rIns="0" bIns="0" rtlCol="0" anchor="ctr"/>
          <a:lstStyle/>
          <a:p>
            <a:pPr marL="0" indent="0">
              <a:buNone/>
            </a:pPr>
            <a:r>
              <a:rPr lang="en-US" sz="1000" b="1" dirty="0">
                <a:solidFill>
                  <a:srgbClr val="C4956A"/>
                </a:solidFill>
                <a:latin typeface="Consolas" pitchFamily="34" charset="0"/>
                <a:ea typeface="Consolas" pitchFamily="34" charset="-122"/>
                <a:cs typeface="Consolas" pitchFamily="34" charset="-120"/>
              </a:rPr>
              <a:t>E8</a:t>
            </a:r>
            <a:endParaRPr lang="en-US" sz="1000" dirty="0"/>
          </a:p>
        </p:txBody>
      </p:sp>
      <p:sp>
        <p:nvSpPr>
          <p:cNvPr id="14" name="Text 11"/>
          <p:cNvSpPr/>
          <p:nvPr/>
        </p:nvSpPr>
        <p:spPr>
          <a:xfrm>
            <a:off x="6858000" y="2697480"/>
            <a:ext cx="1828800" cy="228600"/>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Amateur</a:t>
            </a:r>
            <a:endParaRPr lang="en-US" sz="1000" dirty="0"/>
          </a:p>
        </p:txBody>
      </p:sp>
      <p:sp>
        <p:nvSpPr>
          <p:cNvPr id="15" name="Text 12"/>
          <p:cNvSpPr/>
          <p:nvPr/>
        </p:nvSpPr>
        <p:spPr>
          <a:xfrm>
            <a:off x="6858000" y="2926080"/>
            <a:ext cx="1828800" cy="182880"/>
          </a:xfrm>
          <a:prstGeom prst="rect">
            <a:avLst/>
          </a:prstGeom>
          <a:noFill/>
          <a:ln/>
        </p:spPr>
        <p:txBody>
          <a:bodyPr wrap="square" lIns="0" tIns="0" rIns="0" bIns="0" rtlCol="0" anchor="ctr"/>
          <a:lstStyle/>
          <a:p>
            <a:pPr marL="0" indent="0">
              <a:buNone/>
            </a:pPr>
            <a:r>
              <a:rPr lang="en-US" sz="800" dirty="0">
                <a:solidFill>
                  <a:srgbClr val="888888"/>
                </a:solidFill>
                <a:latin typeface="Georgia" pitchFamily="34" charset="0"/>
                <a:ea typeface="Georgia" pitchFamily="34" charset="-122"/>
                <a:cs typeface="Georgia" pitchFamily="34" charset="-120"/>
              </a:rPr>
              <a:t>PSR 18.6 — Sigma bajando</a:t>
            </a:r>
            <a:endParaRPr lang="en-US" sz="800" dirty="0"/>
          </a:p>
        </p:txBody>
      </p:sp>
      <p:sp>
        <p:nvSpPr>
          <p:cNvPr id="16" name="Text 13"/>
          <p:cNvSpPr/>
          <p:nvPr/>
        </p:nvSpPr>
        <p:spPr>
          <a:xfrm>
            <a:off x="6355080" y="3291840"/>
            <a:ext cx="457200" cy="228600"/>
          </a:xfrm>
          <a:prstGeom prst="rect">
            <a:avLst/>
          </a:prstGeom>
          <a:noFill/>
          <a:ln/>
        </p:spPr>
        <p:txBody>
          <a:bodyPr wrap="square" lIns="0" tIns="0" rIns="0" bIns="0" rtlCol="0" anchor="ctr"/>
          <a:lstStyle/>
          <a:p>
            <a:pPr marL="0" indent="0">
              <a:buNone/>
            </a:pPr>
            <a:r>
              <a:rPr lang="en-US" sz="1000" b="1" dirty="0">
                <a:solidFill>
                  <a:srgbClr val="B8860B"/>
                </a:solidFill>
                <a:latin typeface="Consolas" pitchFamily="34" charset="0"/>
                <a:ea typeface="Consolas" pitchFamily="34" charset="-122"/>
                <a:cs typeface="Consolas" pitchFamily="34" charset="-120"/>
              </a:rPr>
              <a:t>E12</a:t>
            </a:r>
            <a:endParaRPr lang="en-US" sz="1000" dirty="0"/>
          </a:p>
        </p:txBody>
      </p:sp>
      <p:sp>
        <p:nvSpPr>
          <p:cNvPr id="17" name="Text 14"/>
          <p:cNvSpPr/>
          <p:nvPr/>
        </p:nvSpPr>
        <p:spPr>
          <a:xfrm>
            <a:off x="6858000" y="3291840"/>
            <a:ext cx="1828800" cy="228600"/>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PRO</a:t>
            </a:r>
            <a:endParaRPr lang="en-US" sz="1000" dirty="0"/>
          </a:p>
        </p:txBody>
      </p:sp>
      <p:sp>
        <p:nvSpPr>
          <p:cNvPr id="18" name="Text 15"/>
          <p:cNvSpPr/>
          <p:nvPr/>
        </p:nvSpPr>
        <p:spPr>
          <a:xfrm>
            <a:off x="6858000" y="3520440"/>
            <a:ext cx="1828800" cy="182880"/>
          </a:xfrm>
          <a:prstGeom prst="rect">
            <a:avLst/>
          </a:prstGeom>
          <a:noFill/>
          <a:ln/>
        </p:spPr>
        <p:txBody>
          <a:bodyPr wrap="square" lIns="0" tIns="0" rIns="0" bIns="0" rtlCol="0" anchor="ctr"/>
          <a:lstStyle/>
          <a:p>
            <a:pPr marL="0" indent="0">
              <a:buNone/>
            </a:pPr>
            <a:r>
              <a:rPr lang="en-US" sz="800" dirty="0">
                <a:solidFill>
                  <a:srgbClr val="888888"/>
                </a:solidFill>
                <a:latin typeface="Georgia" pitchFamily="34" charset="0"/>
                <a:ea typeface="Georgia" pitchFamily="34" charset="-122"/>
                <a:cs typeface="Georgia" pitchFamily="34" charset="-120"/>
              </a:rPr>
              <a:t>PSR 25.0 — Consistente</a:t>
            </a:r>
            <a:endParaRPr lang="en-US" sz="800" dirty="0"/>
          </a:p>
        </p:txBody>
      </p:sp>
      <p:sp>
        <p:nvSpPr>
          <p:cNvPr id="19" name="Text 16"/>
          <p:cNvSpPr/>
          <p:nvPr/>
        </p:nvSpPr>
        <p:spPr>
          <a:xfrm>
            <a:off x="6355080" y="3886200"/>
            <a:ext cx="457200" cy="228600"/>
          </a:xfrm>
          <a:prstGeom prst="rect">
            <a:avLst/>
          </a:prstGeom>
          <a:noFill/>
          <a:ln/>
        </p:spPr>
        <p:txBody>
          <a:bodyPr wrap="square" lIns="0" tIns="0" rIns="0" bIns="0" rtlCol="0" anchor="ctr"/>
          <a:lstStyle/>
          <a:p>
            <a:pPr marL="0" indent="0">
              <a:buNone/>
            </a:pPr>
            <a:r>
              <a:rPr lang="en-US" sz="1000" b="1" dirty="0">
                <a:solidFill>
                  <a:srgbClr val="B8860B"/>
                </a:solidFill>
                <a:latin typeface="Consolas" pitchFamily="34" charset="0"/>
                <a:ea typeface="Consolas" pitchFamily="34" charset="-122"/>
                <a:cs typeface="Consolas" pitchFamily="34" charset="-120"/>
              </a:rPr>
              <a:t>E15</a:t>
            </a:r>
            <a:endParaRPr lang="en-US" sz="1000" dirty="0"/>
          </a:p>
        </p:txBody>
      </p:sp>
      <p:sp>
        <p:nvSpPr>
          <p:cNvPr id="20" name="Text 17"/>
          <p:cNvSpPr/>
          <p:nvPr/>
        </p:nvSpPr>
        <p:spPr>
          <a:xfrm>
            <a:off x="6858000" y="3886200"/>
            <a:ext cx="1828800" cy="228600"/>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Elite</a:t>
            </a:r>
            <a:endParaRPr lang="en-US" sz="1000" dirty="0"/>
          </a:p>
        </p:txBody>
      </p:sp>
      <p:sp>
        <p:nvSpPr>
          <p:cNvPr id="21" name="Text 18"/>
          <p:cNvSpPr/>
          <p:nvPr/>
        </p:nvSpPr>
        <p:spPr>
          <a:xfrm>
            <a:off x="6858000" y="4114800"/>
            <a:ext cx="1828800" cy="182880"/>
          </a:xfrm>
          <a:prstGeom prst="rect">
            <a:avLst/>
          </a:prstGeom>
          <a:noFill/>
          <a:ln/>
        </p:spPr>
        <p:txBody>
          <a:bodyPr wrap="square" lIns="0" tIns="0" rIns="0" bIns="0" rtlCol="0" anchor="ctr"/>
          <a:lstStyle/>
          <a:p>
            <a:pPr marL="0" indent="0">
              <a:buNone/>
            </a:pPr>
            <a:r>
              <a:rPr lang="en-US" sz="800" dirty="0">
                <a:solidFill>
                  <a:srgbClr val="888888"/>
                </a:solidFill>
                <a:latin typeface="Georgia" pitchFamily="34" charset="0"/>
                <a:ea typeface="Georgia" pitchFamily="34" charset="-122"/>
                <a:cs typeface="Georgia" pitchFamily="34" charset="-120"/>
              </a:rPr>
              <a:t>PSR 28.3 — Sigma 2.4</a:t>
            </a:r>
            <a:endParaRPr lang="en-US" sz="800" dirty="0"/>
          </a:p>
        </p:txBody>
      </p:sp>
      <p:sp>
        <p:nvSpPr>
          <p:cNvPr id="22" name="Shape 19"/>
          <p:cNvSpPr/>
          <p:nvPr/>
        </p:nvSpPr>
        <p:spPr>
          <a:xfrm>
            <a:off x="0" y="4800600"/>
            <a:ext cx="9144000" cy="342900"/>
          </a:xfrm>
          <a:prstGeom prst="rect">
            <a:avLst/>
          </a:prstGeom>
          <a:solidFill>
            <a:srgbClr val="1A1A2E"/>
          </a:solidFill>
          <a:ln/>
        </p:spPr>
        <p:txBody>
          <a:bodyPr/>
          <a:lstStyle/>
          <a:p>
            <a:endParaRPr lang="es-MX"/>
          </a:p>
        </p:txBody>
      </p:sp>
      <p:sp>
        <p:nvSpPr>
          <p:cNvPr id="23" name="Text 20"/>
          <p:cNvSpPr/>
          <p:nvPr/>
        </p:nvSpPr>
        <p:spPr>
          <a:xfrm>
            <a:off x="0" y="4869180"/>
            <a:ext cx="8046720" cy="274320"/>
          </a:xfrm>
          <a:prstGeom prst="rect">
            <a:avLst/>
          </a:prstGeom>
          <a:noFill/>
          <a:ln/>
        </p:spPr>
        <p:txBody>
          <a:bodyPr wrap="square" rtlCol="0" anchor="ctr"/>
          <a:lstStyle/>
          <a:p>
            <a:pPr marL="0" indent="0">
              <a:buNone/>
            </a:pPr>
            <a:r>
              <a:rPr lang="en-US" sz="700" i="1" dirty="0">
                <a:solidFill>
                  <a:srgbClr val="AAAAAA"/>
                </a:solidFill>
                <a:latin typeface="Georgia" pitchFamily="34" charset="0"/>
                <a:ea typeface="Georgia" pitchFamily="34" charset="-122"/>
                <a:cs typeface="Georgia" pitchFamily="34" charset="-120"/>
              </a:rPr>
              <a:t>Datos </a:t>
            </a:r>
            <a:r>
              <a:rPr lang="en-US" sz="700" i="1" dirty="0" err="1">
                <a:solidFill>
                  <a:srgbClr val="AAAAAA"/>
                </a:solidFill>
                <a:latin typeface="Georgia" pitchFamily="34" charset="0"/>
                <a:ea typeface="Georgia" pitchFamily="34" charset="-122"/>
                <a:cs typeface="Georgia" pitchFamily="34" charset="-120"/>
              </a:rPr>
              <a:t>pedagogicos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731520" y="411480"/>
            <a:ext cx="7680960" cy="594360"/>
          </a:xfrm>
          <a:prstGeom prst="rect">
            <a:avLst/>
          </a:prstGeom>
          <a:noFill/>
          <a:ln/>
        </p:spPr>
        <p:txBody>
          <a:bodyPr wrap="square" lIns="0" tIns="0" rIns="0" bIns="0" rtlCol="0" anchor="ctr"/>
          <a:lstStyle/>
          <a:p>
            <a:pPr marL="0" indent="0">
              <a:buNone/>
            </a:pPr>
            <a:r>
              <a:rPr lang="en-US" sz="2600" dirty="0">
                <a:solidFill>
                  <a:srgbClr val="2D2D3A"/>
                </a:solidFill>
                <a:latin typeface="Georgia" pitchFamily="34" charset="0"/>
                <a:ea typeface="Georgia" pitchFamily="34" charset="-122"/>
                <a:cs typeface="Georgia" pitchFamily="34" charset="-120"/>
              </a:rPr>
              <a:t>Dos estilos, un ranking justo</a:t>
            </a:r>
            <a:endParaRPr lang="en-US" sz="2600" dirty="0"/>
          </a:p>
        </p:txBody>
      </p:sp>
      <p:sp>
        <p:nvSpPr>
          <p:cNvPr id="3" name="Shape 1"/>
          <p:cNvSpPr/>
          <p:nvPr/>
        </p:nvSpPr>
        <p:spPr>
          <a:xfrm>
            <a:off x="731520" y="1051560"/>
            <a:ext cx="914400" cy="18288"/>
          </a:xfrm>
          <a:prstGeom prst="rect">
            <a:avLst/>
          </a:prstGeom>
          <a:solidFill>
            <a:srgbClr val="C4956A"/>
          </a:solidFill>
          <a:ln/>
        </p:spPr>
        <p:txBody>
          <a:bodyPr/>
          <a:lstStyle/>
          <a:p>
            <a:endParaRPr lang="es-MX"/>
          </a:p>
        </p:txBody>
      </p:sp>
      <p:sp>
        <p:nvSpPr>
          <p:cNvPr id="4" name="Text 2"/>
          <p:cNvSpPr/>
          <p:nvPr/>
        </p:nvSpPr>
        <p:spPr>
          <a:xfrm>
            <a:off x="731520" y="1188720"/>
            <a:ext cx="4378960" cy="205740"/>
          </a:xfrm>
          <a:prstGeom prst="rect">
            <a:avLst/>
          </a:prstGeom>
          <a:noFill/>
          <a:ln/>
        </p:spPr>
        <p:txBody>
          <a:bodyPr wrap="square" lIns="0" tIns="0" rIns="0" bIns="0" rtlCol="0" anchor="ctr"/>
          <a:lstStyle/>
          <a:p>
            <a:pPr marL="0" indent="0">
              <a:buNone/>
            </a:pPr>
            <a:r>
              <a:rPr lang="en-US" sz="800" kern="0" spc="300" dirty="0">
                <a:solidFill>
                  <a:srgbClr val="7A7A8A"/>
                </a:solidFill>
                <a:latin typeface="Georgia" pitchFamily="34" charset="0"/>
                <a:ea typeface="Georgia" pitchFamily="34" charset="-122"/>
                <a:cs typeface="Georgia" pitchFamily="34" charset="-120"/>
              </a:rPr>
              <a:t>FRAGGER VS ANCHOR — 8 EVENTOS CADA UNO</a:t>
            </a:r>
            <a:endParaRPr lang="en-US" sz="800" dirty="0"/>
          </a:p>
        </p:txBody>
      </p:sp>
      <p:graphicFrame>
        <p:nvGraphicFramePr>
          <p:cNvPr id="5" name="Chart 0"/>
          <p:cNvGraphicFramePr/>
          <p:nvPr/>
        </p:nvGraphicFramePr>
        <p:xfrm>
          <a:off x="274320" y="1417320"/>
          <a:ext cx="4114800" cy="2103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4754880" y="1417320"/>
          <a:ext cx="4114800" cy="210312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731520" y="3749040"/>
            <a:ext cx="3657600" cy="91440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8" name="Shape 4"/>
          <p:cNvSpPr/>
          <p:nvPr/>
        </p:nvSpPr>
        <p:spPr>
          <a:xfrm>
            <a:off x="731520" y="3749040"/>
            <a:ext cx="32004" cy="914400"/>
          </a:xfrm>
          <a:prstGeom prst="rect">
            <a:avLst/>
          </a:prstGeom>
          <a:solidFill>
            <a:srgbClr val="6B2D5B"/>
          </a:solidFill>
          <a:ln/>
        </p:spPr>
        <p:txBody>
          <a:bodyPr/>
          <a:lstStyle/>
          <a:p>
            <a:endParaRPr lang="es-MX"/>
          </a:p>
        </p:txBody>
      </p:sp>
      <p:sp>
        <p:nvSpPr>
          <p:cNvPr id="9" name="Text 5"/>
          <p:cNvSpPr/>
          <p:nvPr/>
        </p:nvSpPr>
        <p:spPr>
          <a:xfrm>
            <a:off x="914400" y="3840480"/>
            <a:ext cx="3291840" cy="228600"/>
          </a:xfrm>
          <a:prstGeom prst="rect">
            <a:avLst/>
          </a:prstGeom>
          <a:noFill/>
          <a:ln/>
        </p:spPr>
        <p:txBody>
          <a:bodyPr wrap="square" lIns="0" tIns="0" rIns="0" bIns="0" rtlCol="0" anchor="ctr"/>
          <a:lstStyle/>
          <a:p>
            <a:pPr marL="0" indent="0">
              <a:buNone/>
            </a:pPr>
            <a:r>
              <a:rPr lang="en-US" sz="1200" b="1" dirty="0">
                <a:solidFill>
                  <a:srgbClr val="6B2D5B"/>
                </a:solidFill>
                <a:latin typeface="Georgia" pitchFamily="34" charset="0"/>
                <a:ea typeface="Georgia" pitchFamily="34" charset="-122"/>
                <a:cs typeface="Georgia" pitchFamily="34" charset="-120"/>
              </a:rPr>
              <a:t>xDarkSniper</a:t>
            </a:r>
            <a:endParaRPr lang="en-US" sz="1200" dirty="0"/>
          </a:p>
        </p:txBody>
      </p:sp>
      <p:sp>
        <p:nvSpPr>
          <p:cNvPr id="10" name="Text 6"/>
          <p:cNvSpPr/>
          <p:nvPr/>
        </p:nvSpPr>
        <p:spPr>
          <a:xfrm>
            <a:off x="914400" y="4096512"/>
            <a:ext cx="3291840" cy="182880"/>
          </a:xfrm>
          <a:prstGeom prst="rect">
            <a:avLst/>
          </a:prstGeom>
          <a:noFill/>
          <a:ln/>
        </p:spPr>
        <p:txBody>
          <a:bodyPr wrap="square" lIns="0" tIns="0" rIns="0" bIns="0" rtlCol="0" anchor="ctr"/>
          <a:lstStyle/>
          <a:p>
            <a:pPr marL="0" indent="0">
              <a:buNone/>
            </a:pPr>
            <a:r>
              <a:rPr lang="en-US" sz="1000" dirty="0">
                <a:solidFill>
                  <a:srgbClr val="2D2D3A"/>
                </a:solidFill>
                <a:latin typeface="Consolas" pitchFamily="34" charset="0"/>
                <a:ea typeface="Consolas" pitchFamily="34" charset="-122"/>
                <a:cs typeface="Consolas" pitchFamily="34" charset="-120"/>
              </a:rPr>
              <a:t>mu 29.5  ·  sigma 5.1  ·  PSR 14.2</a:t>
            </a:r>
            <a:endParaRPr lang="en-US" sz="1000" dirty="0"/>
          </a:p>
        </p:txBody>
      </p:sp>
      <p:sp>
        <p:nvSpPr>
          <p:cNvPr id="11" name="Text 7"/>
          <p:cNvSpPr/>
          <p:nvPr/>
        </p:nvSpPr>
        <p:spPr>
          <a:xfrm>
            <a:off x="914400" y="4315968"/>
            <a:ext cx="3291840" cy="182880"/>
          </a:xfrm>
          <a:prstGeom prst="rect">
            <a:avLst/>
          </a:prstGeom>
          <a:noFill/>
          <a:ln/>
        </p:spPr>
        <p:txBody>
          <a:bodyPr wrap="square" lIns="0" tIns="0" rIns="0" bIns="0" rtlCol="0" anchor="ctr"/>
          <a:lstStyle/>
          <a:p>
            <a:pPr marL="0" indent="0">
              <a:buNone/>
            </a:pPr>
            <a:r>
              <a:rPr lang="en-US" sz="900" i="1" dirty="0">
                <a:solidFill>
                  <a:srgbClr val="7A7A8A"/>
                </a:solidFill>
                <a:latin typeface="Georgia" pitchFamily="34" charset="0"/>
                <a:ea typeface="Georgia" pitchFamily="34" charset="-122"/>
                <a:cs typeface="Georgia" pitchFamily="34" charset="-120"/>
              </a:rPr>
              <a:t>Alta varianza mantiene sigma elevada</a:t>
            </a:r>
            <a:endParaRPr lang="en-US" sz="900" dirty="0"/>
          </a:p>
        </p:txBody>
      </p:sp>
      <p:sp>
        <p:nvSpPr>
          <p:cNvPr id="12" name="Shape 8"/>
          <p:cNvSpPr/>
          <p:nvPr/>
        </p:nvSpPr>
        <p:spPr>
          <a:xfrm>
            <a:off x="4754880" y="3749040"/>
            <a:ext cx="3657600" cy="91440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13" name="Shape 9"/>
          <p:cNvSpPr/>
          <p:nvPr/>
        </p:nvSpPr>
        <p:spPr>
          <a:xfrm>
            <a:off x="4754880" y="3749040"/>
            <a:ext cx="32004" cy="914400"/>
          </a:xfrm>
          <a:prstGeom prst="rect">
            <a:avLst/>
          </a:prstGeom>
          <a:solidFill>
            <a:srgbClr val="2D6B6B"/>
          </a:solidFill>
          <a:ln/>
        </p:spPr>
        <p:txBody>
          <a:bodyPr/>
          <a:lstStyle/>
          <a:p>
            <a:endParaRPr lang="es-MX"/>
          </a:p>
        </p:txBody>
      </p:sp>
      <p:sp>
        <p:nvSpPr>
          <p:cNvPr id="14" name="Text 10"/>
          <p:cNvSpPr/>
          <p:nvPr/>
        </p:nvSpPr>
        <p:spPr>
          <a:xfrm>
            <a:off x="4937760" y="3840480"/>
            <a:ext cx="3291840" cy="228600"/>
          </a:xfrm>
          <a:prstGeom prst="rect">
            <a:avLst/>
          </a:prstGeom>
          <a:noFill/>
          <a:ln/>
        </p:spPr>
        <p:txBody>
          <a:bodyPr wrap="square" lIns="0" tIns="0" rIns="0" bIns="0" rtlCol="0" anchor="ctr"/>
          <a:lstStyle/>
          <a:p>
            <a:pPr marL="0" indent="0">
              <a:buNone/>
            </a:pPr>
            <a:r>
              <a:rPr lang="en-US" sz="1200" b="1" dirty="0">
                <a:solidFill>
                  <a:srgbClr val="2D6B6B"/>
                </a:solidFill>
                <a:latin typeface="Georgia" pitchFamily="34" charset="0"/>
                <a:ea typeface="Georgia" pitchFamily="34" charset="-122"/>
                <a:cs typeface="Georgia" pitchFamily="34" charset="-120"/>
              </a:rPr>
              <a:t>SteadyHand</a:t>
            </a:r>
            <a:endParaRPr lang="en-US" sz="1200" dirty="0"/>
          </a:p>
        </p:txBody>
      </p:sp>
      <p:sp>
        <p:nvSpPr>
          <p:cNvPr id="15" name="Text 11"/>
          <p:cNvSpPr/>
          <p:nvPr/>
        </p:nvSpPr>
        <p:spPr>
          <a:xfrm>
            <a:off x="4937760" y="4096512"/>
            <a:ext cx="3291840" cy="182880"/>
          </a:xfrm>
          <a:prstGeom prst="rect">
            <a:avLst/>
          </a:prstGeom>
          <a:noFill/>
          <a:ln/>
        </p:spPr>
        <p:txBody>
          <a:bodyPr wrap="square" lIns="0" tIns="0" rIns="0" bIns="0" rtlCol="0" anchor="ctr"/>
          <a:lstStyle/>
          <a:p>
            <a:pPr marL="0" indent="0">
              <a:buNone/>
            </a:pPr>
            <a:r>
              <a:rPr lang="en-US" sz="1000" dirty="0">
                <a:solidFill>
                  <a:srgbClr val="2D2D3A"/>
                </a:solidFill>
                <a:latin typeface="Consolas" pitchFamily="34" charset="0"/>
                <a:ea typeface="Consolas" pitchFamily="34" charset="-122"/>
                <a:cs typeface="Consolas" pitchFamily="34" charset="-120"/>
              </a:rPr>
              <a:t>mu 28.0  ·  sigma 3.2  ·  PSR 18.4</a:t>
            </a:r>
            <a:endParaRPr lang="en-US" sz="1000" dirty="0"/>
          </a:p>
        </p:txBody>
      </p:sp>
      <p:sp>
        <p:nvSpPr>
          <p:cNvPr id="16" name="Text 12"/>
          <p:cNvSpPr/>
          <p:nvPr/>
        </p:nvSpPr>
        <p:spPr>
          <a:xfrm>
            <a:off x="4937760" y="4315968"/>
            <a:ext cx="3291840" cy="182880"/>
          </a:xfrm>
          <a:prstGeom prst="rect">
            <a:avLst/>
          </a:prstGeom>
          <a:noFill/>
          <a:ln/>
        </p:spPr>
        <p:txBody>
          <a:bodyPr wrap="square" lIns="0" tIns="0" rIns="0" bIns="0" rtlCol="0" anchor="ctr"/>
          <a:lstStyle/>
          <a:p>
            <a:pPr marL="0" indent="0">
              <a:buNone/>
            </a:pPr>
            <a:r>
              <a:rPr lang="en-US" sz="900" i="1" dirty="0">
                <a:solidFill>
                  <a:srgbClr val="7A7A8A"/>
                </a:solidFill>
                <a:latin typeface="Georgia" pitchFamily="34" charset="0"/>
                <a:ea typeface="Georgia" pitchFamily="34" charset="-122"/>
                <a:cs typeface="Georgia" pitchFamily="34" charset="-120"/>
              </a:rPr>
              <a:t>Consistencia reduce sigma rapidamente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731520" y="411480"/>
            <a:ext cx="7680960" cy="594360"/>
          </a:xfrm>
          <a:prstGeom prst="rect">
            <a:avLst/>
          </a:prstGeom>
          <a:noFill/>
          <a:ln/>
        </p:spPr>
        <p:txBody>
          <a:bodyPr wrap="square" lIns="0" tIns="0" rIns="0" bIns="0" rtlCol="0" anchor="ctr"/>
          <a:lstStyle/>
          <a:p>
            <a:pPr marL="0" indent="0">
              <a:buNone/>
            </a:pPr>
            <a:r>
              <a:rPr lang="en-US" sz="2600" dirty="0">
                <a:solidFill>
                  <a:srgbClr val="DDDDDD"/>
                </a:solidFill>
                <a:latin typeface="Georgia" pitchFamily="34" charset="0"/>
                <a:ea typeface="Georgia" pitchFamily="34" charset="-122"/>
                <a:cs typeface="Georgia" pitchFamily="34" charset="-120"/>
              </a:rPr>
              <a:t>El papel de la incertidumbre</a:t>
            </a:r>
            <a:endParaRPr lang="en-US" sz="2600" dirty="0"/>
          </a:p>
        </p:txBody>
      </p:sp>
      <p:sp>
        <p:nvSpPr>
          <p:cNvPr id="3" name="Shape 1"/>
          <p:cNvSpPr/>
          <p:nvPr/>
        </p:nvSpPr>
        <p:spPr>
          <a:xfrm>
            <a:off x="731520" y="1051560"/>
            <a:ext cx="914400" cy="18288"/>
          </a:xfrm>
          <a:prstGeom prst="rect">
            <a:avLst/>
          </a:prstGeom>
          <a:solidFill>
            <a:srgbClr val="B8860B"/>
          </a:solidFill>
          <a:ln/>
        </p:spPr>
        <p:txBody>
          <a:bodyPr/>
          <a:lstStyle/>
          <a:p>
            <a:endParaRPr lang="es-MX"/>
          </a:p>
        </p:txBody>
      </p:sp>
      <p:sp>
        <p:nvSpPr>
          <p:cNvPr id="4" name="Shape 2"/>
          <p:cNvSpPr/>
          <p:nvPr/>
        </p:nvSpPr>
        <p:spPr>
          <a:xfrm>
            <a:off x="548640" y="1188720"/>
            <a:ext cx="2651760" cy="3200400"/>
          </a:xfrm>
          <a:prstGeom prst="rect">
            <a:avLst/>
          </a:prstGeom>
          <a:solidFill>
            <a:srgbClr val="1E1E38"/>
          </a:solidFill>
          <a:ln/>
        </p:spPr>
        <p:txBody>
          <a:bodyPr/>
          <a:lstStyle/>
          <a:p>
            <a:endParaRPr lang="es-MX"/>
          </a:p>
        </p:txBody>
      </p:sp>
      <p:sp>
        <p:nvSpPr>
          <p:cNvPr id="5" name="Shape 3"/>
          <p:cNvSpPr/>
          <p:nvPr/>
        </p:nvSpPr>
        <p:spPr>
          <a:xfrm>
            <a:off x="548640" y="1188720"/>
            <a:ext cx="2651760" cy="22860"/>
          </a:xfrm>
          <a:prstGeom prst="rect">
            <a:avLst/>
          </a:prstGeom>
          <a:solidFill>
            <a:srgbClr val="777777"/>
          </a:solidFill>
          <a:ln/>
        </p:spPr>
        <p:txBody>
          <a:bodyPr/>
          <a:lstStyle/>
          <a:p>
            <a:endParaRPr lang="es-MX"/>
          </a:p>
        </p:txBody>
      </p:sp>
      <p:sp>
        <p:nvSpPr>
          <p:cNvPr id="6" name="Text 4"/>
          <p:cNvSpPr/>
          <p:nvPr/>
        </p:nvSpPr>
        <p:spPr>
          <a:xfrm>
            <a:off x="548640" y="1325880"/>
            <a:ext cx="2651760" cy="320040"/>
          </a:xfrm>
          <a:prstGeom prst="rect">
            <a:avLst/>
          </a:prstGeom>
          <a:noFill/>
          <a:ln/>
        </p:spPr>
        <p:txBody>
          <a:bodyPr wrap="square" lIns="0" tIns="0" rIns="0" bIns="0" rtlCol="0" anchor="ctr"/>
          <a:lstStyle/>
          <a:p>
            <a:pPr marL="0" indent="0" algn="ctr">
              <a:buNone/>
            </a:pPr>
            <a:r>
              <a:rPr lang="en-US" sz="1600" dirty="0">
                <a:solidFill>
                  <a:srgbClr val="FFFFFF"/>
                </a:solidFill>
                <a:latin typeface="Georgia" pitchFamily="34" charset="0"/>
                <a:ea typeface="Georgia" pitchFamily="34" charset="-122"/>
                <a:cs typeface="Georgia" pitchFamily="34" charset="-120"/>
              </a:rPr>
              <a:t>Nuevo</a:t>
            </a:r>
            <a:endParaRPr lang="en-US" sz="1600" dirty="0"/>
          </a:p>
        </p:txBody>
      </p:sp>
      <p:sp>
        <p:nvSpPr>
          <p:cNvPr id="7" name="Text 5"/>
          <p:cNvSpPr/>
          <p:nvPr/>
        </p:nvSpPr>
        <p:spPr>
          <a:xfrm>
            <a:off x="548640" y="1737360"/>
            <a:ext cx="2651760" cy="548640"/>
          </a:xfrm>
          <a:prstGeom prst="rect">
            <a:avLst/>
          </a:prstGeom>
          <a:noFill/>
          <a:ln/>
        </p:spPr>
        <p:txBody>
          <a:bodyPr wrap="square" lIns="0" tIns="0" rIns="0" bIns="0" rtlCol="0" anchor="ctr"/>
          <a:lstStyle/>
          <a:p>
            <a:pPr marL="0" indent="0" algn="ctr">
              <a:buNone/>
            </a:pPr>
            <a:r>
              <a:rPr lang="en-US" sz="3800" b="1" dirty="0">
                <a:solidFill>
                  <a:srgbClr val="777777"/>
                </a:solidFill>
                <a:latin typeface="Georgia" pitchFamily="34" charset="0"/>
                <a:ea typeface="Georgia" pitchFamily="34" charset="-122"/>
                <a:cs typeface="Georgia" pitchFamily="34" charset="-120"/>
              </a:rPr>
              <a:t>0.0</a:t>
            </a:r>
            <a:endParaRPr lang="en-US" sz="3800" dirty="0"/>
          </a:p>
        </p:txBody>
      </p:sp>
      <p:sp>
        <p:nvSpPr>
          <p:cNvPr id="8" name="Text 6"/>
          <p:cNvSpPr/>
          <p:nvPr/>
        </p:nvSpPr>
        <p:spPr>
          <a:xfrm>
            <a:off x="548640" y="2240280"/>
            <a:ext cx="2651760" cy="182880"/>
          </a:xfrm>
          <a:prstGeom prst="rect">
            <a:avLst/>
          </a:prstGeom>
          <a:noFill/>
          <a:ln/>
        </p:spPr>
        <p:txBody>
          <a:bodyPr wrap="square" lIns="0" tIns="0" rIns="0" bIns="0" rtlCol="0" anchor="ctr"/>
          <a:lstStyle/>
          <a:p>
            <a:pPr marL="0" indent="0" algn="ctr">
              <a:buNone/>
            </a:pPr>
            <a:r>
              <a:rPr lang="en-US" sz="900" dirty="0">
                <a:solidFill>
                  <a:srgbClr val="666666"/>
                </a:solidFill>
                <a:latin typeface="Georgia" pitchFamily="34" charset="0"/>
                <a:ea typeface="Georgia" pitchFamily="34" charset="-122"/>
                <a:cs typeface="Georgia" pitchFamily="34" charset="-120"/>
              </a:rPr>
              <a:t>PSR</a:t>
            </a:r>
            <a:endParaRPr lang="en-US" sz="900" dirty="0"/>
          </a:p>
        </p:txBody>
      </p:sp>
      <p:sp>
        <p:nvSpPr>
          <p:cNvPr id="9" name="Text 7"/>
          <p:cNvSpPr/>
          <p:nvPr/>
        </p:nvSpPr>
        <p:spPr>
          <a:xfrm>
            <a:off x="685800" y="2606040"/>
            <a:ext cx="457200" cy="182880"/>
          </a:xfrm>
          <a:prstGeom prst="rect">
            <a:avLst/>
          </a:prstGeom>
          <a:noFill/>
          <a:ln/>
        </p:spPr>
        <p:txBody>
          <a:bodyPr wrap="square" lIns="0" tIns="0" rIns="0" bIns="0" rtlCol="0" anchor="ctr"/>
          <a:lstStyle/>
          <a:p>
            <a:pPr marL="0" indent="0">
              <a:buNone/>
            </a:pPr>
            <a:r>
              <a:rPr lang="en-US" sz="900" dirty="0">
                <a:solidFill>
                  <a:srgbClr val="2D6B6B"/>
                </a:solidFill>
                <a:latin typeface="Consolas" pitchFamily="34" charset="0"/>
                <a:ea typeface="Consolas" pitchFamily="34" charset="-122"/>
                <a:cs typeface="Consolas" pitchFamily="34" charset="-120"/>
              </a:rPr>
              <a:t>mu</a:t>
            </a:r>
            <a:endParaRPr lang="en-US" sz="900" dirty="0"/>
          </a:p>
        </p:txBody>
      </p:sp>
      <p:sp>
        <p:nvSpPr>
          <p:cNvPr id="10" name="Shape 8"/>
          <p:cNvSpPr/>
          <p:nvPr/>
        </p:nvSpPr>
        <p:spPr>
          <a:xfrm>
            <a:off x="1097280" y="2651760"/>
            <a:ext cx="1085850" cy="91440"/>
          </a:xfrm>
          <a:prstGeom prst="rect">
            <a:avLst/>
          </a:prstGeom>
          <a:solidFill>
            <a:srgbClr val="2D6B6B"/>
          </a:solidFill>
          <a:ln/>
        </p:spPr>
        <p:txBody>
          <a:bodyPr/>
          <a:lstStyle/>
          <a:p>
            <a:endParaRPr lang="es-MX"/>
          </a:p>
        </p:txBody>
      </p:sp>
      <p:sp>
        <p:nvSpPr>
          <p:cNvPr id="11" name="Text 9"/>
          <p:cNvSpPr/>
          <p:nvPr/>
        </p:nvSpPr>
        <p:spPr>
          <a:xfrm>
            <a:off x="2228850" y="2606040"/>
            <a:ext cx="457200" cy="182880"/>
          </a:xfrm>
          <a:prstGeom prst="rect">
            <a:avLst/>
          </a:prstGeom>
          <a:noFill/>
          <a:ln/>
        </p:spPr>
        <p:txBody>
          <a:bodyPr wrap="square" lIns="0" tIns="0" rIns="0" bIns="0" rtlCol="0" anchor="ctr"/>
          <a:lstStyle/>
          <a:p>
            <a:pPr marL="0" indent="0">
              <a:buNone/>
            </a:pPr>
            <a:r>
              <a:rPr lang="en-US" sz="800" dirty="0">
                <a:solidFill>
                  <a:srgbClr val="AAAAAA"/>
                </a:solidFill>
                <a:latin typeface="Consolas" pitchFamily="34" charset="0"/>
                <a:ea typeface="Consolas" pitchFamily="34" charset="-122"/>
                <a:cs typeface="Consolas" pitchFamily="34" charset="-120"/>
              </a:rPr>
              <a:t>25</a:t>
            </a:r>
            <a:endParaRPr lang="en-US" sz="800" dirty="0"/>
          </a:p>
        </p:txBody>
      </p:sp>
      <p:sp>
        <p:nvSpPr>
          <p:cNvPr id="12" name="Text 10"/>
          <p:cNvSpPr/>
          <p:nvPr/>
        </p:nvSpPr>
        <p:spPr>
          <a:xfrm>
            <a:off x="685800" y="2880360"/>
            <a:ext cx="457200" cy="182880"/>
          </a:xfrm>
          <a:prstGeom prst="rect">
            <a:avLst/>
          </a:prstGeom>
          <a:noFill/>
          <a:ln/>
        </p:spPr>
        <p:txBody>
          <a:bodyPr wrap="square" lIns="0" tIns="0" rIns="0" bIns="0" rtlCol="0" anchor="ctr"/>
          <a:lstStyle/>
          <a:p>
            <a:pPr marL="0" indent="0">
              <a:buNone/>
            </a:pPr>
            <a:r>
              <a:rPr lang="en-US" sz="900" dirty="0">
                <a:solidFill>
                  <a:srgbClr val="C4956A"/>
                </a:solidFill>
                <a:latin typeface="Consolas" pitchFamily="34" charset="0"/>
                <a:ea typeface="Consolas" pitchFamily="34" charset="-122"/>
                <a:cs typeface="Consolas" pitchFamily="34" charset="-120"/>
              </a:rPr>
              <a:t>sigma</a:t>
            </a:r>
            <a:endParaRPr lang="en-US" sz="900" dirty="0"/>
          </a:p>
        </p:txBody>
      </p:sp>
      <p:sp>
        <p:nvSpPr>
          <p:cNvPr id="13" name="Shape 11"/>
          <p:cNvSpPr/>
          <p:nvPr/>
        </p:nvSpPr>
        <p:spPr>
          <a:xfrm>
            <a:off x="1280160" y="2926080"/>
            <a:ext cx="1294882" cy="91440"/>
          </a:xfrm>
          <a:prstGeom prst="rect">
            <a:avLst/>
          </a:prstGeom>
          <a:solidFill>
            <a:srgbClr val="C4956A"/>
          </a:solidFill>
          <a:ln/>
        </p:spPr>
        <p:txBody>
          <a:bodyPr/>
          <a:lstStyle/>
          <a:p>
            <a:endParaRPr lang="es-MX"/>
          </a:p>
        </p:txBody>
      </p:sp>
      <p:sp>
        <p:nvSpPr>
          <p:cNvPr id="14" name="Text 12"/>
          <p:cNvSpPr/>
          <p:nvPr/>
        </p:nvSpPr>
        <p:spPr>
          <a:xfrm>
            <a:off x="2620762" y="2880360"/>
            <a:ext cx="457200" cy="182880"/>
          </a:xfrm>
          <a:prstGeom prst="rect">
            <a:avLst/>
          </a:prstGeom>
          <a:noFill/>
          <a:ln/>
        </p:spPr>
        <p:txBody>
          <a:bodyPr wrap="square" lIns="0" tIns="0" rIns="0" bIns="0" rtlCol="0" anchor="ctr"/>
          <a:lstStyle/>
          <a:p>
            <a:pPr marL="0" indent="0">
              <a:buNone/>
            </a:pPr>
            <a:r>
              <a:rPr lang="en-US" sz="800" dirty="0">
                <a:solidFill>
                  <a:srgbClr val="AAAAAA"/>
                </a:solidFill>
                <a:latin typeface="Consolas" pitchFamily="34" charset="0"/>
                <a:ea typeface="Consolas" pitchFamily="34" charset="-122"/>
                <a:cs typeface="Consolas" pitchFamily="34" charset="-120"/>
              </a:rPr>
              <a:t>8.3</a:t>
            </a:r>
            <a:endParaRPr lang="en-US" sz="800" dirty="0"/>
          </a:p>
        </p:txBody>
      </p:sp>
      <p:sp>
        <p:nvSpPr>
          <p:cNvPr id="15" name="Text 13"/>
          <p:cNvSpPr/>
          <p:nvPr/>
        </p:nvSpPr>
        <p:spPr>
          <a:xfrm>
            <a:off x="548640" y="3246120"/>
            <a:ext cx="2651760" cy="228600"/>
          </a:xfrm>
          <a:prstGeom prst="rect">
            <a:avLst/>
          </a:prstGeom>
          <a:noFill/>
          <a:ln/>
        </p:spPr>
        <p:txBody>
          <a:bodyPr wrap="square" lIns="0" tIns="0" rIns="0" bIns="0" rtlCol="0" anchor="ctr"/>
          <a:lstStyle/>
          <a:p>
            <a:pPr marL="0" indent="0" algn="ctr">
              <a:buNone/>
            </a:pPr>
            <a:r>
              <a:rPr lang="en-US" sz="1000" dirty="0">
                <a:solidFill>
                  <a:srgbClr val="FFFFFF"/>
                </a:solidFill>
                <a:latin typeface="Consolas" pitchFamily="34" charset="0"/>
                <a:ea typeface="Consolas" pitchFamily="34" charset="-122"/>
                <a:cs typeface="Consolas" pitchFamily="34" charset="-120"/>
              </a:rPr>
              <a:t>25 - 3·8.3 = 0.0</a:t>
            </a:r>
            <a:endParaRPr lang="en-US" sz="1000" dirty="0"/>
          </a:p>
        </p:txBody>
      </p:sp>
      <p:sp>
        <p:nvSpPr>
          <p:cNvPr id="16" name="Text 14"/>
          <p:cNvSpPr/>
          <p:nvPr/>
        </p:nvSpPr>
        <p:spPr>
          <a:xfrm>
            <a:off x="548640" y="3566160"/>
            <a:ext cx="2651760" cy="640080"/>
          </a:xfrm>
          <a:prstGeom prst="rect">
            <a:avLst/>
          </a:prstGeom>
          <a:noFill/>
          <a:ln/>
        </p:spPr>
        <p:txBody>
          <a:bodyPr wrap="square" lIns="0" tIns="0" rIns="0" bIns="0" rtlCol="0" anchor="t"/>
          <a:lstStyle/>
          <a:p>
            <a:pPr marL="0" indent="0" algn="ctr">
              <a:buNone/>
            </a:pPr>
            <a:r>
              <a:rPr lang="en-US" sz="900" dirty="0">
                <a:solidFill>
                  <a:srgbClr val="888888"/>
                </a:solidFill>
                <a:latin typeface="Georgia" pitchFamily="34" charset="0"/>
                <a:ea typeface="Georgia" pitchFamily="34" charset="-122"/>
                <a:cs typeface="Georgia" pitchFamily="34" charset="-120"/>
              </a:rPr>
              <a:t>1 evento</a:t>
            </a:r>
            <a:endParaRPr lang="en-US" sz="900" dirty="0"/>
          </a:p>
          <a:p>
            <a:pPr marL="0" indent="0" algn="ctr">
              <a:buNone/>
            </a:pPr>
            <a:r>
              <a:rPr lang="en-US" sz="900" dirty="0">
                <a:solidFill>
                  <a:srgbClr val="888888"/>
                </a:solidFill>
                <a:latin typeface="Georgia" pitchFamily="34" charset="0"/>
                <a:ea typeface="Georgia" pitchFamily="34" charset="-122"/>
                <a:cs typeface="Georgia" pitchFamily="34" charset="-120"/>
              </a:rPr>
              <a:t>Sin evidencia suficiente</a:t>
            </a:r>
            <a:endParaRPr lang="en-US" sz="900" dirty="0"/>
          </a:p>
        </p:txBody>
      </p:sp>
      <p:sp>
        <p:nvSpPr>
          <p:cNvPr id="17" name="Shape 15"/>
          <p:cNvSpPr/>
          <p:nvPr/>
        </p:nvSpPr>
        <p:spPr>
          <a:xfrm>
            <a:off x="3429000" y="1188720"/>
            <a:ext cx="2651760" cy="3200400"/>
          </a:xfrm>
          <a:prstGeom prst="rect">
            <a:avLst/>
          </a:prstGeom>
          <a:solidFill>
            <a:srgbClr val="1E1E38"/>
          </a:solidFill>
          <a:ln/>
        </p:spPr>
        <p:txBody>
          <a:bodyPr/>
          <a:lstStyle/>
          <a:p>
            <a:endParaRPr lang="es-MX"/>
          </a:p>
        </p:txBody>
      </p:sp>
      <p:sp>
        <p:nvSpPr>
          <p:cNvPr id="18" name="Shape 16"/>
          <p:cNvSpPr/>
          <p:nvPr/>
        </p:nvSpPr>
        <p:spPr>
          <a:xfrm>
            <a:off x="3429000" y="1188720"/>
            <a:ext cx="2651760" cy="22860"/>
          </a:xfrm>
          <a:prstGeom prst="rect">
            <a:avLst/>
          </a:prstGeom>
          <a:solidFill>
            <a:srgbClr val="C4956A"/>
          </a:solidFill>
          <a:ln/>
        </p:spPr>
        <p:txBody>
          <a:bodyPr/>
          <a:lstStyle/>
          <a:p>
            <a:endParaRPr lang="es-MX"/>
          </a:p>
        </p:txBody>
      </p:sp>
      <p:sp>
        <p:nvSpPr>
          <p:cNvPr id="19" name="Text 17"/>
          <p:cNvSpPr/>
          <p:nvPr/>
        </p:nvSpPr>
        <p:spPr>
          <a:xfrm>
            <a:off x="3429000" y="1325880"/>
            <a:ext cx="2651760" cy="320040"/>
          </a:xfrm>
          <a:prstGeom prst="rect">
            <a:avLst/>
          </a:prstGeom>
          <a:noFill/>
          <a:ln/>
        </p:spPr>
        <p:txBody>
          <a:bodyPr wrap="square" lIns="0" tIns="0" rIns="0" bIns="0" rtlCol="0" anchor="ctr"/>
          <a:lstStyle/>
          <a:p>
            <a:pPr marL="0" indent="0" algn="ctr">
              <a:buNone/>
            </a:pPr>
            <a:r>
              <a:rPr lang="en-US" sz="1600" dirty="0">
                <a:solidFill>
                  <a:srgbClr val="FFFFFF"/>
                </a:solidFill>
                <a:latin typeface="Georgia" pitchFamily="34" charset="0"/>
                <a:ea typeface="Georgia" pitchFamily="34" charset="-122"/>
                <a:cs typeface="Georgia" pitchFamily="34" charset="-120"/>
              </a:rPr>
              <a:t>Erratico</a:t>
            </a:r>
            <a:endParaRPr lang="en-US" sz="1600" dirty="0"/>
          </a:p>
        </p:txBody>
      </p:sp>
      <p:sp>
        <p:nvSpPr>
          <p:cNvPr id="20" name="Text 18"/>
          <p:cNvSpPr/>
          <p:nvPr/>
        </p:nvSpPr>
        <p:spPr>
          <a:xfrm>
            <a:off x="3429000" y="1737360"/>
            <a:ext cx="2651760" cy="548640"/>
          </a:xfrm>
          <a:prstGeom prst="rect">
            <a:avLst/>
          </a:prstGeom>
          <a:noFill/>
          <a:ln/>
        </p:spPr>
        <p:txBody>
          <a:bodyPr wrap="square" lIns="0" tIns="0" rIns="0" bIns="0" rtlCol="0" anchor="ctr"/>
          <a:lstStyle/>
          <a:p>
            <a:pPr marL="0" indent="0" algn="ctr">
              <a:buNone/>
            </a:pPr>
            <a:r>
              <a:rPr lang="en-US" sz="3800" b="1" dirty="0">
                <a:solidFill>
                  <a:srgbClr val="C4956A"/>
                </a:solidFill>
                <a:latin typeface="Georgia" pitchFamily="34" charset="0"/>
                <a:ea typeface="Georgia" pitchFamily="34" charset="-122"/>
                <a:cs typeface="Georgia" pitchFamily="34" charset="-120"/>
              </a:rPr>
              <a:t>14.0</a:t>
            </a:r>
            <a:endParaRPr lang="en-US" sz="3800" dirty="0"/>
          </a:p>
        </p:txBody>
      </p:sp>
      <p:sp>
        <p:nvSpPr>
          <p:cNvPr id="21" name="Text 19"/>
          <p:cNvSpPr/>
          <p:nvPr/>
        </p:nvSpPr>
        <p:spPr>
          <a:xfrm>
            <a:off x="3429000" y="2240280"/>
            <a:ext cx="2651760" cy="182880"/>
          </a:xfrm>
          <a:prstGeom prst="rect">
            <a:avLst/>
          </a:prstGeom>
          <a:noFill/>
          <a:ln/>
        </p:spPr>
        <p:txBody>
          <a:bodyPr wrap="square" lIns="0" tIns="0" rIns="0" bIns="0" rtlCol="0" anchor="ctr"/>
          <a:lstStyle/>
          <a:p>
            <a:pPr marL="0" indent="0" algn="ctr">
              <a:buNone/>
            </a:pPr>
            <a:r>
              <a:rPr lang="en-US" sz="900" dirty="0">
                <a:solidFill>
                  <a:srgbClr val="666666"/>
                </a:solidFill>
                <a:latin typeface="Georgia" pitchFamily="34" charset="0"/>
                <a:ea typeface="Georgia" pitchFamily="34" charset="-122"/>
                <a:cs typeface="Georgia" pitchFamily="34" charset="-120"/>
              </a:rPr>
              <a:t>PSR</a:t>
            </a:r>
            <a:endParaRPr lang="en-US" sz="900" dirty="0"/>
          </a:p>
        </p:txBody>
      </p:sp>
      <p:sp>
        <p:nvSpPr>
          <p:cNvPr id="22" name="Text 20"/>
          <p:cNvSpPr/>
          <p:nvPr/>
        </p:nvSpPr>
        <p:spPr>
          <a:xfrm>
            <a:off x="3566160" y="2606040"/>
            <a:ext cx="457200" cy="182880"/>
          </a:xfrm>
          <a:prstGeom prst="rect">
            <a:avLst/>
          </a:prstGeom>
          <a:noFill/>
          <a:ln/>
        </p:spPr>
        <p:txBody>
          <a:bodyPr wrap="square" lIns="0" tIns="0" rIns="0" bIns="0" rtlCol="0" anchor="ctr"/>
          <a:lstStyle/>
          <a:p>
            <a:pPr marL="0" indent="0">
              <a:buNone/>
            </a:pPr>
            <a:r>
              <a:rPr lang="en-US" sz="900" dirty="0">
                <a:solidFill>
                  <a:srgbClr val="2D6B6B"/>
                </a:solidFill>
                <a:latin typeface="Consolas" pitchFamily="34" charset="0"/>
                <a:ea typeface="Consolas" pitchFamily="34" charset="-122"/>
                <a:cs typeface="Consolas" pitchFamily="34" charset="-120"/>
              </a:rPr>
              <a:t>mu</a:t>
            </a:r>
            <a:endParaRPr lang="en-US" sz="900" dirty="0"/>
          </a:p>
        </p:txBody>
      </p:sp>
      <p:sp>
        <p:nvSpPr>
          <p:cNvPr id="23" name="Shape 21"/>
          <p:cNvSpPr/>
          <p:nvPr/>
        </p:nvSpPr>
        <p:spPr>
          <a:xfrm>
            <a:off x="3977640" y="2651760"/>
            <a:ext cx="1389888" cy="91440"/>
          </a:xfrm>
          <a:prstGeom prst="rect">
            <a:avLst/>
          </a:prstGeom>
          <a:solidFill>
            <a:srgbClr val="2D6B6B"/>
          </a:solidFill>
          <a:ln/>
        </p:spPr>
        <p:txBody>
          <a:bodyPr/>
          <a:lstStyle/>
          <a:p>
            <a:endParaRPr lang="es-MX"/>
          </a:p>
        </p:txBody>
      </p:sp>
      <p:sp>
        <p:nvSpPr>
          <p:cNvPr id="24" name="Text 22"/>
          <p:cNvSpPr/>
          <p:nvPr/>
        </p:nvSpPr>
        <p:spPr>
          <a:xfrm>
            <a:off x="5413248" y="2606040"/>
            <a:ext cx="457200" cy="182880"/>
          </a:xfrm>
          <a:prstGeom prst="rect">
            <a:avLst/>
          </a:prstGeom>
          <a:noFill/>
          <a:ln/>
        </p:spPr>
        <p:txBody>
          <a:bodyPr wrap="square" lIns="0" tIns="0" rIns="0" bIns="0" rtlCol="0" anchor="ctr"/>
          <a:lstStyle/>
          <a:p>
            <a:pPr marL="0" indent="0">
              <a:buNone/>
            </a:pPr>
            <a:r>
              <a:rPr lang="en-US" sz="800" dirty="0">
                <a:solidFill>
                  <a:srgbClr val="AAAAAA"/>
                </a:solidFill>
                <a:latin typeface="Consolas" pitchFamily="34" charset="0"/>
                <a:ea typeface="Consolas" pitchFamily="34" charset="-122"/>
                <a:cs typeface="Consolas" pitchFamily="34" charset="-120"/>
              </a:rPr>
              <a:t>32</a:t>
            </a:r>
            <a:endParaRPr lang="en-US" sz="800" dirty="0"/>
          </a:p>
        </p:txBody>
      </p:sp>
      <p:sp>
        <p:nvSpPr>
          <p:cNvPr id="25" name="Text 23"/>
          <p:cNvSpPr/>
          <p:nvPr/>
        </p:nvSpPr>
        <p:spPr>
          <a:xfrm>
            <a:off x="3566160" y="2880360"/>
            <a:ext cx="457200" cy="182880"/>
          </a:xfrm>
          <a:prstGeom prst="rect">
            <a:avLst/>
          </a:prstGeom>
          <a:noFill/>
          <a:ln/>
        </p:spPr>
        <p:txBody>
          <a:bodyPr wrap="square" lIns="0" tIns="0" rIns="0" bIns="0" rtlCol="0" anchor="ctr"/>
          <a:lstStyle/>
          <a:p>
            <a:pPr marL="0" indent="0">
              <a:buNone/>
            </a:pPr>
            <a:r>
              <a:rPr lang="en-US" sz="900" dirty="0">
                <a:solidFill>
                  <a:srgbClr val="C4956A"/>
                </a:solidFill>
                <a:latin typeface="Consolas" pitchFamily="34" charset="0"/>
                <a:ea typeface="Consolas" pitchFamily="34" charset="-122"/>
                <a:cs typeface="Consolas" pitchFamily="34" charset="-120"/>
              </a:rPr>
              <a:t>sigma</a:t>
            </a:r>
            <a:endParaRPr lang="en-US" sz="900" dirty="0"/>
          </a:p>
        </p:txBody>
      </p:sp>
      <p:sp>
        <p:nvSpPr>
          <p:cNvPr id="26" name="Shape 24"/>
          <p:cNvSpPr/>
          <p:nvPr/>
        </p:nvSpPr>
        <p:spPr>
          <a:xfrm>
            <a:off x="4160520" y="2926080"/>
            <a:ext cx="932688" cy="91440"/>
          </a:xfrm>
          <a:prstGeom prst="rect">
            <a:avLst/>
          </a:prstGeom>
          <a:solidFill>
            <a:srgbClr val="C4956A"/>
          </a:solidFill>
          <a:ln/>
        </p:spPr>
        <p:txBody>
          <a:bodyPr/>
          <a:lstStyle/>
          <a:p>
            <a:endParaRPr lang="es-MX"/>
          </a:p>
        </p:txBody>
      </p:sp>
      <p:sp>
        <p:nvSpPr>
          <p:cNvPr id="27" name="Text 25"/>
          <p:cNvSpPr/>
          <p:nvPr/>
        </p:nvSpPr>
        <p:spPr>
          <a:xfrm>
            <a:off x="5138928" y="2880360"/>
            <a:ext cx="457200" cy="182880"/>
          </a:xfrm>
          <a:prstGeom prst="rect">
            <a:avLst/>
          </a:prstGeom>
          <a:noFill/>
          <a:ln/>
        </p:spPr>
        <p:txBody>
          <a:bodyPr wrap="square" lIns="0" tIns="0" rIns="0" bIns="0" rtlCol="0" anchor="ctr"/>
          <a:lstStyle/>
          <a:p>
            <a:pPr marL="0" indent="0">
              <a:buNone/>
            </a:pPr>
            <a:r>
              <a:rPr lang="en-US" sz="800" dirty="0">
                <a:solidFill>
                  <a:srgbClr val="AAAAAA"/>
                </a:solidFill>
                <a:latin typeface="Consolas" pitchFamily="34" charset="0"/>
                <a:ea typeface="Consolas" pitchFamily="34" charset="-122"/>
                <a:cs typeface="Consolas" pitchFamily="34" charset="-120"/>
              </a:rPr>
              <a:t>6.0</a:t>
            </a:r>
            <a:endParaRPr lang="en-US" sz="800" dirty="0"/>
          </a:p>
        </p:txBody>
      </p:sp>
      <p:sp>
        <p:nvSpPr>
          <p:cNvPr id="28" name="Text 26"/>
          <p:cNvSpPr/>
          <p:nvPr/>
        </p:nvSpPr>
        <p:spPr>
          <a:xfrm>
            <a:off x="3429000" y="3246120"/>
            <a:ext cx="2651760" cy="228600"/>
          </a:xfrm>
          <a:prstGeom prst="rect">
            <a:avLst/>
          </a:prstGeom>
          <a:noFill/>
          <a:ln/>
        </p:spPr>
        <p:txBody>
          <a:bodyPr wrap="square" lIns="0" tIns="0" rIns="0" bIns="0" rtlCol="0" anchor="ctr"/>
          <a:lstStyle/>
          <a:p>
            <a:pPr marL="0" indent="0" algn="ctr">
              <a:buNone/>
            </a:pPr>
            <a:r>
              <a:rPr lang="en-US" sz="1000" dirty="0">
                <a:solidFill>
                  <a:srgbClr val="FFFFFF"/>
                </a:solidFill>
                <a:latin typeface="Consolas" pitchFamily="34" charset="0"/>
                <a:ea typeface="Consolas" pitchFamily="34" charset="-122"/>
                <a:cs typeface="Consolas" pitchFamily="34" charset="-120"/>
              </a:rPr>
              <a:t>32 - 3·6.0 = 14.0</a:t>
            </a:r>
            <a:endParaRPr lang="en-US" sz="1000" dirty="0"/>
          </a:p>
        </p:txBody>
      </p:sp>
      <p:sp>
        <p:nvSpPr>
          <p:cNvPr id="29" name="Text 27"/>
          <p:cNvSpPr/>
          <p:nvPr/>
        </p:nvSpPr>
        <p:spPr>
          <a:xfrm>
            <a:off x="3429000" y="3566160"/>
            <a:ext cx="2651760" cy="640080"/>
          </a:xfrm>
          <a:prstGeom prst="rect">
            <a:avLst/>
          </a:prstGeom>
          <a:noFill/>
          <a:ln/>
        </p:spPr>
        <p:txBody>
          <a:bodyPr wrap="square" lIns="0" tIns="0" rIns="0" bIns="0" rtlCol="0" anchor="t"/>
          <a:lstStyle/>
          <a:p>
            <a:pPr marL="0" indent="0" algn="ctr">
              <a:buNone/>
            </a:pPr>
            <a:r>
              <a:rPr lang="en-US" sz="900" dirty="0">
                <a:solidFill>
                  <a:srgbClr val="888888"/>
                </a:solidFill>
                <a:latin typeface="Georgia" pitchFamily="34" charset="0"/>
                <a:ea typeface="Georgia" pitchFamily="34" charset="-122"/>
                <a:cs typeface="Georgia" pitchFamily="34" charset="-120"/>
              </a:rPr>
              <a:t>6 eventos</a:t>
            </a:r>
            <a:endParaRPr lang="en-US" sz="900" dirty="0"/>
          </a:p>
          <a:p>
            <a:pPr marL="0" indent="0" algn="ctr">
              <a:buNone/>
            </a:pPr>
            <a:r>
              <a:rPr lang="en-US" sz="900" dirty="0">
                <a:solidFill>
                  <a:srgbClr val="888888"/>
                </a:solidFill>
                <a:latin typeface="Georgia" pitchFamily="34" charset="0"/>
                <a:ea typeface="Georgia" pitchFamily="34" charset="-122"/>
                <a:cs typeface="Georgia" pitchFamily="34" charset="-120"/>
              </a:rPr>
              <a:t>Rendimiento variable</a:t>
            </a:r>
            <a:endParaRPr lang="en-US" sz="900" dirty="0"/>
          </a:p>
        </p:txBody>
      </p:sp>
      <p:sp>
        <p:nvSpPr>
          <p:cNvPr id="30" name="Shape 28"/>
          <p:cNvSpPr/>
          <p:nvPr/>
        </p:nvSpPr>
        <p:spPr>
          <a:xfrm>
            <a:off x="6309360" y="1188720"/>
            <a:ext cx="2651760" cy="3200400"/>
          </a:xfrm>
          <a:prstGeom prst="rect">
            <a:avLst/>
          </a:prstGeom>
          <a:solidFill>
            <a:srgbClr val="1E1E38"/>
          </a:solidFill>
          <a:ln/>
        </p:spPr>
        <p:txBody>
          <a:bodyPr/>
          <a:lstStyle/>
          <a:p>
            <a:endParaRPr lang="es-MX"/>
          </a:p>
        </p:txBody>
      </p:sp>
      <p:sp>
        <p:nvSpPr>
          <p:cNvPr id="31" name="Shape 29"/>
          <p:cNvSpPr/>
          <p:nvPr/>
        </p:nvSpPr>
        <p:spPr>
          <a:xfrm>
            <a:off x="6309360" y="1188720"/>
            <a:ext cx="2651760" cy="22860"/>
          </a:xfrm>
          <a:prstGeom prst="rect">
            <a:avLst/>
          </a:prstGeom>
          <a:solidFill>
            <a:srgbClr val="B8860B"/>
          </a:solidFill>
          <a:ln/>
        </p:spPr>
        <p:txBody>
          <a:bodyPr/>
          <a:lstStyle/>
          <a:p>
            <a:endParaRPr lang="es-MX"/>
          </a:p>
        </p:txBody>
      </p:sp>
      <p:sp>
        <p:nvSpPr>
          <p:cNvPr id="32" name="Text 30"/>
          <p:cNvSpPr/>
          <p:nvPr/>
        </p:nvSpPr>
        <p:spPr>
          <a:xfrm>
            <a:off x="6309360" y="1325880"/>
            <a:ext cx="2651760" cy="320040"/>
          </a:xfrm>
          <a:prstGeom prst="rect">
            <a:avLst/>
          </a:prstGeom>
          <a:noFill/>
          <a:ln/>
        </p:spPr>
        <p:txBody>
          <a:bodyPr wrap="square" lIns="0" tIns="0" rIns="0" bIns="0" rtlCol="0" anchor="ctr"/>
          <a:lstStyle/>
          <a:p>
            <a:pPr marL="0" indent="0" algn="ctr">
              <a:buNone/>
            </a:pPr>
            <a:r>
              <a:rPr lang="en-US" sz="1600" dirty="0">
                <a:solidFill>
                  <a:srgbClr val="FFFFFF"/>
                </a:solidFill>
                <a:latin typeface="Georgia" pitchFamily="34" charset="0"/>
                <a:ea typeface="Georgia" pitchFamily="34" charset="-122"/>
                <a:cs typeface="Georgia" pitchFamily="34" charset="-120"/>
              </a:rPr>
              <a:t>Consistente</a:t>
            </a:r>
            <a:endParaRPr lang="en-US" sz="1600" dirty="0"/>
          </a:p>
        </p:txBody>
      </p:sp>
      <p:sp>
        <p:nvSpPr>
          <p:cNvPr id="33" name="Text 31"/>
          <p:cNvSpPr/>
          <p:nvPr/>
        </p:nvSpPr>
        <p:spPr>
          <a:xfrm>
            <a:off x="6309360" y="1737360"/>
            <a:ext cx="2651760" cy="548640"/>
          </a:xfrm>
          <a:prstGeom prst="rect">
            <a:avLst/>
          </a:prstGeom>
          <a:noFill/>
          <a:ln/>
        </p:spPr>
        <p:txBody>
          <a:bodyPr wrap="square" lIns="0" tIns="0" rIns="0" bIns="0" rtlCol="0" anchor="ctr"/>
          <a:lstStyle/>
          <a:p>
            <a:pPr marL="0" indent="0" algn="ctr">
              <a:buNone/>
            </a:pPr>
            <a:r>
              <a:rPr lang="en-US" sz="3800" b="1" dirty="0">
                <a:solidFill>
                  <a:srgbClr val="B8860B"/>
                </a:solidFill>
                <a:latin typeface="Georgia" pitchFamily="34" charset="0"/>
                <a:ea typeface="Georgia" pitchFamily="34" charset="-122"/>
                <a:cs typeface="Georgia" pitchFamily="34" charset="-120"/>
              </a:rPr>
              <a:t>22.5</a:t>
            </a:r>
            <a:endParaRPr lang="en-US" sz="3800" dirty="0"/>
          </a:p>
        </p:txBody>
      </p:sp>
      <p:sp>
        <p:nvSpPr>
          <p:cNvPr id="34" name="Text 32"/>
          <p:cNvSpPr/>
          <p:nvPr/>
        </p:nvSpPr>
        <p:spPr>
          <a:xfrm>
            <a:off x="6309360" y="2240280"/>
            <a:ext cx="2651760" cy="182880"/>
          </a:xfrm>
          <a:prstGeom prst="rect">
            <a:avLst/>
          </a:prstGeom>
          <a:noFill/>
          <a:ln/>
        </p:spPr>
        <p:txBody>
          <a:bodyPr wrap="square" lIns="0" tIns="0" rIns="0" bIns="0" rtlCol="0" anchor="ctr"/>
          <a:lstStyle/>
          <a:p>
            <a:pPr marL="0" indent="0" algn="ctr">
              <a:buNone/>
            </a:pPr>
            <a:r>
              <a:rPr lang="en-US" sz="900" dirty="0">
                <a:solidFill>
                  <a:srgbClr val="666666"/>
                </a:solidFill>
                <a:latin typeface="Georgia" pitchFamily="34" charset="0"/>
                <a:ea typeface="Georgia" pitchFamily="34" charset="-122"/>
                <a:cs typeface="Georgia" pitchFamily="34" charset="-120"/>
              </a:rPr>
              <a:t>PSR</a:t>
            </a:r>
            <a:endParaRPr lang="en-US" sz="900" dirty="0"/>
          </a:p>
        </p:txBody>
      </p:sp>
      <p:sp>
        <p:nvSpPr>
          <p:cNvPr id="35" name="Text 33"/>
          <p:cNvSpPr/>
          <p:nvPr/>
        </p:nvSpPr>
        <p:spPr>
          <a:xfrm>
            <a:off x="6446520" y="2606040"/>
            <a:ext cx="457200" cy="182880"/>
          </a:xfrm>
          <a:prstGeom prst="rect">
            <a:avLst/>
          </a:prstGeom>
          <a:noFill/>
          <a:ln/>
        </p:spPr>
        <p:txBody>
          <a:bodyPr wrap="square" lIns="0" tIns="0" rIns="0" bIns="0" rtlCol="0" anchor="ctr"/>
          <a:lstStyle/>
          <a:p>
            <a:pPr marL="0" indent="0">
              <a:buNone/>
            </a:pPr>
            <a:r>
              <a:rPr lang="en-US" sz="900" dirty="0">
                <a:solidFill>
                  <a:srgbClr val="2D6B6B"/>
                </a:solidFill>
                <a:latin typeface="Consolas" pitchFamily="34" charset="0"/>
                <a:ea typeface="Consolas" pitchFamily="34" charset="-122"/>
                <a:cs typeface="Consolas" pitchFamily="34" charset="-120"/>
              </a:rPr>
              <a:t>mu</a:t>
            </a:r>
            <a:endParaRPr lang="en-US" sz="900" dirty="0"/>
          </a:p>
        </p:txBody>
      </p:sp>
      <p:sp>
        <p:nvSpPr>
          <p:cNvPr id="36" name="Shape 34"/>
          <p:cNvSpPr/>
          <p:nvPr/>
        </p:nvSpPr>
        <p:spPr>
          <a:xfrm>
            <a:off x="6858000" y="2651760"/>
            <a:ext cx="1303020" cy="91440"/>
          </a:xfrm>
          <a:prstGeom prst="rect">
            <a:avLst/>
          </a:prstGeom>
          <a:solidFill>
            <a:srgbClr val="2D6B6B"/>
          </a:solidFill>
          <a:ln/>
        </p:spPr>
        <p:txBody>
          <a:bodyPr/>
          <a:lstStyle/>
          <a:p>
            <a:endParaRPr lang="es-MX"/>
          </a:p>
        </p:txBody>
      </p:sp>
      <p:sp>
        <p:nvSpPr>
          <p:cNvPr id="37" name="Text 35"/>
          <p:cNvSpPr/>
          <p:nvPr/>
        </p:nvSpPr>
        <p:spPr>
          <a:xfrm>
            <a:off x="8206740" y="2606040"/>
            <a:ext cx="457200" cy="182880"/>
          </a:xfrm>
          <a:prstGeom prst="rect">
            <a:avLst/>
          </a:prstGeom>
          <a:noFill/>
          <a:ln/>
        </p:spPr>
        <p:txBody>
          <a:bodyPr wrap="square" lIns="0" tIns="0" rIns="0" bIns="0" rtlCol="0" anchor="ctr"/>
          <a:lstStyle/>
          <a:p>
            <a:pPr marL="0" indent="0">
              <a:buNone/>
            </a:pPr>
            <a:r>
              <a:rPr lang="en-US" sz="800" dirty="0">
                <a:solidFill>
                  <a:srgbClr val="AAAAAA"/>
                </a:solidFill>
                <a:latin typeface="Consolas" pitchFamily="34" charset="0"/>
                <a:ea typeface="Consolas" pitchFamily="34" charset="-122"/>
                <a:cs typeface="Consolas" pitchFamily="34" charset="-120"/>
              </a:rPr>
              <a:t>30</a:t>
            </a:r>
            <a:endParaRPr lang="en-US" sz="800" dirty="0"/>
          </a:p>
        </p:txBody>
      </p:sp>
      <p:sp>
        <p:nvSpPr>
          <p:cNvPr id="38" name="Text 36"/>
          <p:cNvSpPr/>
          <p:nvPr/>
        </p:nvSpPr>
        <p:spPr>
          <a:xfrm>
            <a:off x="6446520" y="2880360"/>
            <a:ext cx="457200" cy="182880"/>
          </a:xfrm>
          <a:prstGeom prst="rect">
            <a:avLst/>
          </a:prstGeom>
          <a:noFill/>
          <a:ln/>
        </p:spPr>
        <p:txBody>
          <a:bodyPr wrap="square" lIns="0" tIns="0" rIns="0" bIns="0" rtlCol="0" anchor="ctr"/>
          <a:lstStyle/>
          <a:p>
            <a:pPr marL="0" indent="0">
              <a:buNone/>
            </a:pPr>
            <a:r>
              <a:rPr lang="en-US" sz="900" dirty="0">
                <a:solidFill>
                  <a:srgbClr val="C4956A"/>
                </a:solidFill>
                <a:latin typeface="Consolas" pitchFamily="34" charset="0"/>
                <a:ea typeface="Consolas" pitchFamily="34" charset="-122"/>
                <a:cs typeface="Consolas" pitchFamily="34" charset="-120"/>
              </a:rPr>
              <a:t>sigma</a:t>
            </a:r>
            <a:endParaRPr lang="en-US" sz="900" dirty="0"/>
          </a:p>
        </p:txBody>
      </p:sp>
      <p:sp>
        <p:nvSpPr>
          <p:cNvPr id="39" name="Shape 37"/>
          <p:cNvSpPr/>
          <p:nvPr/>
        </p:nvSpPr>
        <p:spPr>
          <a:xfrm>
            <a:off x="7040880" y="2926080"/>
            <a:ext cx="388620" cy="91440"/>
          </a:xfrm>
          <a:prstGeom prst="rect">
            <a:avLst/>
          </a:prstGeom>
          <a:solidFill>
            <a:srgbClr val="C4956A"/>
          </a:solidFill>
          <a:ln/>
        </p:spPr>
        <p:txBody>
          <a:bodyPr/>
          <a:lstStyle/>
          <a:p>
            <a:endParaRPr lang="es-MX"/>
          </a:p>
        </p:txBody>
      </p:sp>
      <p:sp>
        <p:nvSpPr>
          <p:cNvPr id="40" name="Text 38"/>
          <p:cNvSpPr/>
          <p:nvPr/>
        </p:nvSpPr>
        <p:spPr>
          <a:xfrm>
            <a:off x="7475220" y="2880360"/>
            <a:ext cx="457200" cy="182880"/>
          </a:xfrm>
          <a:prstGeom prst="rect">
            <a:avLst/>
          </a:prstGeom>
          <a:noFill/>
          <a:ln/>
        </p:spPr>
        <p:txBody>
          <a:bodyPr wrap="square" lIns="0" tIns="0" rIns="0" bIns="0" rtlCol="0" anchor="ctr"/>
          <a:lstStyle/>
          <a:p>
            <a:pPr marL="0" indent="0">
              <a:buNone/>
            </a:pPr>
            <a:r>
              <a:rPr lang="en-US" sz="800" dirty="0">
                <a:solidFill>
                  <a:srgbClr val="AAAAAA"/>
                </a:solidFill>
                <a:latin typeface="Consolas" pitchFamily="34" charset="0"/>
                <a:ea typeface="Consolas" pitchFamily="34" charset="-122"/>
                <a:cs typeface="Consolas" pitchFamily="34" charset="-120"/>
              </a:rPr>
              <a:t>2.5</a:t>
            </a:r>
            <a:endParaRPr lang="en-US" sz="800" dirty="0"/>
          </a:p>
        </p:txBody>
      </p:sp>
      <p:sp>
        <p:nvSpPr>
          <p:cNvPr id="41" name="Text 39"/>
          <p:cNvSpPr/>
          <p:nvPr/>
        </p:nvSpPr>
        <p:spPr>
          <a:xfrm>
            <a:off x="6309360" y="3246120"/>
            <a:ext cx="2651760" cy="228600"/>
          </a:xfrm>
          <a:prstGeom prst="rect">
            <a:avLst/>
          </a:prstGeom>
          <a:noFill/>
          <a:ln/>
        </p:spPr>
        <p:txBody>
          <a:bodyPr wrap="square" lIns="0" tIns="0" rIns="0" bIns="0" rtlCol="0" anchor="ctr"/>
          <a:lstStyle/>
          <a:p>
            <a:pPr marL="0" indent="0" algn="ctr">
              <a:buNone/>
            </a:pPr>
            <a:r>
              <a:rPr lang="en-US" sz="1000" dirty="0">
                <a:solidFill>
                  <a:srgbClr val="FFFFFF"/>
                </a:solidFill>
                <a:latin typeface="Consolas" pitchFamily="34" charset="0"/>
                <a:ea typeface="Consolas" pitchFamily="34" charset="-122"/>
                <a:cs typeface="Consolas" pitchFamily="34" charset="-120"/>
              </a:rPr>
              <a:t>30 - 3·2.5 = 22.5</a:t>
            </a:r>
            <a:endParaRPr lang="en-US" sz="1000" dirty="0"/>
          </a:p>
        </p:txBody>
      </p:sp>
      <p:sp>
        <p:nvSpPr>
          <p:cNvPr id="42" name="Text 40"/>
          <p:cNvSpPr/>
          <p:nvPr/>
        </p:nvSpPr>
        <p:spPr>
          <a:xfrm>
            <a:off x="6309360" y="3566160"/>
            <a:ext cx="2651760" cy="640080"/>
          </a:xfrm>
          <a:prstGeom prst="rect">
            <a:avLst/>
          </a:prstGeom>
          <a:noFill/>
          <a:ln/>
        </p:spPr>
        <p:txBody>
          <a:bodyPr wrap="square" lIns="0" tIns="0" rIns="0" bIns="0" rtlCol="0" anchor="t"/>
          <a:lstStyle/>
          <a:p>
            <a:pPr marL="0" indent="0" algn="ctr">
              <a:buNone/>
            </a:pPr>
            <a:r>
              <a:rPr lang="en-US" sz="900" dirty="0">
                <a:solidFill>
                  <a:srgbClr val="888888"/>
                </a:solidFill>
                <a:latin typeface="Georgia" pitchFamily="34" charset="0"/>
                <a:ea typeface="Georgia" pitchFamily="34" charset="-122"/>
                <a:cs typeface="Georgia" pitchFamily="34" charset="-120"/>
              </a:rPr>
              <a:t>12 eventos</a:t>
            </a:r>
            <a:endParaRPr lang="en-US" sz="900" dirty="0"/>
          </a:p>
          <a:p>
            <a:pPr marL="0" indent="0" algn="ctr">
              <a:buNone/>
            </a:pPr>
            <a:r>
              <a:rPr lang="en-US" sz="900" dirty="0">
                <a:solidFill>
                  <a:srgbClr val="888888"/>
                </a:solidFill>
                <a:latin typeface="Georgia" pitchFamily="34" charset="0"/>
                <a:ea typeface="Georgia" pitchFamily="34" charset="-122"/>
                <a:cs typeface="Georgia" pitchFamily="34" charset="-120"/>
              </a:rPr>
              <a:t>Rendimiento estable</a:t>
            </a:r>
            <a:endParaRPr lang="en-US" sz="900" dirty="0"/>
          </a:p>
        </p:txBody>
      </p:sp>
      <p:sp>
        <p:nvSpPr>
          <p:cNvPr id="43" name="Shape 41"/>
          <p:cNvSpPr/>
          <p:nvPr/>
        </p:nvSpPr>
        <p:spPr>
          <a:xfrm>
            <a:off x="0" y="4800600"/>
            <a:ext cx="9144000" cy="342900"/>
          </a:xfrm>
          <a:prstGeom prst="rect">
            <a:avLst/>
          </a:prstGeom>
          <a:solidFill>
            <a:srgbClr val="1A1A2E"/>
          </a:solidFill>
          <a:ln/>
        </p:spPr>
        <p:txBody>
          <a:bodyPr/>
          <a:lstStyle/>
          <a:p>
            <a:endParaRPr lang="es-MX"/>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731520" y="411480"/>
            <a:ext cx="7680960" cy="594360"/>
          </a:xfrm>
          <a:prstGeom prst="rect">
            <a:avLst/>
          </a:prstGeom>
          <a:noFill/>
          <a:ln/>
        </p:spPr>
        <p:txBody>
          <a:bodyPr wrap="square" lIns="0" tIns="0" rIns="0" bIns="0" rtlCol="0" anchor="ctr"/>
          <a:lstStyle/>
          <a:p>
            <a:pPr marL="0" indent="0">
              <a:buNone/>
            </a:pPr>
            <a:r>
              <a:rPr lang="en-US" sz="2600" dirty="0">
                <a:solidFill>
                  <a:srgbClr val="2D2D3A"/>
                </a:solidFill>
                <a:latin typeface="Georgia" pitchFamily="34" charset="0"/>
                <a:ea typeface="Georgia" pitchFamily="34" charset="-122"/>
                <a:cs typeface="Georgia" pitchFamily="34" charset="-120"/>
              </a:rPr>
              <a:t>Inactividad y prudencia</a:t>
            </a:r>
            <a:endParaRPr lang="en-US" sz="2600" dirty="0"/>
          </a:p>
        </p:txBody>
      </p:sp>
      <p:sp>
        <p:nvSpPr>
          <p:cNvPr id="3" name="Shape 1"/>
          <p:cNvSpPr/>
          <p:nvPr/>
        </p:nvSpPr>
        <p:spPr>
          <a:xfrm>
            <a:off x="731520" y="1051560"/>
            <a:ext cx="914400" cy="18288"/>
          </a:xfrm>
          <a:prstGeom prst="rect">
            <a:avLst/>
          </a:prstGeom>
          <a:solidFill>
            <a:srgbClr val="C4956A"/>
          </a:solidFill>
          <a:ln/>
        </p:spPr>
        <p:txBody>
          <a:bodyPr/>
          <a:lstStyle/>
          <a:p>
            <a:endParaRPr lang="es-MX"/>
          </a:p>
        </p:txBody>
      </p:sp>
      <p:sp>
        <p:nvSpPr>
          <p:cNvPr id="4" name="Text 2"/>
          <p:cNvSpPr/>
          <p:nvPr/>
        </p:nvSpPr>
        <p:spPr>
          <a:xfrm>
            <a:off x="731520" y="1159764"/>
            <a:ext cx="4765040" cy="246888"/>
          </a:xfrm>
          <a:prstGeom prst="rect">
            <a:avLst/>
          </a:prstGeom>
          <a:noFill/>
          <a:ln/>
        </p:spPr>
        <p:txBody>
          <a:bodyPr wrap="square" lIns="0" tIns="0" rIns="0" bIns="0" rtlCol="0" anchor="ctr"/>
          <a:lstStyle/>
          <a:p>
            <a:pPr marL="0" indent="0">
              <a:buNone/>
            </a:pPr>
            <a:r>
              <a:rPr lang="en-US" sz="800" kern="0" spc="300" dirty="0">
                <a:solidFill>
                  <a:srgbClr val="7A7A8A"/>
                </a:solidFill>
                <a:latin typeface="Georgia" pitchFamily="34" charset="0"/>
                <a:ea typeface="Georgia" pitchFamily="34" charset="-122"/>
                <a:cs typeface="Georgia" pitchFamily="34" charset="-120"/>
              </a:rPr>
              <a:t>EL SISTEMA NO CASTIGA — AJUSTA CERTEZA</a:t>
            </a:r>
            <a:endParaRPr lang="en-US" sz="800" dirty="0"/>
          </a:p>
        </p:txBody>
      </p:sp>
      <p:graphicFrame>
        <p:nvGraphicFramePr>
          <p:cNvPr id="5" name="Chart 0"/>
          <p:cNvGraphicFramePr/>
          <p:nvPr>
            <p:extLst>
              <p:ext uri="{D42A27DB-BD31-4B8C-83A1-F6EECF244321}">
                <p14:modId xmlns:p14="http://schemas.microsoft.com/office/powerpoint/2010/main" val="1635170086"/>
              </p:ext>
            </p:extLst>
          </p:nvPr>
        </p:nvGraphicFramePr>
        <p:xfrm>
          <a:off x="274320" y="1422400"/>
          <a:ext cx="56692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217920" y="1422400"/>
            <a:ext cx="2468880" cy="301752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7" name="Shape 4"/>
          <p:cNvSpPr/>
          <p:nvPr/>
        </p:nvSpPr>
        <p:spPr>
          <a:xfrm>
            <a:off x="6217920" y="1422400"/>
            <a:ext cx="32004" cy="3017520"/>
          </a:xfrm>
          <a:prstGeom prst="rect">
            <a:avLst/>
          </a:prstGeom>
          <a:solidFill>
            <a:srgbClr val="C4956A"/>
          </a:solidFill>
          <a:ln/>
        </p:spPr>
        <p:txBody>
          <a:bodyPr/>
          <a:lstStyle/>
          <a:p>
            <a:endParaRPr lang="es-MX"/>
          </a:p>
        </p:txBody>
      </p:sp>
      <p:sp>
        <p:nvSpPr>
          <p:cNvPr id="8" name="Text 5"/>
          <p:cNvSpPr/>
          <p:nvPr/>
        </p:nvSpPr>
        <p:spPr>
          <a:xfrm>
            <a:off x="6400800" y="1513840"/>
            <a:ext cx="2103120" cy="274320"/>
          </a:xfrm>
          <a:prstGeom prst="rect">
            <a:avLst/>
          </a:prstGeom>
          <a:noFill/>
          <a:ln/>
        </p:spPr>
        <p:txBody>
          <a:bodyPr wrap="square" lIns="0" tIns="0" rIns="0" bIns="0" rtlCol="0" anchor="ctr"/>
          <a:lstStyle/>
          <a:p>
            <a:pPr marL="0" indent="0">
              <a:buNone/>
            </a:pPr>
            <a:r>
              <a:rPr lang="en-US" sz="1000" b="1" dirty="0">
                <a:solidFill>
                  <a:srgbClr val="C4956A"/>
                </a:solidFill>
                <a:latin typeface="Georgia" pitchFamily="34" charset="0"/>
                <a:ea typeface="Georgia" pitchFamily="34" charset="-122"/>
                <a:cs typeface="Georgia" pitchFamily="34" charset="-120"/>
              </a:rPr>
              <a:t>Interpretacion</a:t>
            </a:r>
            <a:endParaRPr lang="en-US" sz="1000" dirty="0"/>
          </a:p>
        </p:txBody>
      </p:sp>
      <p:sp>
        <p:nvSpPr>
          <p:cNvPr id="9" name="Text 6"/>
          <p:cNvSpPr/>
          <p:nvPr/>
        </p:nvSpPr>
        <p:spPr>
          <a:xfrm>
            <a:off x="6400800" y="1925320"/>
            <a:ext cx="2103120" cy="182880"/>
          </a:xfrm>
          <a:prstGeom prst="rect">
            <a:avLst/>
          </a:prstGeom>
          <a:noFill/>
          <a:ln/>
        </p:spPr>
        <p:txBody>
          <a:bodyPr wrap="square" lIns="0" tIns="0" rIns="0" bIns="0" rtlCol="0" anchor="ctr"/>
          <a:lstStyle/>
          <a:p>
            <a:pPr marL="0" indent="0">
              <a:buNone/>
            </a:pPr>
            <a:r>
              <a:rPr lang="en-US" sz="900" b="1" dirty="0">
                <a:solidFill>
                  <a:srgbClr val="2D6B6B"/>
                </a:solidFill>
                <a:latin typeface="Georgia" pitchFamily="34" charset="0"/>
                <a:ea typeface="Georgia" pitchFamily="34" charset="-122"/>
                <a:cs typeface="Georgia" pitchFamily="34" charset="-120"/>
              </a:rPr>
              <a:t>mu estable</a:t>
            </a:r>
            <a:endParaRPr lang="en-US" sz="900" dirty="0"/>
          </a:p>
        </p:txBody>
      </p:sp>
      <p:sp>
        <p:nvSpPr>
          <p:cNvPr id="10" name="Text 7"/>
          <p:cNvSpPr/>
          <p:nvPr/>
        </p:nvSpPr>
        <p:spPr>
          <a:xfrm>
            <a:off x="6400800" y="2126488"/>
            <a:ext cx="2103120" cy="228600"/>
          </a:xfrm>
          <a:prstGeom prst="rect">
            <a:avLst/>
          </a:prstGeom>
          <a:noFill/>
          <a:ln/>
        </p:spPr>
        <p:txBody>
          <a:bodyPr wrap="square" lIns="0" tIns="0" rIns="0" bIns="0" rtlCol="0" anchor="ctr"/>
          <a:lstStyle/>
          <a:p>
            <a:pPr marL="0" indent="0">
              <a:buNone/>
            </a:pPr>
            <a:r>
              <a:rPr lang="en-US" sz="800" dirty="0">
                <a:solidFill>
                  <a:srgbClr val="7A7A8A"/>
                </a:solidFill>
                <a:latin typeface="Georgia" pitchFamily="34" charset="0"/>
                <a:ea typeface="Georgia" pitchFamily="34" charset="-122"/>
                <a:cs typeface="Georgia" pitchFamily="34" charset="-120"/>
              </a:rPr>
              <a:t>No asumimos que empeoro</a:t>
            </a:r>
            <a:endParaRPr lang="en-US" sz="800" dirty="0"/>
          </a:p>
        </p:txBody>
      </p:sp>
      <p:sp>
        <p:nvSpPr>
          <p:cNvPr id="11" name="Text 8"/>
          <p:cNvSpPr/>
          <p:nvPr/>
        </p:nvSpPr>
        <p:spPr>
          <a:xfrm>
            <a:off x="6400800" y="2519680"/>
            <a:ext cx="2103120" cy="182880"/>
          </a:xfrm>
          <a:prstGeom prst="rect">
            <a:avLst/>
          </a:prstGeom>
          <a:noFill/>
          <a:ln/>
        </p:spPr>
        <p:txBody>
          <a:bodyPr wrap="square" lIns="0" tIns="0" rIns="0" bIns="0" rtlCol="0" anchor="ctr"/>
          <a:lstStyle/>
          <a:p>
            <a:pPr marL="0" indent="0">
              <a:buNone/>
            </a:pPr>
            <a:r>
              <a:rPr lang="en-US" sz="900" b="1" dirty="0">
                <a:solidFill>
                  <a:srgbClr val="C4956A"/>
                </a:solidFill>
                <a:latin typeface="Georgia" pitchFamily="34" charset="0"/>
                <a:ea typeface="Georgia" pitchFamily="34" charset="-122"/>
                <a:cs typeface="Georgia" pitchFamily="34" charset="-120"/>
              </a:rPr>
              <a:t>sigma crece</a:t>
            </a:r>
            <a:endParaRPr lang="en-US" sz="900" dirty="0"/>
          </a:p>
        </p:txBody>
      </p:sp>
      <p:sp>
        <p:nvSpPr>
          <p:cNvPr id="12" name="Text 9"/>
          <p:cNvSpPr/>
          <p:nvPr/>
        </p:nvSpPr>
        <p:spPr>
          <a:xfrm>
            <a:off x="6400800" y="2720848"/>
            <a:ext cx="2103120" cy="228600"/>
          </a:xfrm>
          <a:prstGeom prst="rect">
            <a:avLst/>
          </a:prstGeom>
          <a:noFill/>
          <a:ln/>
        </p:spPr>
        <p:txBody>
          <a:bodyPr wrap="square" lIns="0" tIns="0" rIns="0" bIns="0" rtlCol="0" anchor="ctr"/>
          <a:lstStyle/>
          <a:p>
            <a:pPr marL="0" indent="0">
              <a:buNone/>
            </a:pPr>
            <a:r>
              <a:rPr lang="en-US" sz="800" dirty="0">
                <a:solidFill>
                  <a:srgbClr val="7A7A8A"/>
                </a:solidFill>
                <a:latin typeface="Georgia" pitchFamily="34" charset="0"/>
                <a:ea typeface="Georgia" pitchFamily="34" charset="-122"/>
                <a:cs typeface="Georgia" pitchFamily="34" charset="-120"/>
              </a:rPr>
              <a:t>Perdemos certeza gradualmente</a:t>
            </a:r>
            <a:endParaRPr lang="en-US" sz="800" dirty="0"/>
          </a:p>
        </p:txBody>
      </p:sp>
      <p:sp>
        <p:nvSpPr>
          <p:cNvPr id="13" name="Text 10"/>
          <p:cNvSpPr/>
          <p:nvPr/>
        </p:nvSpPr>
        <p:spPr>
          <a:xfrm>
            <a:off x="6400800" y="3114040"/>
            <a:ext cx="2103120" cy="182880"/>
          </a:xfrm>
          <a:prstGeom prst="rect">
            <a:avLst/>
          </a:prstGeom>
          <a:noFill/>
          <a:ln/>
        </p:spPr>
        <p:txBody>
          <a:bodyPr wrap="square" lIns="0" tIns="0" rIns="0" bIns="0" rtlCol="0" anchor="ctr"/>
          <a:lstStyle/>
          <a:p>
            <a:pPr marL="0" indent="0">
              <a:buNone/>
            </a:pPr>
            <a:r>
              <a:rPr lang="en-US" sz="900" b="1" dirty="0">
                <a:solidFill>
                  <a:srgbClr val="B8860B"/>
                </a:solidFill>
                <a:latin typeface="Georgia" pitchFamily="34" charset="0"/>
                <a:ea typeface="Georgia" pitchFamily="34" charset="-122"/>
                <a:cs typeface="Georgia" pitchFamily="34" charset="-120"/>
              </a:rPr>
              <a:t>PSR decrece</a:t>
            </a:r>
            <a:endParaRPr lang="en-US" sz="900" dirty="0"/>
          </a:p>
        </p:txBody>
      </p:sp>
      <p:sp>
        <p:nvSpPr>
          <p:cNvPr id="14" name="Text 11"/>
          <p:cNvSpPr/>
          <p:nvPr/>
        </p:nvSpPr>
        <p:spPr>
          <a:xfrm>
            <a:off x="6400800" y="3315208"/>
            <a:ext cx="2103120" cy="228600"/>
          </a:xfrm>
          <a:prstGeom prst="rect">
            <a:avLst/>
          </a:prstGeom>
          <a:noFill/>
          <a:ln/>
        </p:spPr>
        <p:txBody>
          <a:bodyPr wrap="square" lIns="0" tIns="0" rIns="0" bIns="0" rtlCol="0" anchor="ctr"/>
          <a:lstStyle/>
          <a:p>
            <a:pPr marL="0" indent="0">
              <a:buNone/>
            </a:pPr>
            <a:r>
              <a:rPr lang="en-US" sz="800" dirty="0">
                <a:solidFill>
                  <a:srgbClr val="7A7A8A"/>
                </a:solidFill>
                <a:latin typeface="Georgia" pitchFamily="34" charset="0"/>
                <a:ea typeface="Georgia" pitchFamily="34" charset="-122"/>
                <a:cs typeface="Georgia" pitchFamily="34" charset="-120"/>
              </a:rPr>
              <a:t>mu - 3·sigma baja</a:t>
            </a:r>
            <a:endParaRPr lang="en-US" sz="800" dirty="0"/>
          </a:p>
        </p:txBody>
      </p:sp>
      <p:sp>
        <p:nvSpPr>
          <p:cNvPr id="15" name="Text 12"/>
          <p:cNvSpPr/>
          <p:nvPr/>
        </p:nvSpPr>
        <p:spPr>
          <a:xfrm>
            <a:off x="6400800" y="3708400"/>
            <a:ext cx="2103120" cy="182880"/>
          </a:xfrm>
          <a:prstGeom prst="rect">
            <a:avLst/>
          </a:prstGeom>
          <a:noFill/>
          <a:ln/>
        </p:spPr>
        <p:txBody>
          <a:bodyPr wrap="square" lIns="0" tIns="0" rIns="0" bIns="0" rtlCol="0" anchor="ctr"/>
          <a:lstStyle/>
          <a:p>
            <a:pPr marL="0" indent="0">
              <a:buNone/>
            </a:pPr>
            <a:r>
              <a:rPr lang="en-US" sz="900" b="1" dirty="0">
                <a:solidFill>
                  <a:srgbClr val="2D6B6B"/>
                </a:solidFill>
                <a:latin typeface="Georgia" pitchFamily="34" charset="0"/>
                <a:ea typeface="Georgia" pitchFamily="34" charset="-122"/>
                <a:cs typeface="Georgia" pitchFamily="34" charset="-120"/>
              </a:rPr>
              <a:t>Recuperacion</a:t>
            </a:r>
            <a:endParaRPr lang="en-US" sz="900" dirty="0"/>
          </a:p>
        </p:txBody>
      </p:sp>
      <p:sp>
        <p:nvSpPr>
          <p:cNvPr id="16" name="Text 13"/>
          <p:cNvSpPr/>
          <p:nvPr/>
        </p:nvSpPr>
        <p:spPr>
          <a:xfrm>
            <a:off x="6400800" y="3909568"/>
            <a:ext cx="2103120" cy="228600"/>
          </a:xfrm>
          <a:prstGeom prst="rect">
            <a:avLst/>
          </a:prstGeom>
          <a:noFill/>
          <a:ln/>
        </p:spPr>
        <p:txBody>
          <a:bodyPr wrap="square" lIns="0" tIns="0" rIns="0" bIns="0" rtlCol="0" anchor="ctr"/>
          <a:lstStyle/>
          <a:p>
            <a:pPr marL="0" indent="0">
              <a:buNone/>
            </a:pPr>
            <a:r>
              <a:rPr lang="en-US" sz="800" dirty="0">
                <a:solidFill>
                  <a:srgbClr val="7A7A8A"/>
                </a:solidFill>
                <a:latin typeface="Georgia" pitchFamily="34" charset="0"/>
                <a:ea typeface="Georgia" pitchFamily="34" charset="-122"/>
                <a:cs typeface="Georgia" pitchFamily="34" charset="-120"/>
              </a:rPr>
              <a:t>1-2 eventos restauran certeza</a:t>
            </a:r>
            <a:endParaRPr lang="en-US" sz="800" dirty="0"/>
          </a:p>
        </p:txBody>
      </p:sp>
      <p:pic>
        <p:nvPicPr>
          <p:cNvPr id="21" name="Imagen 20">
            <a:extLst>
              <a:ext uri="{FF2B5EF4-FFF2-40B4-BE49-F238E27FC236}">
                <a16:creationId xmlns:a16="http://schemas.microsoft.com/office/drawing/2014/main" id="{B5235012-A693-88D3-7898-2D3657F13ED6}"/>
              </a:ext>
            </a:extLst>
          </p:cNvPr>
          <p:cNvPicPr>
            <a:picLocks noChangeAspect="1"/>
          </p:cNvPicPr>
          <p:nvPr/>
        </p:nvPicPr>
        <p:blipFill>
          <a:blip r:embed="rId4"/>
          <a:stretch>
            <a:fillRect/>
          </a:stretch>
        </p:blipFill>
        <p:spPr>
          <a:xfrm>
            <a:off x="6327655" y="198223"/>
            <a:ext cx="2249410" cy="82219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731520" y="411480"/>
            <a:ext cx="7680960" cy="594360"/>
          </a:xfrm>
          <a:prstGeom prst="rect">
            <a:avLst/>
          </a:prstGeom>
          <a:noFill/>
          <a:ln/>
        </p:spPr>
        <p:txBody>
          <a:bodyPr wrap="square" lIns="0" tIns="0" rIns="0" bIns="0" rtlCol="0" anchor="ctr"/>
          <a:lstStyle/>
          <a:p>
            <a:pPr marL="0" indent="0">
              <a:buNone/>
            </a:pPr>
            <a:r>
              <a:rPr lang="en-US" sz="2600" dirty="0">
                <a:solidFill>
                  <a:srgbClr val="2D2D3A"/>
                </a:solidFill>
                <a:latin typeface="Georgia" pitchFamily="34" charset="0"/>
                <a:ea typeface="Georgia" pitchFamily="34" charset="-122"/>
                <a:cs typeface="Georgia" pitchFamily="34" charset="-120"/>
              </a:rPr>
              <a:t>Fortaleza del lobby</a:t>
            </a:r>
            <a:endParaRPr lang="en-US" sz="2600" dirty="0"/>
          </a:p>
        </p:txBody>
      </p:sp>
      <p:sp>
        <p:nvSpPr>
          <p:cNvPr id="3" name="Shape 1"/>
          <p:cNvSpPr/>
          <p:nvPr/>
        </p:nvSpPr>
        <p:spPr>
          <a:xfrm>
            <a:off x="731520" y="1051560"/>
            <a:ext cx="914400" cy="18288"/>
          </a:xfrm>
          <a:prstGeom prst="rect">
            <a:avLst/>
          </a:prstGeom>
          <a:solidFill>
            <a:srgbClr val="C4956A"/>
          </a:solidFill>
          <a:ln/>
        </p:spPr>
        <p:txBody>
          <a:bodyPr/>
          <a:lstStyle/>
          <a:p>
            <a:endParaRPr lang="es-MX"/>
          </a:p>
        </p:txBody>
      </p:sp>
      <p:sp>
        <p:nvSpPr>
          <p:cNvPr id="4" name="Text 2"/>
          <p:cNvSpPr/>
          <p:nvPr/>
        </p:nvSpPr>
        <p:spPr>
          <a:xfrm>
            <a:off x="731520" y="1188720"/>
            <a:ext cx="3657600" cy="228600"/>
          </a:xfrm>
          <a:prstGeom prst="rect">
            <a:avLst/>
          </a:prstGeom>
          <a:noFill/>
          <a:ln/>
        </p:spPr>
        <p:txBody>
          <a:bodyPr wrap="square" lIns="0" tIns="0" rIns="0" bIns="0" rtlCol="0" anchor="ctr"/>
          <a:lstStyle/>
          <a:p>
            <a:pPr marL="0" indent="0">
              <a:buNone/>
            </a:pPr>
            <a:r>
              <a:rPr lang="en-US" sz="800" kern="0" spc="300" dirty="0">
                <a:solidFill>
                  <a:srgbClr val="7A7A8A"/>
                </a:solidFill>
                <a:latin typeface="Georgia" pitchFamily="34" charset="0"/>
                <a:ea typeface="Georgia" pitchFamily="34" charset="-122"/>
                <a:cs typeface="Georgia" pitchFamily="34" charset="-120"/>
              </a:rPr>
              <a:t>LA CALIDAD DE LOS RIVALES AFECTA LA EVIDENCIA</a:t>
            </a:r>
            <a:endParaRPr lang="en-US" sz="800" dirty="0"/>
          </a:p>
        </p:txBody>
      </p:sp>
      <p:sp>
        <p:nvSpPr>
          <p:cNvPr id="5" name="Shape 3"/>
          <p:cNvSpPr/>
          <p:nvPr/>
        </p:nvSpPr>
        <p:spPr>
          <a:xfrm>
            <a:off x="731520" y="1463040"/>
            <a:ext cx="3657600" cy="274320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6" name="Shape 4"/>
          <p:cNvSpPr/>
          <p:nvPr/>
        </p:nvSpPr>
        <p:spPr>
          <a:xfrm>
            <a:off x="731520" y="1463040"/>
            <a:ext cx="32004" cy="2743200"/>
          </a:xfrm>
          <a:prstGeom prst="rect">
            <a:avLst/>
          </a:prstGeom>
          <a:solidFill>
            <a:srgbClr val="6B2D5B"/>
          </a:solidFill>
          <a:ln/>
        </p:spPr>
        <p:txBody>
          <a:bodyPr/>
          <a:lstStyle/>
          <a:p>
            <a:endParaRPr lang="es-MX"/>
          </a:p>
        </p:txBody>
      </p:sp>
      <p:sp>
        <p:nvSpPr>
          <p:cNvPr id="7" name="Text 5"/>
          <p:cNvSpPr/>
          <p:nvPr/>
        </p:nvSpPr>
        <p:spPr>
          <a:xfrm>
            <a:off x="914400" y="1554480"/>
            <a:ext cx="3291840" cy="274320"/>
          </a:xfrm>
          <a:prstGeom prst="rect">
            <a:avLst/>
          </a:prstGeom>
          <a:noFill/>
          <a:ln/>
        </p:spPr>
        <p:txBody>
          <a:bodyPr wrap="square" lIns="0" tIns="0" rIns="0" bIns="0" rtlCol="0" anchor="ctr"/>
          <a:lstStyle/>
          <a:p>
            <a:pPr marL="0" indent="0">
              <a:buNone/>
            </a:pPr>
            <a:r>
              <a:rPr lang="en-US" sz="1200" b="1" dirty="0">
                <a:solidFill>
                  <a:srgbClr val="6B2D5B"/>
                </a:solidFill>
                <a:latin typeface="Georgia" pitchFamily="34" charset="0"/>
                <a:ea typeface="Georgia" pitchFamily="34" charset="-122"/>
                <a:cs typeface="Georgia" pitchFamily="34" charset="-120"/>
              </a:rPr>
              <a:t>Lobby competitivo</a:t>
            </a:r>
            <a:endParaRPr lang="en-US" sz="1200" dirty="0"/>
          </a:p>
        </p:txBody>
      </p:sp>
      <p:sp>
        <p:nvSpPr>
          <p:cNvPr id="8" name="Text 6"/>
          <p:cNvSpPr/>
          <p:nvPr/>
        </p:nvSpPr>
        <p:spPr>
          <a:xfrm>
            <a:off x="914400" y="1828800"/>
            <a:ext cx="3291840" cy="182880"/>
          </a:xfrm>
          <a:prstGeom prst="rect">
            <a:avLst/>
          </a:prstGeom>
          <a:noFill/>
          <a:ln/>
        </p:spPr>
        <p:txBody>
          <a:bodyPr wrap="square" lIns="0" tIns="0" rIns="0" bIns="0" rtlCol="0" anchor="ctr"/>
          <a:lstStyle/>
          <a:p>
            <a:pPr marL="0" indent="0">
              <a:buNone/>
            </a:pPr>
            <a:r>
              <a:rPr lang="en-US" sz="900" dirty="0">
                <a:solidFill>
                  <a:srgbClr val="7A7A8A"/>
                </a:solidFill>
                <a:latin typeface="Georgia" pitchFamily="34" charset="0"/>
                <a:ea typeface="Georgia" pitchFamily="34" charset="-122"/>
                <a:cs typeface="Georgia" pitchFamily="34" charset="-120"/>
              </a:rPr>
              <a:t>16 equipos PRO y Amateur</a:t>
            </a:r>
            <a:endParaRPr lang="en-US" sz="900" dirty="0"/>
          </a:p>
        </p:txBody>
      </p:sp>
      <p:sp>
        <p:nvSpPr>
          <p:cNvPr id="9" name="Shape 7"/>
          <p:cNvSpPr/>
          <p:nvPr/>
        </p:nvSpPr>
        <p:spPr>
          <a:xfrm>
            <a:off x="1005840" y="2194560"/>
            <a:ext cx="256032" cy="256032"/>
          </a:xfrm>
          <a:prstGeom prst="ellipse">
            <a:avLst/>
          </a:prstGeom>
          <a:solidFill>
            <a:srgbClr val="6B2D5B"/>
          </a:solidFill>
          <a:ln/>
        </p:spPr>
        <p:txBody>
          <a:bodyPr/>
          <a:lstStyle/>
          <a:p>
            <a:endParaRPr lang="es-MX"/>
          </a:p>
        </p:txBody>
      </p:sp>
      <p:sp>
        <p:nvSpPr>
          <p:cNvPr id="10" name="Shape 8"/>
          <p:cNvSpPr/>
          <p:nvPr/>
        </p:nvSpPr>
        <p:spPr>
          <a:xfrm>
            <a:off x="1389888" y="2194560"/>
            <a:ext cx="256032" cy="256032"/>
          </a:xfrm>
          <a:prstGeom prst="ellipse">
            <a:avLst/>
          </a:prstGeom>
          <a:solidFill>
            <a:srgbClr val="6B2D5B"/>
          </a:solidFill>
          <a:ln/>
        </p:spPr>
        <p:txBody>
          <a:bodyPr/>
          <a:lstStyle/>
          <a:p>
            <a:endParaRPr lang="es-MX"/>
          </a:p>
        </p:txBody>
      </p:sp>
      <p:sp>
        <p:nvSpPr>
          <p:cNvPr id="11" name="Shape 9"/>
          <p:cNvSpPr/>
          <p:nvPr/>
        </p:nvSpPr>
        <p:spPr>
          <a:xfrm>
            <a:off x="1773936" y="2194560"/>
            <a:ext cx="256032" cy="256032"/>
          </a:xfrm>
          <a:prstGeom prst="ellipse">
            <a:avLst/>
          </a:prstGeom>
          <a:solidFill>
            <a:srgbClr val="6B2D5B"/>
          </a:solidFill>
          <a:ln/>
        </p:spPr>
        <p:txBody>
          <a:bodyPr/>
          <a:lstStyle/>
          <a:p>
            <a:endParaRPr lang="es-MX"/>
          </a:p>
        </p:txBody>
      </p:sp>
      <p:sp>
        <p:nvSpPr>
          <p:cNvPr id="12" name="Shape 10"/>
          <p:cNvSpPr/>
          <p:nvPr/>
        </p:nvSpPr>
        <p:spPr>
          <a:xfrm>
            <a:off x="2157984" y="2194560"/>
            <a:ext cx="256032" cy="256032"/>
          </a:xfrm>
          <a:prstGeom prst="ellipse">
            <a:avLst/>
          </a:prstGeom>
          <a:solidFill>
            <a:srgbClr val="6B2D5B"/>
          </a:solidFill>
          <a:ln/>
        </p:spPr>
        <p:txBody>
          <a:bodyPr/>
          <a:lstStyle/>
          <a:p>
            <a:endParaRPr lang="es-MX"/>
          </a:p>
        </p:txBody>
      </p:sp>
      <p:sp>
        <p:nvSpPr>
          <p:cNvPr id="13" name="Shape 11"/>
          <p:cNvSpPr/>
          <p:nvPr/>
        </p:nvSpPr>
        <p:spPr>
          <a:xfrm>
            <a:off x="2542032" y="2194560"/>
            <a:ext cx="256032" cy="256032"/>
          </a:xfrm>
          <a:prstGeom prst="ellipse">
            <a:avLst/>
          </a:prstGeom>
          <a:solidFill>
            <a:srgbClr val="6B2D5B"/>
          </a:solidFill>
          <a:ln/>
        </p:spPr>
        <p:txBody>
          <a:bodyPr/>
          <a:lstStyle/>
          <a:p>
            <a:endParaRPr lang="es-MX"/>
          </a:p>
        </p:txBody>
      </p:sp>
      <p:sp>
        <p:nvSpPr>
          <p:cNvPr id="14" name="Shape 12"/>
          <p:cNvSpPr/>
          <p:nvPr/>
        </p:nvSpPr>
        <p:spPr>
          <a:xfrm>
            <a:off x="2926080" y="2194560"/>
            <a:ext cx="256032" cy="256032"/>
          </a:xfrm>
          <a:prstGeom prst="ellipse">
            <a:avLst/>
          </a:prstGeom>
          <a:solidFill>
            <a:srgbClr val="6B2D5B"/>
          </a:solidFill>
          <a:ln/>
        </p:spPr>
        <p:txBody>
          <a:bodyPr/>
          <a:lstStyle/>
          <a:p>
            <a:endParaRPr lang="es-MX"/>
          </a:p>
        </p:txBody>
      </p:sp>
      <p:sp>
        <p:nvSpPr>
          <p:cNvPr id="15" name="Shape 13"/>
          <p:cNvSpPr/>
          <p:nvPr/>
        </p:nvSpPr>
        <p:spPr>
          <a:xfrm>
            <a:off x="3310128" y="2194560"/>
            <a:ext cx="256032" cy="256032"/>
          </a:xfrm>
          <a:prstGeom prst="ellipse">
            <a:avLst/>
          </a:prstGeom>
          <a:solidFill>
            <a:srgbClr val="6B2D5B"/>
          </a:solidFill>
          <a:ln/>
        </p:spPr>
        <p:txBody>
          <a:bodyPr/>
          <a:lstStyle/>
          <a:p>
            <a:endParaRPr lang="es-MX"/>
          </a:p>
        </p:txBody>
      </p:sp>
      <p:sp>
        <p:nvSpPr>
          <p:cNvPr id="16" name="Shape 14"/>
          <p:cNvSpPr/>
          <p:nvPr/>
        </p:nvSpPr>
        <p:spPr>
          <a:xfrm>
            <a:off x="3694176" y="2194560"/>
            <a:ext cx="256032" cy="256032"/>
          </a:xfrm>
          <a:prstGeom prst="ellipse">
            <a:avLst/>
          </a:prstGeom>
          <a:solidFill>
            <a:srgbClr val="6B2D5B"/>
          </a:solidFill>
          <a:ln/>
        </p:spPr>
        <p:txBody>
          <a:bodyPr/>
          <a:lstStyle/>
          <a:p>
            <a:endParaRPr lang="es-MX"/>
          </a:p>
        </p:txBody>
      </p:sp>
      <p:sp>
        <p:nvSpPr>
          <p:cNvPr id="17" name="Shape 15"/>
          <p:cNvSpPr/>
          <p:nvPr/>
        </p:nvSpPr>
        <p:spPr>
          <a:xfrm>
            <a:off x="1005840" y="2560320"/>
            <a:ext cx="256032" cy="256032"/>
          </a:xfrm>
          <a:prstGeom prst="ellipse">
            <a:avLst/>
          </a:prstGeom>
          <a:solidFill>
            <a:srgbClr val="6B2D5B"/>
          </a:solidFill>
          <a:ln/>
        </p:spPr>
        <p:txBody>
          <a:bodyPr/>
          <a:lstStyle/>
          <a:p>
            <a:endParaRPr lang="es-MX"/>
          </a:p>
        </p:txBody>
      </p:sp>
      <p:sp>
        <p:nvSpPr>
          <p:cNvPr id="18" name="Shape 16"/>
          <p:cNvSpPr/>
          <p:nvPr/>
        </p:nvSpPr>
        <p:spPr>
          <a:xfrm>
            <a:off x="1389888" y="2560320"/>
            <a:ext cx="256032" cy="256032"/>
          </a:xfrm>
          <a:prstGeom prst="ellipse">
            <a:avLst/>
          </a:prstGeom>
          <a:solidFill>
            <a:srgbClr val="6B2D5B"/>
          </a:solidFill>
          <a:ln/>
        </p:spPr>
        <p:txBody>
          <a:bodyPr/>
          <a:lstStyle/>
          <a:p>
            <a:endParaRPr lang="es-MX"/>
          </a:p>
        </p:txBody>
      </p:sp>
      <p:sp>
        <p:nvSpPr>
          <p:cNvPr id="19" name="Shape 17"/>
          <p:cNvSpPr/>
          <p:nvPr/>
        </p:nvSpPr>
        <p:spPr>
          <a:xfrm>
            <a:off x="1773936" y="2560320"/>
            <a:ext cx="256032" cy="256032"/>
          </a:xfrm>
          <a:prstGeom prst="ellipse">
            <a:avLst/>
          </a:prstGeom>
          <a:solidFill>
            <a:srgbClr val="2D6B6B"/>
          </a:solidFill>
          <a:ln/>
        </p:spPr>
        <p:txBody>
          <a:bodyPr/>
          <a:lstStyle/>
          <a:p>
            <a:endParaRPr lang="es-MX"/>
          </a:p>
        </p:txBody>
      </p:sp>
      <p:sp>
        <p:nvSpPr>
          <p:cNvPr id="20" name="Shape 18"/>
          <p:cNvSpPr/>
          <p:nvPr/>
        </p:nvSpPr>
        <p:spPr>
          <a:xfrm>
            <a:off x="2157984" y="2560320"/>
            <a:ext cx="256032" cy="256032"/>
          </a:xfrm>
          <a:prstGeom prst="ellipse">
            <a:avLst/>
          </a:prstGeom>
          <a:solidFill>
            <a:srgbClr val="2D6B6B"/>
          </a:solidFill>
          <a:ln/>
        </p:spPr>
        <p:txBody>
          <a:bodyPr/>
          <a:lstStyle/>
          <a:p>
            <a:endParaRPr lang="es-MX"/>
          </a:p>
        </p:txBody>
      </p:sp>
      <p:sp>
        <p:nvSpPr>
          <p:cNvPr id="21" name="Shape 19"/>
          <p:cNvSpPr/>
          <p:nvPr/>
        </p:nvSpPr>
        <p:spPr>
          <a:xfrm>
            <a:off x="2542032" y="2560320"/>
            <a:ext cx="256032" cy="256032"/>
          </a:xfrm>
          <a:prstGeom prst="ellipse">
            <a:avLst/>
          </a:prstGeom>
          <a:solidFill>
            <a:srgbClr val="2D6B6B"/>
          </a:solidFill>
          <a:ln/>
        </p:spPr>
        <p:txBody>
          <a:bodyPr/>
          <a:lstStyle/>
          <a:p>
            <a:endParaRPr lang="es-MX"/>
          </a:p>
        </p:txBody>
      </p:sp>
      <p:sp>
        <p:nvSpPr>
          <p:cNvPr id="22" name="Shape 20"/>
          <p:cNvSpPr/>
          <p:nvPr/>
        </p:nvSpPr>
        <p:spPr>
          <a:xfrm>
            <a:off x="2926080" y="2560320"/>
            <a:ext cx="256032" cy="256032"/>
          </a:xfrm>
          <a:prstGeom prst="ellipse">
            <a:avLst/>
          </a:prstGeom>
          <a:solidFill>
            <a:srgbClr val="2D6B6B"/>
          </a:solidFill>
          <a:ln/>
        </p:spPr>
        <p:txBody>
          <a:bodyPr/>
          <a:lstStyle/>
          <a:p>
            <a:endParaRPr lang="es-MX"/>
          </a:p>
        </p:txBody>
      </p:sp>
      <p:sp>
        <p:nvSpPr>
          <p:cNvPr id="23" name="Shape 21"/>
          <p:cNvSpPr/>
          <p:nvPr/>
        </p:nvSpPr>
        <p:spPr>
          <a:xfrm>
            <a:off x="3310128" y="2560320"/>
            <a:ext cx="256032" cy="256032"/>
          </a:xfrm>
          <a:prstGeom prst="ellipse">
            <a:avLst/>
          </a:prstGeom>
          <a:solidFill>
            <a:srgbClr val="2D6B6B"/>
          </a:solidFill>
          <a:ln/>
        </p:spPr>
        <p:txBody>
          <a:bodyPr/>
          <a:lstStyle/>
          <a:p>
            <a:endParaRPr lang="es-MX"/>
          </a:p>
        </p:txBody>
      </p:sp>
      <p:sp>
        <p:nvSpPr>
          <p:cNvPr id="24" name="Shape 22"/>
          <p:cNvSpPr/>
          <p:nvPr/>
        </p:nvSpPr>
        <p:spPr>
          <a:xfrm>
            <a:off x="3694176" y="2560320"/>
            <a:ext cx="256032" cy="256032"/>
          </a:xfrm>
          <a:prstGeom prst="ellipse">
            <a:avLst/>
          </a:prstGeom>
          <a:solidFill>
            <a:srgbClr val="2D6B6B"/>
          </a:solidFill>
          <a:ln/>
        </p:spPr>
        <p:txBody>
          <a:bodyPr/>
          <a:lstStyle/>
          <a:p>
            <a:endParaRPr lang="es-MX"/>
          </a:p>
        </p:txBody>
      </p:sp>
      <p:sp>
        <p:nvSpPr>
          <p:cNvPr id="25" name="Text 23"/>
          <p:cNvSpPr/>
          <p:nvPr/>
        </p:nvSpPr>
        <p:spPr>
          <a:xfrm>
            <a:off x="914400" y="3108960"/>
            <a:ext cx="3291840" cy="182880"/>
          </a:xfrm>
          <a:prstGeom prst="rect">
            <a:avLst/>
          </a:prstGeom>
          <a:noFill/>
          <a:ln/>
        </p:spPr>
        <p:txBody>
          <a:bodyPr wrap="square" lIns="0" tIns="0" rIns="0" bIns="0" rtlCol="0" anchor="ctr"/>
          <a:lstStyle/>
          <a:p>
            <a:pPr marL="0" indent="0">
              <a:buNone/>
            </a:pPr>
            <a:r>
              <a:rPr lang="en-US" sz="1000" b="1" dirty="0">
                <a:solidFill>
                  <a:srgbClr val="2D2D3A"/>
                </a:solidFill>
                <a:latin typeface="Georgia" pitchFamily="34" charset="0"/>
                <a:ea typeface="Georgia" pitchFamily="34" charset="-122"/>
                <a:cs typeface="Georgia" pitchFamily="34" charset="-120"/>
              </a:rPr>
              <a:t>Victoria aqui: evidencia fuerte</a:t>
            </a:r>
            <a:endParaRPr lang="en-US" sz="1000" dirty="0"/>
          </a:p>
        </p:txBody>
      </p:sp>
      <p:sp>
        <p:nvSpPr>
          <p:cNvPr id="26" name="Text 24"/>
          <p:cNvSpPr/>
          <p:nvPr/>
        </p:nvSpPr>
        <p:spPr>
          <a:xfrm>
            <a:off x="914400" y="3337560"/>
            <a:ext cx="3291840" cy="182880"/>
          </a:xfrm>
          <a:prstGeom prst="rect">
            <a:avLst/>
          </a:prstGeom>
          <a:noFill/>
          <a:ln/>
        </p:spPr>
        <p:txBody>
          <a:bodyPr wrap="square" lIns="0" tIns="0" rIns="0" bIns="0" rtlCol="0" anchor="ctr"/>
          <a:lstStyle/>
          <a:p>
            <a:pPr marL="0" indent="0">
              <a:buNone/>
            </a:pPr>
            <a:r>
              <a:rPr lang="en-US" sz="900" i="1" dirty="0">
                <a:solidFill>
                  <a:srgbClr val="7A7A8A"/>
                </a:solidFill>
                <a:latin typeface="Georgia" pitchFamily="34" charset="0"/>
                <a:ea typeface="Georgia" pitchFamily="34" charset="-122"/>
                <a:cs typeface="Georgia" pitchFamily="34" charset="-120"/>
              </a:rPr>
              <a:t>mu sube significativamente, sigma baja mas rapido</a:t>
            </a:r>
            <a:endParaRPr lang="en-US" sz="900" dirty="0"/>
          </a:p>
        </p:txBody>
      </p:sp>
      <p:sp>
        <p:nvSpPr>
          <p:cNvPr id="27" name="Shape 25"/>
          <p:cNvSpPr/>
          <p:nvPr/>
        </p:nvSpPr>
        <p:spPr>
          <a:xfrm>
            <a:off x="4754880" y="1463040"/>
            <a:ext cx="3657600" cy="2743200"/>
          </a:xfrm>
          <a:prstGeom prst="rect">
            <a:avLst/>
          </a:prstGeom>
          <a:solidFill>
            <a:srgbClr val="FFFFFF"/>
          </a:solidFill>
          <a:ln/>
          <a:effectLst>
            <a:outerShdw blurRad="101600" dist="25400" dir="8100000" algn="bl" rotWithShape="0">
              <a:srgbClr val="000000">
                <a:alpha val="6000"/>
              </a:srgbClr>
            </a:outerShdw>
          </a:effectLst>
        </p:spPr>
        <p:txBody>
          <a:bodyPr/>
          <a:lstStyle/>
          <a:p>
            <a:endParaRPr lang="es-MX"/>
          </a:p>
        </p:txBody>
      </p:sp>
      <p:sp>
        <p:nvSpPr>
          <p:cNvPr id="28" name="Shape 26"/>
          <p:cNvSpPr/>
          <p:nvPr/>
        </p:nvSpPr>
        <p:spPr>
          <a:xfrm>
            <a:off x="4754880" y="1463040"/>
            <a:ext cx="32004" cy="2743200"/>
          </a:xfrm>
          <a:prstGeom prst="rect">
            <a:avLst/>
          </a:prstGeom>
          <a:solidFill>
            <a:srgbClr val="4A5568"/>
          </a:solidFill>
          <a:ln/>
        </p:spPr>
        <p:txBody>
          <a:bodyPr/>
          <a:lstStyle/>
          <a:p>
            <a:endParaRPr lang="es-MX"/>
          </a:p>
        </p:txBody>
      </p:sp>
      <p:sp>
        <p:nvSpPr>
          <p:cNvPr id="29" name="Text 27"/>
          <p:cNvSpPr/>
          <p:nvPr/>
        </p:nvSpPr>
        <p:spPr>
          <a:xfrm>
            <a:off x="4937760" y="1554480"/>
            <a:ext cx="3291840" cy="274320"/>
          </a:xfrm>
          <a:prstGeom prst="rect">
            <a:avLst/>
          </a:prstGeom>
          <a:noFill/>
          <a:ln/>
        </p:spPr>
        <p:txBody>
          <a:bodyPr wrap="square" lIns="0" tIns="0" rIns="0" bIns="0" rtlCol="0" anchor="ctr"/>
          <a:lstStyle/>
          <a:p>
            <a:pPr marL="0" indent="0">
              <a:buNone/>
            </a:pPr>
            <a:r>
              <a:rPr lang="en-US" sz="1200" b="1" dirty="0">
                <a:solidFill>
                  <a:srgbClr val="4A5568"/>
                </a:solidFill>
                <a:latin typeface="Georgia" pitchFamily="34" charset="0"/>
                <a:ea typeface="Georgia" pitchFamily="34" charset="-122"/>
                <a:cs typeface="Georgia" pitchFamily="34" charset="-120"/>
              </a:rPr>
              <a:t>Lobby de calibracion</a:t>
            </a:r>
            <a:endParaRPr lang="en-US" sz="1200" dirty="0"/>
          </a:p>
        </p:txBody>
      </p:sp>
      <p:sp>
        <p:nvSpPr>
          <p:cNvPr id="30" name="Text 28"/>
          <p:cNvSpPr/>
          <p:nvPr/>
        </p:nvSpPr>
        <p:spPr>
          <a:xfrm>
            <a:off x="4937760" y="1828800"/>
            <a:ext cx="3291840" cy="182880"/>
          </a:xfrm>
          <a:prstGeom prst="rect">
            <a:avLst/>
          </a:prstGeom>
          <a:noFill/>
          <a:ln/>
        </p:spPr>
        <p:txBody>
          <a:bodyPr wrap="square" lIns="0" tIns="0" rIns="0" bIns="0" rtlCol="0" anchor="ctr"/>
          <a:lstStyle/>
          <a:p>
            <a:pPr marL="0" indent="0">
              <a:buNone/>
            </a:pPr>
            <a:r>
              <a:rPr lang="en-US" sz="900" dirty="0">
                <a:solidFill>
                  <a:srgbClr val="7A7A8A"/>
                </a:solidFill>
                <a:latin typeface="Georgia" pitchFamily="34" charset="0"/>
                <a:ea typeface="Georgia" pitchFamily="34" charset="-122"/>
                <a:cs typeface="Georgia" pitchFamily="34" charset="-120"/>
              </a:rPr>
              <a:t>10 equipos nuevos o en calibracion</a:t>
            </a:r>
            <a:endParaRPr lang="en-US" sz="900" dirty="0"/>
          </a:p>
        </p:txBody>
      </p:sp>
      <p:sp>
        <p:nvSpPr>
          <p:cNvPr id="31" name="Shape 29"/>
          <p:cNvSpPr/>
          <p:nvPr/>
        </p:nvSpPr>
        <p:spPr>
          <a:xfrm>
            <a:off x="5029200" y="2194560"/>
            <a:ext cx="256032" cy="256032"/>
          </a:xfrm>
          <a:prstGeom prst="ellipse">
            <a:avLst/>
          </a:prstGeom>
          <a:solidFill>
            <a:srgbClr val="D4CFC7"/>
          </a:solidFill>
          <a:ln/>
        </p:spPr>
        <p:txBody>
          <a:bodyPr/>
          <a:lstStyle/>
          <a:p>
            <a:endParaRPr lang="es-MX"/>
          </a:p>
        </p:txBody>
      </p:sp>
      <p:sp>
        <p:nvSpPr>
          <p:cNvPr id="32" name="Shape 30"/>
          <p:cNvSpPr/>
          <p:nvPr/>
        </p:nvSpPr>
        <p:spPr>
          <a:xfrm>
            <a:off x="5486400" y="2194560"/>
            <a:ext cx="256032" cy="256032"/>
          </a:xfrm>
          <a:prstGeom prst="ellipse">
            <a:avLst/>
          </a:prstGeom>
          <a:solidFill>
            <a:srgbClr val="D4CFC7"/>
          </a:solidFill>
          <a:ln/>
        </p:spPr>
        <p:txBody>
          <a:bodyPr/>
          <a:lstStyle/>
          <a:p>
            <a:endParaRPr lang="es-MX"/>
          </a:p>
        </p:txBody>
      </p:sp>
      <p:sp>
        <p:nvSpPr>
          <p:cNvPr id="33" name="Shape 31"/>
          <p:cNvSpPr/>
          <p:nvPr/>
        </p:nvSpPr>
        <p:spPr>
          <a:xfrm>
            <a:off x="5943600" y="2194560"/>
            <a:ext cx="256032" cy="256032"/>
          </a:xfrm>
          <a:prstGeom prst="ellipse">
            <a:avLst/>
          </a:prstGeom>
          <a:solidFill>
            <a:srgbClr val="D4CFC7"/>
          </a:solidFill>
          <a:ln/>
        </p:spPr>
        <p:txBody>
          <a:bodyPr/>
          <a:lstStyle/>
          <a:p>
            <a:endParaRPr lang="es-MX"/>
          </a:p>
        </p:txBody>
      </p:sp>
      <p:sp>
        <p:nvSpPr>
          <p:cNvPr id="34" name="Shape 32"/>
          <p:cNvSpPr/>
          <p:nvPr/>
        </p:nvSpPr>
        <p:spPr>
          <a:xfrm>
            <a:off x="6400800" y="2194560"/>
            <a:ext cx="256032" cy="256032"/>
          </a:xfrm>
          <a:prstGeom prst="ellipse">
            <a:avLst/>
          </a:prstGeom>
          <a:solidFill>
            <a:srgbClr val="D4CFC7"/>
          </a:solidFill>
          <a:ln/>
        </p:spPr>
        <p:txBody>
          <a:bodyPr/>
          <a:lstStyle/>
          <a:p>
            <a:endParaRPr lang="es-MX"/>
          </a:p>
        </p:txBody>
      </p:sp>
      <p:sp>
        <p:nvSpPr>
          <p:cNvPr id="35" name="Shape 33"/>
          <p:cNvSpPr/>
          <p:nvPr/>
        </p:nvSpPr>
        <p:spPr>
          <a:xfrm>
            <a:off x="6858000" y="2194560"/>
            <a:ext cx="256032" cy="256032"/>
          </a:xfrm>
          <a:prstGeom prst="ellipse">
            <a:avLst/>
          </a:prstGeom>
          <a:solidFill>
            <a:srgbClr val="D4CFC7"/>
          </a:solidFill>
          <a:ln/>
        </p:spPr>
        <p:txBody>
          <a:bodyPr/>
          <a:lstStyle/>
          <a:p>
            <a:endParaRPr lang="es-MX"/>
          </a:p>
        </p:txBody>
      </p:sp>
      <p:sp>
        <p:nvSpPr>
          <p:cNvPr id="36" name="Shape 34"/>
          <p:cNvSpPr/>
          <p:nvPr/>
        </p:nvSpPr>
        <p:spPr>
          <a:xfrm>
            <a:off x="5029200" y="2560320"/>
            <a:ext cx="256032" cy="256032"/>
          </a:xfrm>
          <a:prstGeom prst="ellipse">
            <a:avLst/>
          </a:prstGeom>
          <a:solidFill>
            <a:srgbClr val="D4CFC7"/>
          </a:solidFill>
          <a:ln/>
        </p:spPr>
        <p:txBody>
          <a:bodyPr/>
          <a:lstStyle/>
          <a:p>
            <a:endParaRPr lang="es-MX"/>
          </a:p>
        </p:txBody>
      </p:sp>
      <p:sp>
        <p:nvSpPr>
          <p:cNvPr id="37" name="Shape 35"/>
          <p:cNvSpPr/>
          <p:nvPr/>
        </p:nvSpPr>
        <p:spPr>
          <a:xfrm>
            <a:off x="5486400" y="2560320"/>
            <a:ext cx="256032" cy="256032"/>
          </a:xfrm>
          <a:prstGeom prst="ellipse">
            <a:avLst/>
          </a:prstGeom>
          <a:solidFill>
            <a:srgbClr val="D4CFC7"/>
          </a:solidFill>
          <a:ln/>
        </p:spPr>
        <p:txBody>
          <a:bodyPr/>
          <a:lstStyle/>
          <a:p>
            <a:endParaRPr lang="es-MX"/>
          </a:p>
        </p:txBody>
      </p:sp>
      <p:sp>
        <p:nvSpPr>
          <p:cNvPr id="38" name="Shape 36"/>
          <p:cNvSpPr/>
          <p:nvPr/>
        </p:nvSpPr>
        <p:spPr>
          <a:xfrm>
            <a:off x="5943600" y="2560320"/>
            <a:ext cx="256032" cy="256032"/>
          </a:xfrm>
          <a:prstGeom prst="ellipse">
            <a:avLst/>
          </a:prstGeom>
          <a:solidFill>
            <a:srgbClr val="D4CFC7"/>
          </a:solidFill>
          <a:ln/>
        </p:spPr>
        <p:txBody>
          <a:bodyPr/>
          <a:lstStyle/>
          <a:p>
            <a:endParaRPr lang="es-MX"/>
          </a:p>
        </p:txBody>
      </p:sp>
      <p:sp>
        <p:nvSpPr>
          <p:cNvPr id="39" name="Shape 37"/>
          <p:cNvSpPr/>
          <p:nvPr/>
        </p:nvSpPr>
        <p:spPr>
          <a:xfrm>
            <a:off x="6400800" y="2560320"/>
            <a:ext cx="256032" cy="256032"/>
          </a:xfrm>
          <a:prstGeom prst="ellipse">
            <a:avLst/>
          </a:prstGeom>
          <a:solidFill>
            <a:srgbClr val="D4CFC7"/>
          </a:solidFill>
          <a:ln/>
        </p:spPr>
        <p:txBody>
          <a:bodyPr/>
          <a:lstStyle/>
          <a:p>
            <a:endParaRPr lang="es-MX"/>
          </a:p>
        </p:txBody>
      </p:sp>
      <p:sp>
        <p:nvSpPr>
          <p:cNvPr id="40" name="Shape 38"/>
          <p:cNvSpPr/>
          <p:nvPr/>
        </p:nvSpPr>
        <p:spPr>
          <a:xfrm>
            <a:off x="6858000" y="2560320"/>
            <a:ext cx="256032" cy="256032"/>
          </a:xfrm>
          <a:prstGeom prst="ellipse">
            <a:avLst/>
          </a:prstGeom>
          <a:solidFill>
            <a:srgbClr val="D4CFC7"/>
          </a:solidFill>
          <a:ln/>
        </p:spPr>
        <p:txBody>
          <a:bodyPr/>
          <a:lstStyle/>
          <a:p>
            <a:endParaRPr lang="es-MX"/>
          </a:p>
        </p:txBody>
      </p:sp>
      <p:sp>
        <p:nvSpPr>
          <p:cNvPr id="41" name="Text 39"/>
          <p:cNvSpPr/>
          <p:nvPr/>
        </p:nvSpPr>
        <p:spPr>
          <a:xfrm>
            <a:off x="4937760" y="3108960"/>
            <a:ext cx="3291840" cy="182880"/>
          </a:xfrm>
          <a:prstGeom prst="rect">
            <a:avLst/>
          </a:prstGeom>
          <a:noFill/>
          <a:ln/>
        </p:spPr>
        <p:txBody>
          <a:bodyPr wrap="square" lIns="0" tIns="0" rIns="0" bIns="0" rtlCol="0" anchor="ctr"/>
          <a:lstStyle/>
          <a:p>
            <a:pPr marL="0" indent="0">
              <a:buNone/>
            </a:pPr>
            <a:r>
              <a:rPr lang="en-US" sz="1000" b="1" dirty="0">
                <a:solidFill>
                  <a:srgbClr val="2D2D3A"/>
                </a:solidFill>
                <a:latin typeface="Georgia" pitchFamily="34" charset="0"/>
                <a:ea typeface="Georgia" pitchFamily="34" charset="-122"/>
                <a:cs typeface="Georgia" pitchFamily="34" charset="-120"/>
              </a:rPr>
              <a:t>Victoria aqui: evidencia limitada</a:t>
            </a:r>
            <a:endParaRPr lang="en-US" sz="1000" dirty="0"/>
          </a:p>
        </p:txBody>
      </p:sp>
      <p:sp>
        <p:nvSpPr>
          <p:cNvPr id="42" name="Text 40"/>
          <p:cNvSpPr/>
          <p:nvPr/>
        </p:nvSpPr>
        <p:spPr>
          <a:xfrm>
            <a:off x="4937760" y="3337560"/>
            <a:ext cx="3291840" cy="182880"/>
          </a:xfrm>
          <a:prstGeom prst="rect">
            <a:avLst/>
          </a:prstGeom>
          <a:noFill/>
          <a:ln/>
        </p:spPr>
        <p:txBody>
          <a:bodyPr wrap="square" lIns="0" tIns="0" rIns="0" bIns="0" rtlCol="0" anchor="ctr"/>
          <a:lstStyle/>
          <a:p>
            <a:pPr marL="0" indent="0">
              <a:buNone/>
            </a:pPr>
            <a:r>
              <a:rPr lang="en-US" sz="900" i="1" dirty="0">
                <a:solidFill>
                  <a:srgbClr val="7A7A8A"/>
                </a:solidFill>
                <a:latin typeface="Georgia" pitchFamily="34" charset="0"/>
                <a:ea typeface="Georgia" pitchFamily="34" charset="-122"/>
                <a:cs typeface="Georgia" pitchFamily="34" charset="-120"/>
              </a:rPr>
              <a:t>mu sube poco, sigma se reduce minimamente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731520" y="411480"/>
            <a:ext cx="7680960" cy="594360"/>
          </a:xfrm>
          <a:prstGeom prst="rect">
            <a:avLst/>
          </a:prstGeom>
          <a:noFill/>
          <a:ln/>
        </p:spPr>
        <p:txBody>
          <a:bodyPr wrap="square" lIns="0" tIns="0" rIns="0" bIns="0" rtlCol="0" anchor="ctr"/>
          <a:lstStyle/>
          <a:p>
            <a:pPr marL="0" indent="0">
              <a:buNone/>
            </a:pPr>
            <a:r>
              <a:rPr lang="en-US" sz="2600" dirty="0">
                <a:solidFill>
                  <a:srgbClr val="2D2D3A"/>
                </a:solidFill>
                <a:latin typeface="Georgia" pitchFamily="34" charset="0"/>
                <a:ea typeface="Georgia" pitchFamily="34" charset="-122"/>
                <a:cs typeface="Georgia" pitchFamily="34" charset="-120"/>
              </a:rPr>
              <a:t>Clasificacion competitiva</a:t>
            </a:r>
            <a:endParaRPr lang="en-US" sz="2600" dirty="0"/>
          </a:p>
        </p:txBody>
      </p:sp>
      <p:sp>
        <p:nvSpPr>
          <p:cNvPr id="3" name="Shape 1"/>
          <p:cNvSpPr/>
          <p:nvPr/>
        </p:nvSpPr>
        <p:spPr>
          <a:xfrm>
            <a:off x="731520" y="1051560"/>
            <a:ext cx="914400" cy="18288"/>
          </a:xfrm>
          <a:prstGeom prst="rect">
            <a:avLst/>
          </a:prstGeom>
          <a:solidFill>
            <a:srgbClr val="C4956A"/>
          </a:solidFill>
          <a:ln/>
        </p:spPr>
        <p:txBody>
          <a:bodyPr/>
          <a:lstStyle/>
          <a:p>
            <a:endParaRPr lang="es-MX"/>
          </a:p>
        </p:txBody>
      </p:sp>
      <p:sp>
        <p:nvSpPr>
          <p:cNvPr id="4" name="Text 2"/>
          <p:cNvSpPr/>
          <p:nvPr/>
        </p:nvSpPr>
        <p:spPr>
          <a:xfrm>
            <a:off x="731520" y="1188720"/>
            <a:ext cx="3657600" cy="228600"/>
          </a:xfrm>
          <a:prstGeom prst="rect">
            <a:avLst/>
          </a:prstGeom>
          <a:noFill/>
          <a:ln/>
        </p:spPr>
        <p:txBody>
          <a:bodyPr wrap="square" lIns="0" tIns="0" rIns="0" bIns="0" rtlCol="0" anchor="ctr"/>
          <a:lstStyle/>
          <a:p>
            <a:pPr marL="0" indent="0">
              <a:buNone/>
            </a:pPr>
            <a:r>
              <a:rPr lang="en-US" sz="800" kern="0" spc="300" dirty="0">
                <a:solidFill>
                  <a:srgbClr val="7A7A8A"/>
                </a:solidFill>
                <a:latin typeface="Georgia" pitchFamily="34" charset="0"/>
                <a:ea typeface="Georgia" pitchFamily="34" charset="-122"/>
                <a:cs typeface="Georgia" pitchFamily="34" charset="-120"/>
              </a:rPr>
              <a:t>TIERS BASADOS EN PERCENTIL POBLACIONAL</a:t>
            </a:r>
            <a:endParaRPr lang="en-US" sz="800" dirty="0"/>
          </a:p>
        </p:txBody>
      </p:sp>
      <p:sp>
        <p:nvSpPr>
          <p:cNvPr id="5" name="Shape 3"/>
          <p:cNvSpPr/>
          <p:nvPr/>
        </p:nvSpPr>
        <p:spPr>
          <a:xfrm>
            <a:off x="731520" y="1554480"/>
            <a:ext cx="3108960" cy="640080"/>
          </a:xfrm>
          <a:prstGeom prst="rect">
            <a:avLst/>
          </a:prstGeom>
          <a:solidFill>
            <a:srgbClr val="4A5568"/>
          </a:solidFill>
          <a:ln/>
        </p:spPr>
        <p:txBody>
          <a:bodyPr/>
          <a:lstStyle/>
          <a:p>
            <a:endParaRPr lang="es-MX"/>
          </a:p>
        </p:txBody>
      </p:sp>
      <p:sp>
        <p:nvSpPr>
          <p:cNvPr id="6" name="Shape 4"/>
          <p:cNvSpPr/>
          <p:nvPr/>
        </p:nvSpPr>
        <p:spPr>
          <a:xfrm>
            <a:off x="3840480" y="1554480"/>
            <a:ext cx="3108960" cy="640080"/>
          </a:xfrm>
          <a:prstGeom prst="rect">
            <a:avLst/>
          </a:prstGeom>
          <a:solidFill>
            <a:srgbClr val="2D6B6B"/>
          </a:solidFill>
          <a:ln/>
        </p:spPr>
        <p:txBody>
          <a:bodyPr/>
          <a:lstStyle/>
          <a:p>
            <a:endParaRPr lang="es-MX"/>
          </a:p>
        </p:txBody>
      </p:sp>
      <p:sp>
        <p:nvSpPr>
          <p:cNvPr id="7" name="Shape 5"/>
          <p:cNvSpPr/>
          <p:nvPr/>
        </p:nvSpPr>
        <p:spPr>
          <a:xfrm>
            <a:off x="6949440" y="1554480"/>
            <a:ext cx="1463040" cy="640080"/>
          </a:xfrm>
          <a:prstGeom prst="rect">
            <a:avLst/>
          </a:prstGeom>
          <a:solidFill>
            <a:srgbClr val="B8860B"/>
          </a:solidFill>
          <a:ln/>
        </p:spPr>
        <p:txBody>
          <a:bodyPr/>
          <a:lstStyle/>
          <a:p>
            <a:endParaRPr lang="es-MX"/>
          </a:p>
        </p:txBody>
      </p:sp>
      <p:sp>
        <p:nvSpPr>
          <p:cNvPr id="8" name="Text 6"/>
          <p:cNvSpPr/>
          <p:nvPr/>
        </p:nvSpPr>
        <p:spPr>
          <a:xfrm>
            <a:off x="731520" y="1554480"/>
            <a:ext cx="3108960" cy="64008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Detri</a:t>
            </a:r>
            <a:endParaRPr lang="en-US" sz="1400" dirty="0"/>
          </a:p>
        </p:txBody>
      </p:sp>
      <p:sp>
        <p:nvSpPr>
          <p:cNvPr id="9" name="Text 7"/>
          <p:cNvSpPr/>
          <p:nvPr/>
        </p:nvSpPr>
        <p:spPr>
          <a:xfrm>
            <a:off x="3840480" y="1554480"/>
            <a:ext cx="3108960" cy="64008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Amateur</a:t>
            </a:r>
            <a:endParaRPr lang="en-US" sz="1400" dirty="0"/>
          </a:p>
        </p:txBody>
      </p:sp>
      <p:sp>
        <p:nvSpPr>
          <p:cNvPr id="10" name="Text 8"/>
          <p:cNvSpPr/>
          <p:nvPr/>
        </p:nvSpPr>
        <p:spPr>
          <a:xfrm>
            <a:off x="6949440" y="1554480"/>
            <a:ext cx="1463040" cy="640080"/>
          </a:xfrm>
          <a:prstGeom prst="rect">
            <a:avLst/>
          </a:prstGeom>
          <a:noFill/>
          <a:ln/>
        </p:spPr>
        <p:txBody>
          <a:bodyPr wrap="square" rtlCol="0" anchor="ctr"/>
          <a:lstStyle/>
          <a:p>
            <a:pPr marL="0" indent="0" algn="ctr">
              <a:buNone/>
            </a:pPr>
            <a:r>
              <a:rPr lang="en-US" sz="1400" b="1" dirty="0">
                <a:solidFill>
                  <a:srgbClr val="1A1A2E"/>
                </a:solidFill>
                <a:latin typeface="Georgia" pitchFamily="34" charset="0"/>
                <a:ea typeface="Georgia" pitchFamily="34" charset="-122"/>
                <a:cs typeface="Georgia" pitchFamily="34" charset="-120"/>
              </a:rPr>
              <a:t>PRO</a:t>
            </a:r>
            <a:endParaRPr lang="en-US" sz="1400" dirty="0"/>
          </a:p>
        </p:txBody>
      </p:sp>
      <p:sp>
        <p:nvSpPr>
          <p:cNvPr id="11" name="Text 9"/>
          <p:cNvSpPr/>
          <p:nvPr/>
        </p:nvSpPr>
        <p:spPr>
          <a:xfrm>
            <a:off x="548640" y="2240280"/>
            <a:ext cx="914400" cy="182880"/>
          </a:xfrm>
          <a:prstGeom prst="rect">
            <a:avLst/>
          </a:prstGeom>
          <a:noFill/>
          <a:ln/>
        </p:spPr>
        <p:txBody>
          <a:bodyPr wrap="square" lIns="0" tIns="0" rIns="0" bIns="0" rtlCol="0" anchor="ctr"/>
          <a:lstStyle/>
          <a:p>
            <a:pPr marL="0" indent="0">
              <a:buNone/>
            </a:pPr>
            <a:r>
              <a:rPr lang="en-US" sz="800" dirty="0">
                <a:solidFill>
                  <a:srgbClr val="7A7A8A"/>
                </a:solidFill>
                <a:latin typeface="Georgia" pitchFamily="34" charset="0"/>
                <a:ea typeface="Georgia" pitchFamily="34" charset="-122"/>
                <a:cs typeface="Georgia" pitchFamily="34" charset="-120"/>
              </a:rPr>
              <a:t>Percentil 0</a:t>
            </a:r>
            <a:endParaRPr lang="en-US" sz="800" dirty="0"/>
          </a:p>
        </p:txBody>
      </p:sp>
      <p:sp>
        <p:nvSpPr>
          <p:cNvPr id="12" name="Text 10"/>
          <p:cNvSpPr/>
          <p:nvPr/>
        </p:nvSpPr>
        <p:spPr>
          <a:xfrm>
            <a:off x="3611880" y="2240280"/>
            <a:ext cx="457200" cy="182880"/>
          </a:xfrm>
          <a:prstGeom prst="rect">
            <a:avLst/>
          </a:prstGeom>
          <a:noFill/>
          <a:ln/>
        </p:spPr>
        <p:txBody>
          <a:bodyPr wrap="square" lIns="0" tIns="0" rIns="0" bIns="0" rtlCol="0" anchor="ctr"/>
          <a:lstStyle/>
          <a:p>
            <a:pPr marL="0" indent="0" algn="ctr">
              <a:buNone/>
            </a:pPr>
            <a:r>
              <a:rPr lang="en-US" sz="800" dirty="0">
                <a:solidFill>
                  <a:srgbClr val="7A7A8A"/>
                </a:solidFill>
                <a:latin typeface="Georgia" pitchFamily="34" charset="0"/>
                <a:ea typeface="Georgia" pitchFamily="34" charset="-122"/>
                <a:cs typeface="Georgia" pitchFamily="34" charset="-120"/>
              </a:rPr>
              <a:t>40</a:t>
            </a:r>
            <a:endParaRPr lang="en-US" sz="800" dirty="0"/>
          </a:p>
        </p:txBody>
      </p:sp>
      <p:sp>
        <p:nvSpPr>
          <p:cNvPr id="13" name="Text 11"/>
          <p:cNvSpPr/>
          <p:nvPr/>
        </p:nvSpPr>
        <p:spPr>
          <a:xfrm>
            <a:off x="6720840" y="2240280"/>
            <a:ext cx="457200" cy="182880"/>
          </a:xfrm>
          <a:prstGeom prst="rect">
            <a:avLst/>
          </a:prstGeom>
          <a:noFill/>
          <a:ln/>
        </p:spPr>
        <p:txBody>
          <a:bodyPr wrap="square" lIns="0" tIns="0" rIns="0" bIns="0" rtlCol="0" anchor="ctr"/>
          <a:lstStyle/>
          <a:p>
            <a:pPr marL="0" indent="0" algn="ctr">
              <a:buNone/>
            </a:pPr>
            <a:r>
              <a:rPr lang="en-US" sz="800" dirty="0">
                <a:solidFill>
                  <a:srgbClr val="7A7A8A"/>
                </a:solidFill>
                <a:latin typeface="Georgia" pitchFamily="34" charset="0"/>
                <a:ea typeface="Georgia" pitchFamily="34" charset="-122"/>
                <a:cs typeface="Georgia" pitchFamily="34" charset="-120"/>
              </a:rPr>
              <a:t>80</a:t>
            </a:r>
            <a:endParaRPr lang="en-US" sz="800" dirty="0"/>
          </a:p>
        </p:txBody>
      </p:sp>
      <p:sp>
        <p:nvSpPr>
          <p:cNvPr id="14" name="Text 12"/>
          <p:cNvSpPr/>
          <p:nvPr/>
        </p:nvSpPr>
        <p:spPr>
          <a:xfrm>
            <a:off x="8046720" y="2240280"/>
            <a:ext cx="457200" cy="182880"/>
          </a:xfrm>
          <a:prstGeom prst="rect">
            <a:avLst/>
          </a:prstGeom>
          <a:noFill/>
          <a:ln/>
        </p:spPr>
        <p:txBody>
          <a:bodyPr wrap="square" lIns="0" tIns="0" rIns="0" bIns="0" rtlCol="0" anchor="ctr"/>
          <a:lstStyle/>
          <a:p>
            <a:pPr marL="0" indent="0">
              <a:buNone/>
            </a:pPr>
            <a:r>
              <a:rPr lang="en-US" sz="800" dirty="0">
                <a:solidFill>
                  <a:srgbClr val="7A7A8A"/>
                </a:solidFill>
                <a:latin typeface="Georgia" pitchFamily="34" charset="0"/>
                <a:ea typeface="Georgia" pitchFamily="34" charset="-122"/>
                <a:cs typeface="Georgia" pitchFamily="34" charset="-120"/>
              </a:rPr>
              <a:t>100</a:t>
            </a:r>
            <a:endParaRPr lang="en-US" sz="800" dirty="0"/>
          </a:p>
        </p:txBody>
      </p:sp>
      <p:sp>
        <p:nvSpPr>
          <p:cNvPr id="15" name="Shape 13"/>
          <p:cNvSpPr/>
          <p:nvPr/>
        </p:nvSpPr>
        <p:spPr>
          <a:xfrm>
            <a:off x="1325880" y="2468880"/>
            <a:ext cx="9144" cy="274320"/>
          </a:xfrm>
          <a:prstGeom prst="rect">
            <a:avLst/>
          </a:prstGeom>
          <a:solidFill>
            <a:srgbClr val="4A5568"/>
          </a:solidFill>
          <a:ln/>
        </p:spPr>
        <p:txBody>
          <a:bodyPr/>
          <a:lstStyle/>
          <a:p>
            <a:endParaRPr lang="es-MX"/>
          </a:p>
        </p:txBody>
      </p:sp>
      <p:sp>
        <p:nvSpPr>
          <p:cNvPr id="16" name="Shape 14"/>
          <p:cNvSpPr/>
          <p:nvPr/>
        </p:nvSpPr>
        <p:spPr>
          <a:xfrm>
            <a:off x="1234440" y="2743200"/>
            <a:ext cx="201168" cy="201168"/>
          </a:xfrm>
          <a:prstGeom prst="ellipse">
            <a:avLst/>
          </a:prstGeom>
          <a:solidFill>
            <a:srgbClr val="4A5568"/>
          </a:solidFill>
          <a:ln/>
        </p:spPr>
        <p:txBody>
          <a:bodyPr/>
          <a:lstStyle/>
          <a:p>
            <a:endParaRPr lang="es-MX"/>
          </a:p>
        </p:txBody>
      </p:sp>
      <p:sp>
        <p:nvSpPr>
          <p:cNvPr id="17" name="Text 15"/>
          <p:cNvSpPr/>
          <p:nvPr/>
        </p:nvSpPr>
        <p:spPr>
          <a:xfrm>
            <a:off x="960120" y="2999232"/>
            <a:ext cx="731520" cy="182880"/>
          </a:xfrm>
          <a:prstGeom prst="rect">
            <a:avLst/>
          </a:prstGeom>
          <a:noFill/>
          <a:ln/>
        </p:spPr>
        <p:txBody>
          <a:bodyPr wrap="square" lIns="0" tIns="0" rIns="0" bIns="0" rtlCol="0" anchor="ctr"/>
          <a:lstStyle/>
          <a:p>
            <a:pPr marL="0" indent="0" algn="ctr">
              <a:buNone/>
            </a:pPr>
            <a:r>
              <a:rPr lang="en-US" sz="700" b="1" dirty="0">
                <a:solidFill>
                  <a:srgbClr val="2D2D3A"/>
                </a:solidFill>
                <a:latin typeface="Georgia" pitchFamily="34" charset="0"/>
                <a:ea typeface="Georgia" pitchFamily="34" charset="-122"/>
                <a:cs typeface="Georgia" pitchFamily="34" charset="-120"/>
              </a:rPr>
              <a:t>NuevoX</a:t>
            </a:r>
            <a:endParaRPr lang="en-US" sz="700" dirty="0"/>
          </a:p>
        </p:txBody>
      </p:sp>
      <p:sp>
        <p:nvSpPr>
          <p:cNvPr id="18" name="Text 16"/>
          <p:cNvSpPr/>
          <p:nvPr/>
        </p:nvSpPr>
        <p:spPr>
          <a:xfrm>
            <a:off x="960120" y="3154680"/>
            <a:ext cx="731520" cy="137160"/>
          </a:xfrm>
          <a:prstGeom prst="rect">
            <a:avLst/>
          </a:prstGeom>
          <a:noFill/>
          <a:ln/>
        </p:spPr>
        <p:txBody>
          <a:bodyPr wrap="square" lIns="0" tIns="0" rIns="0" bIns="0" rtlCol="0" anchor="ctr"/>
          <a:lstStyle/>
          <a:p>
            <a:pPr marL="0" indent="0" algn="ctr">
              <a:buNone/>
            </a:pPr>
            <a:r>
              <a:rPr lang="en-US" sz="700" dirty="0">
                <a:solidFill>
                  <a:srgbClr val="7A7A8A"/>
                </a:solidFill>
                <a:latin typeface="Consolas" pitchFamily="34" charset="0"/>
                <a:ea typeface="Consolas" pitchFamily="34" charset="-122"/>
                <a:cs typeface="Consolas" pitchFamily="34" charset="-120"/>
              </a:rPr>
              <a:t>PSR 2</a:t>
            </a:r>
            <a:endParaRPr lang="en-US" sz="700" dirty="0"/>
          </a:p>
        </p:txBody>
      </p:sp>
      <p:sp>
        <p:nvSpPr>
          <p:cNvPr id="19" name="Shape 17"/>
          <p:cNvSpPr/>
          <p:nvPr/>
        </p:nvSpPr>
        <p:spPr>
          <a:xfrm>
            <a:off x="2971800" y="2468880"/>
            <a:ext cx="9144" cy="274320"/>
          </a:xfrm>
          <a:prstGeom prst="rect">
            <a:avLst/>
          </a:prstGeom>
          <a:solidFill>
            <a:srgbClr val="4A5568"/>
          </a:solidFill>
          <a:ln/>
        </p:spPr>
        <p:txBody>
          <a:bodyPr/>
          <a:lstStyle/>
          <a:p>
            <a:endParaRPr lang="es-MX"/>
          </a:p>
        </p:txBody>
      </p:sp>
      <p:sp>
        <p:nvSpPr>
          <p:cNvPr id="20" name="Shape 18"/>
          <p:cNvSpPr/>
          <p:nvPr/>
        </p:nvSpPr>
        <p:spPr>
          <a:xfrm>
            <a:off x="2880360" y="2743200"/>
            <a:ext cx="201168" cy="201168"/>
          </a:xfrm>
          <a:prstGeom prst="ellipse">
            <a:avLst/>
          </a:prstGeom>
          <a:solidFill>
            <a:srgbClr val="4A5568"/>
          </a:solidFill>
          <a:ln/>
        </p:spPr>
        <p:txBody>
          <a:bodyPr/>
          <a:lstStyle/>
          <a:p>
            <a:endParaRPr lang="es-MX"/>
          </a:p>
        </p:txBody>
      </p:sp>
      <p:sp>
        <p:nvSpPr>
          <p:cNvPr id="21" name="Text 19"/>
          <p:cNvSpPr/>
          <p:nvPr/>
        </p:nvSpPr>
        <p:spPr>
          <a:xfrm>
            <a:off x="2606040" y="2999232"/>
            <a:ext cx="731520" cy="182880"/>
          </a:xfrm>
          <a:prstGeom prst="rect">
            <a:avLst/>
          </a:prstGeom>
          <a:noFill/>
          <a:ln/>
        </p:spPr>
        <p:txBody>
          <a:bodyPr wrap="square" lIns="0" tIns="0" rIns="0" bIns="0" rtlCol="0" anchor="ctr"/>
          <a:lstStyle/>
          <a:p>
            <a:pPr marL="0" indent="0" algn="ctr">
              <a:buNone/>
            </a:pPr>
            <a:r>
              <a:rPr lang="en-US" sz="700" b="1" dirty="0">
                <a:solidFill>
                  <a:srgbClr val="2D2D3A"/>
                </a:solidFill>
                <a:latin typeface="Georgia" pitchFamily="34" charset="0"/>
                <a:ea typeface="Georgia" pitchFamily="34" charset="-122"/>
                <a:cs typeface="Georgia" pitchFamily="34" charset="-120"/>
              </a:rPr>
              <a:t>Mejorando</a:t>
            </a:r>
            <a:endParaRPr lang="en-US" sz="700" dirty="0"/>
          </a:p>
        </p:txBody>
      </p:sp>
      <p:sp>
        <p:nvSpPr>
          <p:cNvPr id="22" name="Text 20"/>
          <p:cNvSpPr/>
          <p:nvPr/>
        </p:nvSpPr>
        <p:spPr>
          <a:xfrm>
            <a:off x="2606040" y="3154680"/>
            <a:ext cx="731520" cy="137160"/>
          </a:xfrm>
          <a:prstGeom prst="rect">
            <a:avLst/>
          </a:prstGeom>
          <a:noFill/>
          <a:ln/>
        </p:spPr>
        <p:txBody>
          <a:bodyPr wrap="square" lIns="0" tIns="0" rIns="0" bIns="0" rtlCol="0" anchor="ctr"/>
          <a:lstStyle/>
          <a:p>
            <a:pPr marL="0" indent="0" algn="ctr">
              <a:buNone/>
            </a:pPr>
            <a:r>
              <a:rPr lang="en-US" sz="700" dirty="0">
                <a:solidFill>
                  <a:srgbClr val="7A7A8A"/>
                </a:solidFill>
                <a:latin typeface="Consolas" pitchFamily="34" charset="0"/>
                <a:ea typeface="Consolas" pitchFamily="34" charset="-122"/>
                <a:cs typeface="Consolas" pitchFamily="34" charset="-120"/>
              </a:rPr>
              <a:t>PSR 12</a:t>
            </a:r>
            <a:endParaRPr lang="en-US" sz="700" dirty="0"/>
          </a:p>
        </p:txBody>
      </p:sp>
      <p:sp>
        <p:nvSpPr>
          <p:cNvPr id="23" name="Shape 21"/>
          <p:cNvSpPr/>
          <p:nvPr/>
        </p:nvSpPr>
        <p:spPr>
          <a:xfrm>
            <a:off x="4800600" y="2468880"/>
            <a:ext cx="9144" cy="274320"/>
          </a:xfrm>
          <a:prstGeom prst="rect">
            <a:avLst/>
          </a:prstGeom>
          <a:solidFill>
            <a:srgbClr val="2D6B6B"/>
          </a:solidFill>
          <a:ln/>
        </p:spPr>
        <p:txBody>
          <a:bodyPr/>
          <a:lstStyle/>
          <a:p>
            <a:endParaRPr lang="es-MX"/>
          </a:p>
        </p:txBody>
      </p:sp>
      <p:sp>
        <p:nvSpPr>
          <p:cNvPr id="24" name="Shape 22"/>
          <p:cNvSpPr/>
          <p:nvPr/>
        </p:nvSpPr>
        <p:spPr>
          <a:xfrm>
            <a:off x="4709160" y="2743200"/>
            <a:ext cx="201168" cy="201168"/>
          </a:xfrm>
          <a:prstGeom prst="ellipse">
            <a:avLst/>
          </a:prstGeom>
          <a:solidFill>
            <a:srgbClr val="2D6B6B"/>
          </a:solidFill>
          <a:ln/>
        </p:spPr>
        <p:txBody>
          <a:bodyPr/>
          <a:lstStyle/>
          <a:p>
            <a:endParaRPr lang="es-MX"/>
          </a:p>
        </p:txBody>
      </p:sp>
      <p:sp>
        <p:nvSpPr>
          <p:cNvPr id="25" name="Text 23"/>
          <p:cNvSpPr/>
          <p:nvPr/>
        </p:nvSpPr>
        <p:spPr>
          <a:xfrm>
            <a:off x="4434840" y="2999232"/>
            <a:ext cx="731520" cy="182880"/>
          </a:xfrm>
          <a:prstGeom prst="rect">
            <a:avLst/>
          </a:prstGeom>
          <a:noFill/>
          <a:ln/>
        </p:spPr>
        <p:txBody>
          <a:bodyPr wrap="square" lIns="0" tIns="0" rIns="0" bIns="0" rtlCol="0" anchor="ctr"/>
          <a:lstStyle/>
          <a:p>
            <a:pPr marL="0" indent="0" algn="ctr">
              <a:buNone/>
            </a:pPr>
            <a:r>
              <a:rPr lang="en-US" sz="700" b="1" dirty="0">
                <a:solidFill>
                  <a:srgbClr val="2D2D3A"/>
                </a:solidFill>
                <a:latin typeface="Georgia" pitchFamily="34" charset="0"/>
                <a:ea typeface="Georgia" pitchFamily="34" charset="-122"/>
                <a:cs typeface="Georgia" pitchFamily="34" charset="-120"/>
              </a:rPr>
              <a:t>SolidoAM</a:t>
            </a:r>
            <a:endParaRPr lang="en-US" sz="700" dirty="0"/>
          </a:p>
        </p:txBody>
      </p:sp>
      <p:sp>
        <p:nvSpPr>
          <p:cNvPr id="26" name="Text 24"/>
          <p:cNvSpPr/>
          <p:nvPr/>
        </p:nvSpPr>
        <p:spPr>
          <a:xfrm>
            <a:off x="4434840" y="3154680"/>
            <a:ext cx="731520" cy="137160"/>
          </a:xfrm>
          <a:prstGeom prst="rect">
            <a:avLst/>
          </a:prstGeom>
          <a:noFill/>
          <a:ln/>
        </p:spPr>
        <p:txBody>
          <a:bodyPr wrap="square" lIns="0" tIns="0" rIns="0" bIns="0" rtlCol="0" anchor="ctr"/>
          <a:lstStyle/>
          <a:p>
            <a:pPr marL="0" indent="0" algn="ctr">
              <a:buNone/>
            </a:pPr>
            <a:r>
              <a:rPr lang="en-US" sz="700" dirty="0">
                <a:solidFill>
                  <a:srgbClr val="7A7A8A"/>
                </a:solidFill>
                <a:latin typeface="Consolas" pitchFamily="34" charset="0"/>
                <a:ea typeface="Consolas" pitchFamily="34" charset="-122"/>
                <a:cs typeface="Consolas" pitchFamily="34" charset="-120"/>
              </a:rPr>
              <a:t>PSR 18</a:t>
            </a:r>
            <a:endParaRPr lang="en-US" sz="700" dirty="0"/>
          </a:p>
        </p:txBody>
      </p:sp>
      <p:sp>
        <p:nvSpPr>
          <p:cNvPr id="27" name="Shape 25"/>
          <p:cNvSpPr/>
          <p:nvPr/>
        </p:nvSpPr>
        <p:spPr>
          <a:xfrm>
            <a:off x="6263640" y="2468880"/>
            <a:ext cx="9144" cy="274320"/>
          </a:xfrm>
          <a:prstGeom prst="rect">
            <a:avLst/>
          </a:prstGeom>
          <a:solidFill>
            <a:srgbClr val="2D6B6B"/>
          </a:solidFill>
          <a:ln/>
        </p:spPr>
        <p:txBody>
          <a:bodyPr/>
          <a:lstStyle/>
          <a:p>
            <a:endParaRPr lang="es-MX"/>
          </a:p>
        </p:txBody>
      </p:sp>
      <p:sp>
        <p:nvSpPr>
          <p:cNvPr id="28" name="Shape 26"/>
          <p:cNvSpPr/>
          <p:nvPr/>
        </p:nvSpPr>
        <p:spPr>
          <a:xfrm>
            <a:off x="6172200" y="2743200"/>
            <a:ext cx="201168" cy="201168"/>
          </a:xfrm>
          <a:prstGeom prst="ellipse">
            <a:avLst/>
          </a:prstGeom>
          <a:solidFill>
            <a:srgbClr val="2D6B6B"/>
          </a:solidFill>
          <a:ln/>
        </p:spPr>
        <p:txBody>
          <a:bodyPr/>
          <a:lstStyle/>
          <a:p>
            <a:endParaRPr lang="es-MX"/>
          </a:p>
        </p:txBody>
      </p:sp>
      <p:sp>
        <p:nvSpPr>
          <p:cNvPr id="29" name="Text 27"/>
          <p:cNvSpPr/>
          <p:nvPr/>
        </p:nvSpPr>
        <p:spPr>
          <a:xfrm>
            <a:off x="5897880" y="2999232"/>
            <a:ext cx="731520" cy="182880"/>
          </a:xfrm>
          <a:prstGeom prst="rect">
            <a:avLst/>
          </a:prstGeom>
          <a:noFill/>
          <a:ln/>
        </p:spPr>
        <p:txBody>
          <a:bodyPr wrap="square" lIns="0" tIns="0" rIns="0" bIns="0" rtlCol="0" anchor="ctr"/>
          <a:lstStyle/>
          <a:p>
            <a:pPr marL="0" indent="0" algn="ctr">
              <a:buNone/>
            </a:pPr>
            <a:r>
              <a:rPr lang="en-US" sz="700" b="1" dirty="0">
                <a:solidFill>
                  <a:srgbClr val="2D2D3A"/>
                </a:solidFill>
                <a:latin typeface="Georgia" pitchFamily="34" charset="0"/>
                <a:ea typeface="Georgia" pitchFamily="34" charset="-122"/>
                <a:cs typeface="Georgia" pitchFamily="34" charset="-120"/>
              </a:rPr>
              <a:t>AltoAM</a:t>
            </a:r>
            <a:endParaRPr lang="en-US" sz="700" dirty="0"/>
          </a:p>
        </p:txBody>
      </p:sp>
      <p:sp>
        <p:nvSpPr>
          <p:cNvPr id="30" name="Text 28"/>
          <p:cNvSpPr/>
          <p:nvPr/>
        </p:nvSpPr>
        <p:spPr>
          <a:xfrm>
            <a:off x="5897880" y="3154680"/>
            <a:ext cx="731520" cy="137160"/>
          </a:xfrm>
          <a:prstGeom prst="rect">
            <a:avLst/>
          </a:prstGeom>
          <a:noFill/>
          <a:ln/>
        </p:spPr>
        <p:txBody>
          <a:bodyPr wrap="square" lIns="0" tIns="0" rIns="0" bIns="0" rtlCol="0" anchor="ctr"/>
          <a:lstStyle/>
          <a:p>
            <a:pPr marL="0" indent="0" algn="ctr">
              <a:buNone/>
            </a:pPr>
            <a:r>
              <a:rPr lang="en-US" sz="700" dirty="0">
                <a:solidFill>
                  <a:srgbClr val="7A7A8A"/>
                </a:solidFill>
                <a:latin typeface="Consolas" pitchFamily="34" charset="0"/>
                <a:ea typeface="Consolas" pitchFamily="34" charset="-122"/>
                <a:cs typeface="Consolas" pitchFamily="34" charset="-120"/>
              </a:rPr>
              <a:t>PSR 22</a:t>
            </a:r>
            <a:endParaRPr lang="en-US" sz="700" dirty="0"/>
          </a:p>
        </p:txBody>
      </p:sp>
      <p:sp>
        <p:nvSpPr>
          <p:cNvPr id="31" name="Shape 29"/>
          <p:cNvSpPr/>
          <p:nvPr/>
        </p:nvSpPr>
        <p:spPr>
          <a:xfrm>
            <a:off x="7635240" y="2468880"/>
            <a:ext cx="9144" cy="274320"/>
          </a:xfrm>
          <a:prstGeom prst="rect">
            <a:avLst/>
          </a:prstGeom>
          <a:solidFill>
            <a:srgbClr val="B8860B"/>
          </a:solidFill>
          <a:ln/>
        </p:spPr>
        <p:txBody>
          <a:bodyPr/>
          <a:lstStyle/>
          <a:p>
            <a:endParaRPr lang="es-MX"/>
          </a:p>
        </p:txBody>
      </p:sp>
      <p:sp>
        <p:nvSpPr>
          <p:cNvPr id="32" name="Shape 30"/>
          <p:cNvSpPr/>
          <p:nvPr/>
        </p:nvSpPr>
        <p:spPr>
          <a:xfrm>
            <a:off x="7543800" y="2743200"/>
            <a:ext cx="201168" cy="201168"/>
          </a:xfrm>
          <a:prstGeom prst="ellipse">
            <a:avLst/>
          </a:prstGeom>
          <a:solidFill>
            <a:srgbClr val="B8860B"/>
          </a:solidFill>
          <a:ln/>
        </p:spPr>
        <p:txBody>
          <a:bodyPr/>
          <a:lstStyle/>
          <a:p>
            <a:endParaRPr lang="es-MX"/>
          </a:p>
        </p:txBody>
      </p:sp>
      <p:sp>
        <p:nvSpPr>
          <p:cNvPr id="33" name="Text 31"/>
          <p:cNvSpPr/>
          <p:nvPr/>
        </p:nvSpPr>
        <p:spPr>
          <a:xfrm>
            <a:off x="7269480" y="2999232"/>
            <a:ext cx="731520" cy="182880"/>
          </a:xfrm>
          <a:prstGeom prst="rect">
            <a:avLst/>
          </a:prstGeom>
          <a:noFill/>
          <a:ln/>
        </p:spPr>
        <p:txBody>
          <a:bodyPr wrap="square" lIns="0" tIns="0" rIns="0" bIns="0" rtlCol="0" anchor="ctr"/>
          <a:lstStyle/>
          <a:p>
            <a:pPr marL="0" indent="0" algn="ctr">
              <a:buNone/>
            </a:pPr>
            <a:r>
              <a:rPr lang="en-US" sz="700" b="1" dirty="0">
                <a:solidFill>
                  <a:srgbClr val="2D2D3A"/>
                </a:solidFill>
                <a:latin typeface="Georgia" pitchFamily="34" charset="0"/>
                <a:ea typeface="Georgia" pitchFamily="34" charset="-122"/>
                <a:cs typeface="Georgia" pitchFamily="34" charset="-120"/>
              </a:rPr>
              <a:t>ElFenix</a:t>
            </a:r>
            <a:endParaRPr lang="en-US" sz="700" dirty="0"/>
          </a:p>
        </p:txBody>
      </p:sp>
      <p:sp>
        <p:nvSpPr>
          <p:cNvPr id="34" name="Text 32"/>
          <p:cNvSpPr/>
          <p:nvPr/>
        </p:nvSpPr>
        <p:spPr>
          <a:xfrm>
            <a:off x="7269480" y="3154680"/>
            <a:ext cx="731520" cy="137160"/>
          </a:xfrm>
          <a:prstGeom prst="rect">
            <a:avLst/>
          </a:prstGeom>
          <a:noFill/>
          <a:ln/>
        </p:spPr>
        <p:txBody>
          <a:bodyPr wrap="square" lIns="0" tIns="0" rIns="0" bIns="0" rtlCol="0" anchor="ctr"/>
          <a:lstStyle/>
          <a:p>
            <a:pPr marL="0" indent="0" algn="ctr">
              <a:buNone/>
            </a:pPr>
            <a:r>
              <a:rPr lang="en-US" sz="700" dirty="0">
                <a:solidFill>
                  <a:srgbClr val="7A7A8A"/>
                </a:solidFill>
                <a:latin typeface="Consolas" pitchFamily="34" charset="0"/>
                <a:ea typeface="Consolas" pitchFamily="34" charset="-122"/>
                <a:cs typeface="Consolas" pitchFamily="34" charset="-120"/>
              </a:rPr>
              <a:t>PSR 28</a:t>
            </a:r>
            <a:endParaRPr lang="en-US" sz="700" dirty="0"/>
          </a:p>
        </p:txBody>
      </p:sp>
      <p:sp>
        <p:nvSpPr>
          <p:cNvPr id="35" name="Shape 33"/>
          <p:cNvSpPr/>
          <p:nvPr/>
        </p:nvSpPr>
        <p:spPr>
          <a:xfrm>
            <a:off x="731520" y="3566160"/>
            <a:ext cx="7680960" cy="9144"/>
          </a:xfrm>
          <a:prstGeom prst="rect">
            <a:avLst/>
          </a:prstGeom>
          <a:solidFill>
            <a:srgbClr val="D4CFC7"/>
          </a:solidFill>
          <a:ln/>
        </p:spPr>
        <p:txBody>
          <a:bodyPr/>
          <a:lstStyle/>
          <a:p>
            <a:endParaRPr lang="es-MX"/>
          </a:p>
        </p:txBody>
      </p:sp>
      <p:sp>
        <p:nvSpPr>
          <p:cNvPr id="36" name="Text 34"/>
          <p:cNvSpPr/>
          <p:nvPr/>
        </p:nvSpPr>
        <p:spPr>
          <a:xfrm>
            <a:off x="731520" y="3703320"/>
            <a:ext cx="7680960" cy="182880"/>
          </a:xfrm>
          <a:prstGeom prst="rect">
            <a:avLst/>
          </a:prstGeom>
          <a:noFill/>
          <a:ln/>
        </p:spPr>
        <p:txBody>
          <a:bodyPr wrap="square" lIns="0" tIns="0" rIns="0" bIns="0" rtlCol="0" anchor="ctr"/>
          <a:lstStyle/>
          <a:p>
            <a:pPr marL="0" indent="0">
              <a:buNone/>
            </a:pPr>
            <a:r>
              <a:rPr lang="en-US" sz="900" i="1" dirty="0">
                <a:solidFill>
                  <a:srgbClr val="7A7A8A"/>
                </a:solidFill>
                <a:latin typeface="Georgia" pitchFamily="34" charset="0"/>
                <a:ea typeface="Georgia" pitchFamily="34" charset="-122"/>
                <a:cs typeface="Georgia" pitchFamily="34" charset="-120"/>
              </a:rPr>
              <a:t>Minimo 4 participaciones para calificar. Torneos Novice excluidos. Percentiles adaptativos.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2743200" y="0"/>
            <a:ext cx="3657600" cy="3200400"/>
          </a:xfrm>
          <a:prstGeom prst="ellipse">
            <a:avLst/>
          </a:prstGeom>
          <a:solidFill>
            <a:srgbClr val="2A2A4E">
              <a:alpha val="60000"/>
            </a:srgbClr>
          </a:solidFill>
          <a:ln/>
        </p:spPr>
        <p:txBody>
          <a:bodyPr/>
          <a:lstStyle/>
          <a:p>
            <a:endParaRPr lang="es-MX"/>
          </a:p>
        </p:txBody>
      </p:sp>
      <p:pic>
        <p:nvPicPr>
          <p:cNvPr id="3" name="Image 0" descr="/Users/drux/Documents/Drux/GAMERapp/phoenix-arena/public/logo-color.png"/>
          <p:cNvPicPr>
            <a:picLocks noChangeAspect="1"/>
          </p:cNvPicPr>
          <p:nvPr/>
        </p:nvPicPr>
        <p:blipFill>
          <a:blip r:embed="rId3"/>
          <a:srcRect/>
          <a:stretch/>
        </p:blipFill>
        <p:spPr>
          <a:xfrm>
            <a:off x="3429000" y="274320"/>
            <a:ext cx="2286000" cy="2286000"/>
          </a:xfrm>
          <a:prstGeom prst="rect">
            <a:avLst/>
          </a:prstGeom>
        </p:spPr>
      </p:pic>
      <p:sp>
        <p:nvSpPr>
          <p:cNvPr id="4" name="Shape 1"/>
          <p:cNvSpPr/>
          <p:nvPr/>
        </p:nvSpPr>
        <p:spPr>
          <a:xfrm>
            <a:off x="3657600" y="2697480"/>
            <a:ext cx="1828800" cy="13716"/>
          </a:xfrm>
          <a:prstGeom prst="rect">
            <a:avLst/>
          </a:prstGeom>
          <a:solidFill>
            <a:srgbClr val="B8860B"/>
          </a:solidFill>
          <a:ln/>
        </p:spPr>
        <p:txBody>
          <a:bodyPr/>
          <a:lstStyle/>
          <a:p>
            <a:endParaRPr lang="es-MX"/>
          </a:p>
        </p:txBody>
      </p:sp>
      <p:sp>
        <p:nvSpPr>
          <p:cNvPr id="5" name="Text 2"/>
          <p:cNvSpPr/>
          <p:nvPr/>
        </p:nvSpPr>
        <p:spPr>
          <a:xfrm>
            <a:off x="457200" y="2834640"/>
            <a:ext cx="8229600" cy="457200"/>
          </a:xfrm>
          <a:prstGeom prst="rect">
            <a:avLst/>
          </a:prstGeom>
          <a:noFill/>
          <a:ln/>
        </p:spPr>
        <p:txBody>
          <a:bodyPr wrap="square" rtlCol="0" anchor="ctr"/>
          <a:lstStyle/>
          <a:p>
            <a:pPr marL="0" indent="0" algn="ctr">
              <a:buNone/>
            </a:pPr>
            <a:r>
              <a:rPr lang="en-US" sz="2400" dirty="0">
                <a:solidFill>
                  <a:srgbClr val="FFFFFF"/>
                </a:solidFill>
                <a:latin typeface="Georgia" pitchFamily="34" charset="0"/>
                <a:ea typeface="Georgia" pitchFamily="34" charset="-122"/>
                <a:cs typeface="Georgia" pitchFamily="34" charset="-120"/>
              </a:rPr>
              <a:t>Rendimiento, no opinion.</a:t>
            </a:r>
            <a:endParaRPr lang="en-US" sz="2400" dirty="0"/>
          </a:p>
        </p:txBody>
      </p:sp>
      <p:sp>
        <p:nvSpPr>
          <p:cNvPr id="6" name="Text 3"/>
          <p:cNvSpPr/>
          <p:nvPr/>
        </p:nvSpPr>
        <p:spPr>
          <a:xfrm>
            <a:off x="914400" y="3383280"/>
            <a:ext cx="7315200" cy="274320"/>
          </a:xfrm>
          <a:prstGeom prst="rect">
            <a:avLst/>
          </a:prstGeom>
          <a:noFill/>
          <a:ln/>
        </p:spPr>
        <p:txBody>
          <a:bodyPr wrap="square" rtlCol="0" anchor="ctr"/>
          <a:lstStyle/>
          <a:p>
            <a:pPr marL="0" indent="0" algn="ctr">
              <a:buNone/>
            </a:pPr>
            <a:r>
              <a:rPr lang="en-US" sz="1100" i="1" dirty="0">
                <a:solidFill>
                  <a:srgbClr val="888888"/>
                </a:solidFill>
                <a:latin typeface="Georgia" pitchFamily="34" charset="0"/>
                <a:ea typeface="Georgia" pitchFamily="34" charset="-122"/>
                <a:cs typeface="Georgia" pitchFamily="34" charset="-120"/>
              </a:rPr>
              <a:t>Cada partida genera evidencia. Cada rating se puede explicar.</a:t>
            </a:r>
            <a:endParaRPr lang="en-US" sz="1100" dirty="0"/>
          </a:p>
        </p:txBody>
      </p:sp>
      <p:sp>
        <p:nvSpPr>
          <p:cNvPr id="7" name="Text 4"/>
          <p:cNvSpPr/>
          <p:nvPr/>
        </p:nvSpPr>
        <p:spPr>
          <a:xfrm>
            <a:off x="457200" y="4572000"/>
            <a:ext cx="8229600" cy="228600"/>
          </a:xfrm>
          <a:prstGeom prst="rect">
            <a:avLst/>
          </a:prstGeom>
          <a:noFill/>
          <a:ln/>
        </p:spPr>
        <p:txBody>
          <a:bodyPr wrap="square" rtlCol="0" anchor="ctr"/>
          <a:lstStyle/>
          <a:p>
            <a:pPr marL="0" indent="0" algn="ctr">
              <a:buNone/>
            </a:pPr>
            <a:r>
              <a:rPr lang="en-US" sz="900" kern="0" spc="200" dirty="0">
                <a:solidFill>
                  <a:srgbClr val="555555"/>
                </a:solidFill>
                <a:latin typeface="Georgia" pitchFamily="34" charset="0"/>
                <a:ea typeface="Georgia" pitchFamily="34" charset="-122"/>
                <a:cs typeface="Georgia" pitchFamily="34" charset="-120"/>
              </a:rPr>
              <a:t>phoenix-arena.vercel.app</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1785</TotalTime>
  <Words>1293</Words>
  <Application>Microsoft Macintosh PowerPoint</Application>
  <PresentationFormat>Presentación en pantalla (16:9)</PresentationFormat>
  <Paragraphs>220</Paragraphs>
  <Slides>12</Slides>
  <Notes>12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Consolas</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Phoenix Arena — PSR</dc:title>
  <dc:subject>PptxGenJS Presentation</dc:subject>
  <dc:creator>Stonevale / Phoenix Arena</dc:creator>
  <cp:lastModifiedBy>Andres Portilla Martinez</cp:lastModifiedBy>
  <cp:revision>8</cp:revision>
  <dcterms:created xsi:type="dcterms:W3CDTF">2026-05-11T01:05:38Z</dcterms:created>
  <dcterms:modified xsi:type="dcterms:W3CDTF">2026-05-13T07:25:15Z</dcterms:modified>
</cp:coreProperties>
</file>