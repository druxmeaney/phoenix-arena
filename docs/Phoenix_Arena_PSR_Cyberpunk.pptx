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Performance</c:v>
                </c:pt>
              </c:strCache>
            </c:strRef>
          </c:tx>
          <c:spPr>
            <a:solidFill>
              <a:schemeClr val="accent1"/>
            </a:solidFill>
            <a:ln w="9525" cap="flat">
              <a:solidFill>
                <a:srgbClr val="F9F9F9"/>
              </a:solidFill>
              <a:prstDash val="solid"/>
              <a:round/>
            </a:ln>
            <a:effectLst/>
          </c:spPr>
          <c:dPt>
            <c:idx val="0"/>
            <c:bubble3D val="0"/>
            <c:spPr>
              <a:solidFill>
                <a:srgbClr val="FF2D6B"/>
              </a:solidFill>
              <a:effectLst/>
            </c:spPr>
          </c:dPt>
          <c:dPt>
            <c:idx val="1"/>
            <c:bubble3D val="0"/>
            <c:spPr>
              <a:solidFill>
                <a:srgbClr val="00F0FF"/>
              </a:solidFill>
              <a:effectLst/>
            </c:spPr>
          </c:dPt>
          <c:dPt>
            <c:idx val="2"/>
            <c:bubble3D val="0"/>
            <c:spPr>
              <a:solidFill>
                <a:srgbClr val="39FF14"/>
              </a:solidFill>
              <a:effectLst/>
            </c:spPr>
          </c:dPt>
          <c:dLbls>
            <c:dLbl>
              <c:idx val="0"/>
              <c:numFmt formatCode="General" sourceLinked="0"/>
              <c:spPr/>
              <c:txPr>
                <a:bodyPr/>
                <a:lstStyle/>
                <a:p>
                  <a:pPr>
                    <a:defRPr sz="1400" b="0" i="0" u="none" strike="noStrike">
                      <a:solidFill>
                        <a:srgbClr val="E8E8F0"/>
                      </a:solidFill>
                      <a:latin typeface="Arial"/>
                    </a:defRPr>
                  </a:pPr>
                </a:p>
              </c:txPr>
              <c:showLegendKey val="0"/>
              <c:showVal val="1"/>
              <c:showCatName val="0"/>
              <c:showSerName val="0"/>
              <c:showPercent val="0"/>
              <c:showBubbleSize val="0"/>
            </c:dLbl>
            <c:dLbl>
              <c:idx val="1"/>
              <c:numFmt formatCode="General" sourceLinked="0"/>
              <c:spPr/>
              <c:txPr>
                <a:bodyPr/>
                <a:lstStyle/>
                <a:p>
                  <a:pPr>
                    <a:defRPr sz="1400" b="0" i="0" u="none" strike="noStrike">
                      <a:solidFill>
                        <a:srgbClr val="E8E8F0"/>
                      </a:solidFill>
                      <a:latin typeface="Arial"/>
                    </a:defRPr>
                  </a:pPr>
                </a:p>
              </c:txPr>
              <c:showLegendKey val="0"/>
              <c:showVal val="1"/>
              <c:showCatName val="0"/>
              <c:showSerName val="0"/>
              <c:showPercent val="0"/>
              <c:showBubbleSize val="0"/>
            </c:dLbl>
            <c:dLbl>
              <c:idx val="2"/>
              <c:numFmt formatCode="General" sourceLinked="0"/>
              <c:spPr/>
              <c:txPr>
                <a:bodyPr/>
                <a:lstStyle/>
                <a:p>
                  <a:pPr>
                    <a:defRPr sz="1400" b="0" i="0" u="none" strike="noStrike">
                      <a:solidFill>
                        <a:srgbClr val="E8E8F0"/>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Placement 70%</c:v>
                </c:pt>
                <c:pt idx="1">
                  <c:v>Kills 20%</c:v>
                </c:pt>
                <c:pt idx="2">
                  <c:v>Equipo 10%</c:v>
                </c:pt>
              </c:strCache>
            </c:strRef>
          </c:cat>
          <c:val>
            <c:numRef>
              <c:f>Sheet1!$B$2:$B$4</c:f>
              <c:numCache>
                <c:ptCount val="3"/>
                <c:pt idx="0">
                  <c:v>70</c:v>
                </c:pt>
                <c:pt idx="1">
                  <c:v>20</c:v>
                </c:pt>
                <c:pt idx="2">
                  <c:v>10</c:v>
                </c:pt>
              </c:numCache>
            </c:numRef>
          </c:val>
        </c:ser>
        <c:firstSliceAng val="0"/>
        <c:holeSize val="50"/>
      </c:doughnutChart>
      <c:spPr>
        <a:noFill/>
        <a:ln>
          <a:noFill/>
        </a:ln>
        <a:effectLst/>
      </c:spPr>
    </c:plotArea>
    <c:legend>
      <c:legendPos val="b"/>
      <c:overlay val="0"/>
      <c:txPr>
        <a:bodyPr/>
        <a:lstStyle/>
        <a:p>
          <a:pPr>
            <a:defRPr sz="1100">
              <a:solidFill>
                <a:srgbClr val="E8E8F0"/>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mu (habilidad)</c:v>
                </c:pt>
              </c:strCache>
            </c:strRef>
          </c:tx>
          <c:spPr>
            <a:solidFill>
              <a:srgbClr val="00F0FF"/>
            </a:solidFill>
            <a:ln w="31750" cap="flat">
              <a:solidFill>
                <a:srgbClr val="00F0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F0FF"/>
              </a:solidFill>
              <a:ln w="9525" cap="flat">
                <a:solidFill>
                  <a:srgbClr val="00F0FF"/>
                </a:solidFill>
                <a:prstDash val="solid"/>
                <a:round/>
              </a:ln>
              <a:effectLst/>
            </c:spPr>
          </c:marker>
          <c:cat>
            <c:multiLvlStrRef>
              <c:f>Sheet1!$A$2:$A$16</c:f>
              <c:multiLvlStrCache>
                <c:ptCount val="15"/>
                <c:lvl>
                  <c:pt idx="0">
                    <c:v>E1</c:v>
                  </c:pt>
                  <c:pt idx="1">
                    <c:v>E2</c:v>
                  </c:pt>
                  <c:pt idx="2">
                    <c:v>E3</c:v>
                  </c:pt>
                  <c:pt idx="3">
                    <c:v>E4</c:v>
                  </c:pt>
                  <c:pt idx="4">
                    <c:v>E5</c:v>
                  </c:pt>
                  <c:pt idx="5">
                    <c:v>E6</c:v>
                  </c:pt>
                  <c:pt idx="6">
                    <c:v>E7</c:v>
                  </c:pt>
                  <c:pt idx="7">
                    <c:v>E8</c:v>
                  </c:pt>
                  <c:pt idx="8">
                    <c:v>E9</c:v>
                  </c:pt>
                  <c:pt idx="9">
                    <c:v>E10</c:v>
                  </c:pt>
                  <c:pt idx="10">
                    <c:v>E11</c:v>
                  </c:pt>
                  <c:pt idx="11">
                    <c:v>E12</c:v>
                  </c:pt>
                  <c:pt idx="12">
                    <c:v>E13</c:v>
                  </c:pt>
                  <c:pt idx="13">
                    <c:v>E14</c:v>
                  </c:pt>
                  <c:pt idx="14">
                    <c:v>E15</c:v>
                  </c:pt>
                </c:lvl>
              </c:multiLvlStrCache>
            </c:multiLvlStrRef>
          </c:cat>
          <c:val>
            <c:numRef>
              <c:f>Sheet1!$B$2:$B$16</c:f>
              <c:numCache>
                <c:formatCode>General</c:formatCode>
                <c:ptCount val="15"/>
                <c:pt idx="0">
                  <c:v>25</c:v>
                </c:pt>
                <c:pt idx="1">
                  <c:v>26.8</c:v>
                </c:pt>
                <c:pt idx="2">
                  <c:v>27.5</c:v>
                </c:pt>
                <c:pt idx="3">
                  <c:v>28.2</c:v>
                </c:pt>
                <c:pt idx="4">
                  <c:v>29</c:v>
                </c:pt>
                <c:pt idx="5">
                  <c:v>29.8</c:v>
                </c:pt>
                <c:pt idx="6">
                  <c:v>30.5</c:v>
                </c:pt>
                <c:pt idx="7">
                  <c:v>31.2</c:v>
                </c:pt>
                <c:pt idx="8">
                  <c:v>32</c:v>
                </c:pt>
                <c:pt idx="9">
                  <c:v>32.8</c:v>
                </c:pt>
                <c:pt idx="10">
                  <c:v>33.5</c:v>
                </c:pt>
                <c:pt idx="11">
                  <c:v>34</c:v>
                </c:pt>
                <c:pt idx="12">
                  <c:v>34.5</c:v>
                </c:pt>
                <c:pt idx="13">
                  <c:v>35</c:v>
                </c:pt>
                <c:pt idx="14">
                  <c:v>35.5</c:v>
                </c:pt>
              </c:numCache>
            </c:numRef>
          </c:val>
          <c:smooth val="1"/>
        </c:ser>
        <c:ser>
          <c:idx val="1"/>
          <c:order val="1"/>
          <c:tx>
            <c:strRef>
              <c:f>Sheet1!$C$1</c:f>
              <c:strCache>
                <c:ptCount val="1"/>
                <c:pt idx="0">
                  <c:v>sigma (incertidumbre)</c:v>
                </c:pt>
              </c:strCache>
            </c:strRef>
          </c:tx>
          <c:spPr>
            <a:solidFill>
              <a:srgbClr val="FF6B35"/>
            </a:solidFill>
            <a:ln w="31750" cap="flat">
              <a:solidFill>
                <a:srgbClr val="FF6B3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6B35"/>
              </a:solidFill>
              <a:ln w="9525" cap="flat">
                <a:solidFill>
                  <a:srgbClr val="FF6B35"/>
                </a:solidFill>
                <a:prstDash val="solid"/>
                <a:round/>
              </a:ln>
              <a:effectLst/>
            </c:spPr>
          </c:marker>
          <c:cat>
            <c:multiLvlStrRef>
              <c:f>Sheet1!$A$2:$A$16</c:f>
              <c:multiLvlStrCache>
                <c:ptCount val="15"/>
                <c:lvl>
                  <c:pt idx="0">
                    <c:v>E1</c:v>
                  </c:pt>
                  <c:pt idx="1">
                    <c:v>E2</c:v>
                  </c:pt>
                  <c:pt idx="2">
                    <c:v>E3</c:v>
                  </c:pt>
                  <c:pt idx="3">
                    <c:v>E4</c:v>
                  </c:pt>
                  <c:pt idx="4">
                    <c:v>E5</c:v>
                  </c:pt>
                  <c:pt idx="5">
                    <c:v>E6</c:v>
                  </c:pt>
                  <c:pt idx="6">
                    <c:v>E7</c:v>
                  </c:pt>
                  <c:pt idx="7">
                    <c:v>E8</c:v>
                  </c:pt>
                  <c:pt idx="8">
                    <c:v>E9</c:v>
                  </c:pt>
                  <c:pt idx="9">
                    <c:v>E10</c:v>
                  </c:pt>
                  <c:pt idx="10">
                    <c:v>E11</c:v>
                  </c:pt>
                  <c:pt idx="11">
                    <c:v>E12</c:v>
                  </c:pt>
                  <c:pt idx="12">
                    <c:v>E13</c:v>
                  </c:pt>
                  <c:pt idx="13">
                    <c:v>E14</c:v>
                  </c:pt>
                  <c:pt idx="14">
                    <c:v>E15</c:v>
                  </c:pt>
                </c:lvl>
              </c:multiLvlStrCache>
            </c:multiLvlStrRef>
          </c:cat>
          <c:val>
            <c:numRef>
              <c:f>Sheet1!$C$2:$C$16</c:f>
              <c:numCache>
                <c:formatCode>General</c:formatCode>
                <c:ptCount val="15"/>
                <c:pt idx="0">
                  <c:v>8.33</c:v>
                </c:pt>
                <c:pt idx="1">
                  <c:v>7.9</c:v>
                </c:pt>
                <c:pt idx="2">
                  <c:v>7.2</c:v>
                </c:pt>
                <c:pt idx="3">
                  <c:v>6.5</c:v>
                </c:pt>
                <c:pt idx="4">
                  <c:v>5.8</c:v>
                </c:pt>
                <c:pt idx="5">
                  <c:v>5.2</c:v>
                </c:pt>
                <c:pt idx="6">
                  <c:v>4.7</c:v>
                </c:pt>
                <c:pt idx="7">
                  <c:v>4.2</c:v>
                </c:pt>
                <c:pt idx="8">
                  <c:v>3.8</c:v>
                </c:pt>
                <c:pt idx="9">
                  <c:v>3.5</c:v>
                </c:pt>
                <c:pt idx="10">
                  <c:v>3.2</c:v>
                </c:pt>
                <c:pt idx="11">
                  <c:v>3</c:v>
                </c:pt>
                <c:pt idx="12">
                  <c:v>2.8</c:v>
                </c:pt>
                <c:pt idx="13">
                  <c:v>2.6</c:v>
                </c:pt>
                <c:pt idx="14">
                  <c:v>2.4</c:v>
                </c:pt>
              </c:numCache>
            </c:numRef>
          </c:val>
          <c:smooth val="1"/>
        </c:ser>
        <c:ser>
          <c:idx val="2"/>
          <c:order val="2"/>
          <c:tx>
            <c:strRef>
              <c:f>Sheet1!$D$1</c:f>
              <c:strCache>
                <c:ptCount val="1"/>
                <c:pt idx="0">
                  <c:v>PSR (publicado)</c:v>
                </c:pt>
              </c:strCache>
            </c:strRef>
          </c:tx>
          <c:spPr>
            <a:solidFill>
              <a:srgbClr val="FF2D6B"/>
            </a:solidFill>
            <a:ln w="31750" cap="flat">
              <a:solidFill>
                <a:srgbClr val="FF2D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2D6B"/>
              </a:solidFill>
              <a:ln w="9525" cap="flat">
                <a:solidFill>
                  <a:srgbClr val="FF2D6B"/>
                </a:solidFill>
                <a:prstDash val="solid"/>
                <a:round/>
              </a:ln>
              <a:effectLst/>
            </c:spPr>
          </c:marker>
          <c:cat>
            <c:multiLvlStrRef>
              <c:f>Sheet1!$A$2:$A$16</c:f>
              <c:multiLvlStrCache>
                <c:ptCount val="15"/>
                <c:lvl>
                  <c:pt idx="0">
                    <c:v>E1</c:v>
                  </c:pt>
                  <c:pt idx="1">
                    <c:v>E2</c:v>
                  </c:pt>
                  <c:pt idx="2">
                    <c:v>E3</c:v>
                  </c:pt>
                  <c:pt idx="3">
                    <c:v>E4</c:v>
                  </c:pt>
                  <c:pt idx="4">
                    <c:v>E5</c:v>
                  </c:pt>
                  <c:pt idx="5">
                    <c:v>E6</c:v>
                  </c:pt>
                  <c:pt idx="6">
                    <c:v>E7</c:v>
                  </c:pt>
                  <c:pt idx="7">
                    <c:v>E8</c:v>
                  </c:pt>
                  <c:pt idx="8">
                    <c:v>E9</c:v>
                  </c:pt>
                  <c:pt idx="9">
                    <c:v>E10</c:v>
                  </c:pt>
                  <c:pt idx="10">
                    <c:v>E11</c:v>
                  </c:pt>
                  <c:pt idx="11">
                    <c:v>E12</c:v>
                  </c:pt>
                  <c:pt idx="12">
                    <c:v>E13</c:v>
                  </c:pt>
                  <c:pt idx="13">
                    <c:v>E14</c:v>
                  </c:pt>
                  <c:pt idx="14">
                    <c:v>E15</c:v>
                  </c:pt>
                </c:lvl>
              </c:multiLvlStrCache>
            </c:multiLvlStrRef>
          </c:cat>
          <c:val>
            <c:numRef>
              <c:f>Sheet1!$D$2:$D$16</c:f>
              <c:numCache>
                <c:formatCode>General</c:formatCode>
                <c:ptCount val="15"/>
                <c:pt idx="0">
                  <c:v>0.01</c:v>
                </c:pt>
                <c:pt idx="1">
                  <c:v>3.1</c:v>
                </c:pt>
                <c:pt idx="2">
                  <c:v>5.9</c:v>
                </c:pt>
                <c:pt idx="3">
                  <c:v>8.7</c:v>
                </c:pt>
                <c:pt idx="4">
                  <c:v>11.6</c:v>
                </c:pt>
                <c:pt idx="5">
                  <c:v>14.2</c:v>
                </c:pt>
                <c:pt idx="6">
                  <c:v>16.4</c:v>
                </c:pt>
                <c:pt idx="7">
                  <c:v>18.6</c:v>
                </c:pt>
                <c:pt idx="8">
                  <c:v>20.6</c:v>
                </c:pt>
                <c:pt idx="9">
                  <c:v>22.3</c:v>
                </c:pt>
                <c:pt idx="10">
                  <c:v>23.9</c:v>
                </c:pt>
                <c:pt idx="11">
                  <c:v>25</c:v>
                </c:pt>
                <c:pt idx="12">
                  <c:v>26.1</c:v>
                </c:pt>
                <c:pt idx="13">
                  <c:v>27.2</c:v>
                </c:pt>
                <c:pt idx="14">
                  <c:v>28.3</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7A8BA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2A3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A8BA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E8E8F0"/>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2D6B"/>
                </a:solidFill>
                <a:latin typeface="Arial"/>
              </a:defRPr>
            </a:pPr>
            <a:r>
              <a:rPr sz="1100" b="0" i="0" u="none" strike="noStrike">
                <a:solidFill>
                  <a:srgbClr val="FF2D6B"/>
                </a:solidFill>
                <a:latin typeface="Arial"/>
              </a:rPr>
              <a:t>Fragger: 'xDarkSniper'</a:t>
            </a:r>
          </a:p>
        </c:rich>
      </c:tx>
      <c:layout/>
      <c:overlay val="0"/>
    </c:title>
    <c:autoTitleDeleted val="0"/>
    <c:plotArea>
      <c:layout/>
      <c:barChart>
        <c:barDir val="col"/>
        <c:grouping val="clustered"/>
        <c:varyColors val="0"/>
        <c:ser>
          <c:idx val="0"/>
          <c:order val="0"/>
          <c:tx>
            <c:strRef>
              <c:f>Sheet1!$B$1</c:f>
              <c:strCache>
                <c:ptCount val="1"/>
                <c:pt idx="0">
                  <c:v>Kills</c:v>
                </c:pt>
              </c:strCache>
            </c:strRef>
          </c:tx>
          <c:spPr>
            <a:solidFill>
              <a:srgbClr val="FF2D6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Sheet1!$B$2:$B$9</c:f>
              <c:numCache>
                <c:formatCode>General</c:formatCode>
                <c:ptCount val="8"/>
                <c:pt idx="0">
                  <c:v>12</c:v>
                </c:pt>
                <c:pt idx="1">
                  <c:v>3</c:v>
                </c:pt>
                <c:pt idx="2">
                  <c:v>14</c:v>
                </c:pt>
                <c:pt idx="3">
                  <c:v>1</c:v>
                </c:pt>
                <c:pt idx="4">
                  <c:v>11</c:v>
                </c:pt>
                <c:pt idx="5">
                  <c:v>4</c:v>
                </c:pt>
                <c:pt idx="6">
                  <c:v>13</c:v>
                </c:pt>
                <c:pt idx="7">
                  <c:v>2</c:v>
                </c:pt>
              </c:numCache>
            </c:numRef>
          </c:val>
        </c:ser>
        <c:ser>
          <c:idx val="1"/>
          <c:order val="1"/>
          <c:tx>
            <c:strRef>
              <c:f>Sheet1!$C$1</c:f>
              <c:strCache>
                <c:ptCount val="1"/>
                <c:pt idx="0">
                  <c:v>Placement</c:v>
                </c:pt>
              </c:strCache>
            </c:strRef>
          </c:tx>
          <c:spPr>
            <a:solidFill>
              <a:srgbClr val="00F0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Sheet1!$C$2:$C$9</c:f>
              <c:numCache>
                <c:formatCode>General</c:formatCode>
                <c:ptCount val="8"/>
                <c:pt idx="0">
                  <c:v>8</c:v>
                </c:pt>
                <c:pt idx="1">
                  <c:v>14</c:v>
                </c:pt>
                <c:pt idx="2">
                  <c:v>6</c:v>
                </c:pt>
                <c:pt idx="3">
                  <c:v>16</c:v>
                </c:pt>
                <c:pt idx="4">
                  <c:v>7</c:v>
                </c:pt>
                <c:pt idx="5">
                  <c:v>12</c:v>
                </c:pt>
                <c:pt idx="6">
                  <c:v>5</c:v>
                </c:pt>
                <c:pt idx="7">
                  <c:v>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7A8BA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2A3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A8BA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solidFill>
                <a:srgbClr val="E8E8F0"/>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F0FF"/>
                </a:solidFill>
                <a:latin typeface="Arial"/>
              </a:defRPr>
            </a:pPr>
            <a:r>
              <a:rPr sz="1100" b="0" i="0" u="none" strike="noStrike">
                <a:solidFill>
                  <a:srgbClr val="00F0FF"/>
                </a:solidFill>
                <a:latin typeface="Arial"/>
              </a:rPr>
              <a:t>Anchor: 'SteadyHand'</a:t>
            </a:r>
          </a:p>
        </c:rich>
      </c:tx>
      <c:layout/>
      <c:overlay val="0"/>
    </c:title>
    <c:autoTitleDeleted val="0"/>
    <c:plotArea>
      <c:layout/>
      <c:barChart>
        <c:barDir val="col"/>
        <c:grouping val="clustered"/>
        <c:varyColors val="0"/>
        <c:ser>
          <c:idx val="0"/>
          <c:order val="0"/>
          <c:tx>
            <c:strRef>
              <c:f>Sheet1!$B$1</c:f>
              <c:strCache>
                <c:ptCount val="1"/>
                <c:pt idx="0">
                  <c:v>Kills</c:v>
                </c:pt>
              </c:strCache>
            </c:strRef>
          </c:tx>
          <c:spPr>
            <a:solidFill>
              <a:srgbClr val="FF2D6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Sheet1!$B$2:$B$9</c:f>
              <c:numCache>
                <c:formatCode>General</c:formatCode>
                <c:ptCount val="8"/>
                <c:pt idx="0">
                  <c:v>3</c:v>
                </c:pt>
                <c:pt idx="1">
                  <c:v>4</c:v>
                </c:pt>
                <c:pt idx="2">
                  <c:v>3</c:v>
                </c:pt>
                <c:pt idx="3">
                  <c:v>5</c:v>
                </c:pt>
                <c:pt idx="4">
                  <c:v>2</c:v>
                </c:pt>
                <c:pt idx="5">
                  <c:v>4</c:v>
                </c:pt>
                <c:pt idx="6">
                  <c:v>3</c:v>
                </c:pt>
                <c:pt idx="7">
                  <c:v>5</c:v>
                </c:pt>
              </c:numCache>
            </c:numRef>
          </c:val>
        </c:ser>
        <c:ser>
          <c:idx val="1"/>
          <c:order val="1"/>
          <c:tx>
            <c:strRef>
              <c:f>Sheet1!$C$1</c:f>
              <c:strCache>
                <c:ptCount val="1"/>
                <c:pt idx="0">
                  <c:v>Placement</c:v>
                </c:pt>
              </c:strCache>
            </c:strRef>
          </c:tx>
          <c:spPr>
            <a:solidFill>
              <a:srgbClr val="00F0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Sheet1!$C$2:$C$9</c:f>
              <c:numCache>
                <c:formatCode>General</c:formatCode>
                <c:ptCount val="8"/>
                <c:pt idx="0">
                  <c:v>2</c:v>
                </c:pt>
                <c:pt idx="1">
                  <c:v>3</c:v>
                </c:pt>
                <c:pt idx="2">
                  <c:v>1</c:v>
                </c:pt>
                <c:pt idx="3">
                  <c:v>4</c:v>
                </c:pt>
                <c:pt idx="4">
                  <c:v>3</c:v>
                </c:pt>
                <c:pt idx="5">
                  <c:v>2</c:v>
                </c:pt>
                <c:pt idx="6">
                  <c:v>2</c:v>
                </c:pt>
                <c:pt idx="7">
                  <c:v>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7A8BA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2A3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A8BA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solidFill>
                <a:srgbClr val="E8E8F0"/>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mu (no cambia)</c:v>
                </c:pt>
              </c:strCache>
            </c:strRef>
          </c:tx>
          <c:spPr>
            <a:solidFill>
              <a:srgbClr val="00F0FF"/>
            </a:solidFill>
            <a:ln w="31750" cap="flat">
              <a:solidFill>
                <a:srgbClr val="00F0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F0FF"/>
              </a:solidFill>
              <a:ln w="9525" cap="flat">
                <a:solidFill>
                  <a:srgbClr val="00F0FF"/>
                </a:solidFill>
                <a:prstDash val="solid"/>
                <a:round/>
              </a:ln>
              <a:effectLst/>
            </c:spPr>
          </c:marker>
          <c:cat>
            <c:multiLvlStrRef>
              <c:f>Sheet1!$A$2:$A$8</c:f>
              <c:multiLvlStrCache>
                <c:ptCount val="7"/>
                <c:lvl>
                  <c:pt idx="0">
                    <c:v>Mes 0</c:v>
                  </c:pt>
                  <c:pt idx="1">
                    <c:v>Mes 1</c:v>
                  </c:pt>
                  <c:pt idx="2">
                    <c:v>Mes 2</c:v>
                  </c:pt>
                  <c:pt idx="3">
                    <c:v>Mes 3</c:v>
                  </c:pt>
                  <c:pt idx="4">
                    <c:v>Mes 4</c:v>
                  </c:pt>
                  <c:pt idx="5">
                    <c:v>Mes 5</c:v>
                  </c:pt>
                  <c:pt idx="6">
                    <c:v>Mes 6</c:v>
                  </c:pt>
                </c:lvl>
              </c:multiLvlStrCache>
            </c:multiLvlStrRef>
          </c:cat>
          <c:val>
            <c:numRef>
              <c:f>Sheet1!$B$2:$B$8</c:f>
              <c:numCache>
                <c:formatCode>General</c:formatCode>
                <c:ptCount val="7"/>
                <c:pt idx="0">
                  <c:v>34</c:v>
                </c:pt>
                <c:pt idx="1">
                  <c:v>34</c:v>
                </c:pt>
                <c:pt idx="2">
                  <c:v>34</c:v>
                </c:pt>
                <c:pt idx="3">
                  <c:v>34</c:v>
                </c:pt>
                <c:pt idx="4">
                  <c:v>34</c:v>
                </c:pt>
                <c:pt idx="5">
                  <c:v>34</c:v>
                </c:pt>
                <c:pt idx="6">
                  <c:v>34</c:v>
                </c:pt>
              </c:numCache>
            </c:numRef>
          </c:val>
          <c:smooth val="1"/>
        </c:ser>
        <c:ser>
          <c:idx val="1"/>
          <c:order val="1"/>
          <c:tx>
            <c:strRef>
              <c:f>Sheet1!$C$1</c:f>
              <c:strCache>
                <c:ptCount val="1"/>
                <c:pt idx="0">
                  <c:v>sigma (crece)</c:v>
                </c:pt>
              </c:strCache>
            </c:strRef>
          </c:tx>
          <c:spPr>
            <a:solidFill>
              <a:srgbClr val="FF6B35"/>
            </a:solidFill>
            <a:ln w="31750" cap="flat">
              <a:solidFill>
                <a:srgbClr val="FF6B3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6B35"/>
              </a:solidFill>
              <a:ln w="9525" cap="flat">
                <a:solidFill>
                  <a:srgbClr val="FF6B35"/>
                </a:solidFill>
                <a:prstDash val="solid"/>
                <a:round/>
              </a:ln>
              <a:effectLst/>
            </c:spPr>
          </c:marker>
          <c:cat>
            <c:multiLvlStrRef>
              <c:f>Sheet1!$A$2:$A$8</c:f>
              <c:multiLvlStrCache>
                <c:ptCount val="7"/>
                <c:lvl>
                  <c:pt idx="0">
                    <c:v>Mes 0</c:v>
                  </c:pt>
                  <c:pt idx="1">
                    <c:v>Mes 1</c:v>
                  </c:pt>
                  <c:pt idx="2">
                    <c:v>Mes 2</c:v>
                  </c:pt>
                  <c:pt idx="3">
                    <c:v>Mes 3</c:v>
                  </c:pt>
                  <c:pt idx="4">
                    <c:v>Mes 4</c:v>
                  </c:pt>
                  <c:pt idx="5">
                    <c:v>Mes 5</c:v>
                  </c:pt>
                  <c:pt idx="6">
                    <c:v>Mes 6</c:v>
                  </c:pt>
                </c:lvl>
              </c:multiLvlStrCache>
            </c:multiLvlStrRef>
          </c:cat>
          <c:val>
            <c:numRef>
              <c:f>Sheet1!$C$2:$C$8</c:f>
              <c:numCache>
                <c:formatCode>General</c:formatCode>
                <c:ptCount val="7"/>
                <c:pt idx="0">
                  <c:v>3</c:v>
                </c:pt>
                <c:pt idx="1">
                  <c:v>3</c:v>
                </c:pt>
                <c:pt idx="2">
                  <c:v>3.5</c:v>
                </c:pt>
                <c:pt idx="3">
                  <c:v>4</c:v>
                </c:pt>
                <c:pt idx="4">
                  <c:v>4.5</c:v>
                </c:pt>
                <c:pt idx="5">
                  <c:v>5</c:v>
                </c:pt>
                <c:pt idx="6">
                  <c:v>5.5</c:v>
                </c:pt>
              </c:numCache>
            </c:numRef>
          </c:val>
          <c:smooth val="1"/>
        </c:ser>
        <c:ser>
          <c:idx val="2"/>
          <c:order val="2"/>
          <c:tx>
            <c:strRef>
              <c:f>Sheet1!$D$1</c:f>
              <c:strCache>
                <c:ptCount val="1"/>
                <c:pt idx="0">
                  <c:v>PSR (baja)</c:v>
                </c:pt>
              </c:strCache>
            </c:strRef>
          </c:tx>
          <c:spPr>
            <a:solidFill>
              <a:srgbClr val="FF2D6B"/>
            </a:solidFill>
            <a:ln w="31750" cap="flat">
              <a:solidFill>
                <a:srgbClr val="FF2D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2D6B"/>
              </a:solidFill>
              <a:ln w="9525" cap="flat">
                <a:solidFill>
                  <a:srgbClr val="FF2D6B"/>
                </a:solidFill>
                <a:prstDash val="solid"/>
                <a:round/>
              </a:ln>
              <a:effectLst/>
            </c:spPr>
          </c:marker>
          <c:cat>
            <c:multiLvlStrRef>
              <c:f>Sheet1!$A$2:$A$8</c:f>
              <c:multiLvlStrCache>
                <c:ptCount val="7"/>
                <c:lvl>
                  <c:pt idx="0">
                    <c:v>Mes 0</c:v>
                  </c:pt>
                  <c:pt idx="1">
                    <c:v>Mes 1</c:v>
                  </c:pt>
                  <c:pt idx="2">
                    <c:v>Mes 2</c:v>
                  </c:pt>
                  <c:pt idx="3">
                    <c:v>Mes 3</c:v>
                  </c:pt>
                  <c:pt idx="4">
                    <c:v>Mes 4</c:v>
                  </c:pt>
                  <c:pt idx="5">
                    <c:v>Mes 5</c:v>
                  </c:pt>
                  <c:pt idx="6">
                    <c:v>Mes 6</c:v>
                  </c:pt>
                </c:lvl>
              </c:multiLvlStrCache>
            </c:multiLvlStrRef>
          </c:cat>
          <c:val>
            <c:numRef>
              <c:f>Sheet1!$D$2:$D$8</c:f>
              <c:numCache>
                <c:formatCode>General</c:formatCode>
                <c:ptCount val="7"/>
                <c:pt idx="0">
                  <c:v>25</c:v>
                </c:pt>
                <c:pt idx="1">
                  <c:v>25</c:v>
                </c:pt>
                <c:pt idx="2">
                  <c:v>23.5</c:v>
                </c:pt>
                <c:pt idx="3">
                  <c:v>22</c:v>
                </c:pt>
                <c:pt idx="4">
                  <c:v>20.5</c:v>
                </c:pt>
                <c:pt idx="5">
                  <c:v>19</c:v>
                </c:pt>
                <c:pt idx="6">
                  <c:v>17.5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A8BA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2A3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8BA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E8E8F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de la presentacion enfocada en el modelo PSR y ejemplos practicos. Esta presentacion es para explicar a los duenos como funciona el algoritmo paso a paso, con ejemplos reales de jugadores ficticios que muestran la evolucion del 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muestra la evolucion historica de los modelos de ranking: desde Elo (simple, sin incertidumbre) hasta OpenSkill (bayesiano multi-equipo). PSR combina los mejores elementos de cada uno. Elo solo sube/baja linealmente. Glicko agrega 'que tan seguro estas'. TrueSkill modela la habilidad como variable oculta. OpenSkill extiende esto a multiples equipos. PSR usa todo esto + performance individual + placement + auditoria.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divide las ecuaciones en dos columnas: las senales de entrada (lo que observamos del jugador) y el motor bayesiano (como procesamos esa informacion). A la izquierda: placement normalizado, kills con logaritmo para diminishing returns, puntos de equipo, y la combinacion ponderada (70/20/10). A la derecha: las comparaciones entre pares de jugadores, la evidencia estadistica, la actualizacion bayesiana de mu y sigma, y la formula final PSR = mu - 3*sigma que publica un score conservador.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de pipeline completo. Fila superior: las 6 etapas desde dato crudo hasta PSR publicado, con colores que identifican cada fase. Fila intermedia: detalle de lo que sucede en cada etapa. Fila inferior: la capa de auditoria, los 5 registros que se generan en cada paso para garantizar trazabilidad total. Este es el corazon de por que PSR es defendible.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Grafico de dona mostrando la composicion de la senal de performance: 70% placement (lo mas importante porque refleja resultado del equipo), 20% kills (contribucion individual pero con diminishing returns para que matar 1 mas no sea siempre igual de valioso), 10% equipo (puntos colectivos). A la derecha se explica cada componente con su formula exacta. Esto es clave para entender que PSR no es solo 'quien mata 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Grafico de lineas mostrando la evolucion de un jugador ficticio 'ElFenix' a lo largo de 15 eventos. Tres lineas: mu (azul, crece gradualmente de 25 a 35.5), sigma (naranja, baja de 8.33 a 2.4 conforme acumula evidencia), PSR (rojo, sube de 0.01 a 28.3 — es la diferencia mu-3*sigma). Momentos clave: E1 inicio con PSR casi cero, E4 se vuelve elegible, E8 llega a AM, E12 alcanza PRO, E15 es elite. El mensaje: PSR no sube rapido — necesita EVIDENCIA REPETIDA. Un jugador nuevo no puede ser PRO de un dia para otro.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graficos de barras lado a lado comparando dos jugadores con estilos opuestos. FRAGGER (izquierda): kills altos pero erraticos (12,3,14,1...), placements erraticos. ANCHOR (derecha): kills bajos pero consistentes (3,4,3,5...), placements siempre en top 4. Resultado: el Anchor tiene PSR mas alto (18.4 vs 14.2) a pesar de menos kills, porque su sigma es mas baja (3.2 vs 5.1). El mensaje: PSR NO favorece a un estilo. Premia la CONSISTENCIA por encima de picos esporadicos.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tarjetas mostrando el efecto de sigma en el PSR. NUEVO: mu=25 (promedio inicial) pero sigma=8.33 (maxima incertidumbre), asi que PSR=0.01 — el sistema NO SABE nada, no lo publica alto. ERRATICO: mu alto (32, buen promedio) pero sigma=6 (mucha varianza), PSR=14. CONSISTENTE: mu ligeramente menor (30) pero sigma=2.5 (muy seguro), PSR=22.5 — CLASIFICA MAS ALTO. Conclusion visual: no basta ser bueno, hay que DEMOSTRAR CONSISTENCIA. Sigma es la clave.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Grafico mostrando que pasa cuando un jugador PRO deja de jugar. MU (azul) no cambia — el sistema no dice que empeoro. SIGMA (naranja) sube gradualmente cada mes — el sistema pierde certeza. PSR (rojo) baja como consecuencia porque PSR=mu-3*sigma. Despues de 6 meses, PSR baja de 25 a 17.5. Pero NO ES UN CASTIGO — es prudencia. Si el jugador vuelve y juega 1-2 eventos buenos, sigma baja rapidamente y recupera su PSR. Esto evita que jugadores inactivos bloqueen posiciones en el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visual comparando dos lobbies. IZQUIERDA: lobby fuerte con 16 equipos PRO/AM (circulos rojos y azules). Ganar aqui mueve tu mu y sigma significativamente. DERECHA: lobby debil con 10 equipos nuevos/calibrando (circulos grises). Ganar aqui apenas mueve tu rating. El sistema detecta la calidad del lobby calculando el promedio de PSR de todos los participantes. Esto previene el 'farming' de torneos faciles para inflar el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Barra horizontal de percentiles con tres zonas de color: gris para Detri (0-40%), azul para AM (40-80%), rojo para PRO (80%+). Debajo, cinco jugadores de ejemplo posicionados en la barra: NuevoX (PSR 2, percentil 10), Mejorando (PSR 12, percentil 35), etc. Arriba ElFenix con PSR 28 en la zona PRO. Las reglas clave: minimo 4 partidas, Novice excluido, percentiles adaptativos. El mensaje: los tiers NO SON categorias inventadas — son posiciones relativas calculadas automaticamente.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fuerte. El mensaje central: PSR no decide por opinion, decide por rendimiento. Cada partida genera evidencia, cada rating se puede explicar, cada jugador tiene su historia completa y auditable. La presentacion debe dejar claro que esto no es un sistema improvisado — es un modelo con fundamentos academicos, implementacion tecnica, auditoria completa y transparencia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00F0FF"/>
          </a:solidFill>
          <a:ln/>
        </p:spPr>
      </p:sp>
      <p:sp>
        <p:nvSpPr>
          <p:cNvPr id="3" name="Shape 1"/>
          <p:cNvSpPr/>
          <p:nvPr/>
        </p:nvSpPr>
        <p:spPr>
          <a:xfrm>
            <a:off x="0" y="5125212"/>
            <a:ext cx="9144000" cy="18288"/>
          </a:xfrm>
          <a:prstGeom prst="rect">
            <a:avLst/>
          </a:prstGeom>
          <a:solidFill>
            <a:srgbClr val="FF2D6B"/>
          </a:solidFill>
          <a:ln/>
        </p:spPr>
      </p:sp>
      <p:sp>
        <p:nvSpPr>
          <p:cNvPr id="4" name="Shape 2"/>
          <p:cNvSpPr/>
          <p:nvPr/>
        </p:nvSpPr>
        <p:spPr>
          <a:xfrm>
            <a:off x="0" y="0"/>
            <a:ext cx="18288" cy="548640"/>
          </a:xfrm>
          <a:prstGeom prst="rect">
            <a:avLst/>
          </a:prstGeom>
          <a:solidFill>
            <a:srgbClr val="00F0FF"/>
          </a:solidFill>
          <a:ln/>
        </p:spPr>
      </p:sp>
      <p:sp>
        <p:nvSpPr>
          <p:cNvPr id="5" name="Shape 3"/>
          <p:cNvSpPr/>
          <p:nvPr/>
        </p:nvSpPr>
        <p:spPr>
          <a:xfrm>
            <a:off x="0" y="0"/>
            <a:ext cx="548640" cy="18288"/>
          </a:xfrm>
          <a:prstGeom prst="rect">
            <a:avLst/>
          </a:prstGeom>
          <a:solidFill>
            <a:srgbClr val="00F0FF"/>
          </a:solidFill>
          <a:ln/>
        </p:spPr>
      </p:sp>
      <p:sp>
        <p:nvSpPr>
          <p:cNvPr id="6" name="Shape 4"/>
          <p:cNvSpPr/>
          <p:nvPr/>
        </p:nvSpPr>
        <p:spPr>
          <a:xfrm>
            <a:off x="9125712" y="4594860"/>
            <a:ext cx="18288" cy="548640"/>
          </a:xfrm>
          <a:prstGeom prst="rect">
            <a:avLst/>
          </a:prstGeom>
          <a:solidFill>
            <a:srgbClr val="FF2D6B"/>
          </a:solidFill>
          <a:ln/>
        </p:spPr>
      </p:sp>
      <p:sp>
        <p:nvSpPr>
          <p:cNvPr id="7" name="Shape 5"/>
          <p:cNvSpPr/>
          <p:nvPr/>
        </p:nvSpPr>
        <p:spPr>
          <a:xfrm>
            <a:off x="8595360" y="5125212"/>
            <a:ext cx="548640" cy="18288"/>
          </a:xfrm>
          <a:prstGeom prst="rect">
            <a:avLst/>
          </a:prstGeom>
          <a:solidFill>
            <a:srgbClr val="FF2D6B"/>
          </a:solidFill>
          <a:ln/>
        </p:spPr>
      </p:sp>
      <p:sp>
        <p:nvSpPr>
          <p:cNvPr id="8" name="Shape 6"/>
          <p:cNvSpPr/>
          <p:nvPr/>
        </p:nvSpPr>
        <p:spPr>
          <a:xfrm>
            <a:off x="914400" y="0"/>
            <a:ext cx="2743" cy="5143500"/>
          </a:xfrm>
          <a:prstGeom prst="rect">
            <a:avLst/>
          </a:prstGeom>
          <a:solidFill>
            <a:srgbClr val="1E2A3A">
              <a:alpha val="20000"/>
            </a:srgbClr>
          </a:solidFill>
          <a:ln/>
        </p:spPr>
      </p:sp>
      <p:sp>
        <p:nvSpPr>
          <p:cNvPr id="9" name="Shape 7"/>
          <p:cNvSpPr/>
          <p:nvPr/>
        </p:nvSpPr>
        <p:spPr>
          <a:xfrm>
            <a:off x="1828800" y="0"/>
            <a:ext cx="2743" cy="5143500"/>
          </a:xfrm>
          <a:prstGeom prst="rect">
            <a:avLst/>
          </a:prstGeom>
          <a:solidFill>
            <a:srgbClr val="1E2A3A">
              <a:alpha val="20000"/>
            </a:srgbClr>
          </a:solidFill>
          <a:ln/>
        </p:spPr>
      </p:sp>
      <p:sp>
        <p:nvSpPr>
          <p:cNvPr id="10" name="Shape 8"/>
          <p:cNvSpPr/>
          <p:nvPr/>
        </p:nvSpPr>
        <p:spPr>
          <a:xfrm>
            <a:off x="2743200" y="0"/>
            <a:ext cx="2743" cy="5143500"/>
          </a:xfrm>
          <a:prstGeom prst="rect">
            <a:avLst/>
          </a:prstGeom>
          <a:solidFill>
            <a:srgbClr val="1E2A3A">
              <a:alpha val="20000"/>
            </a:srgbClr>
          </a:solidFill>
          <a:ln/>
        </p:spPr>
      </p:sp>
      <p:sp>
        <p:nvSpPr>
          <p:cNvPr id="11" name="Shape 9"/>
          <p:cNvSpPr/>
          <p:nvPr/>
        </p:nvSpPr>
        <p:spPr>
          <a:xfrm>
            <a:off x="3657600" y="0"/>
            <a:ext cx="2743" cy="5143500"/>
          </a:xfrm>
          <a:prstGeom prst="rect">
            <a:avLst/>
          </a:prstGeom>
          <a:solidFill>
            <a:srgbClr val="1E2A3A">
              <a:alpha val="20000"/>
            </a:srgbClr>
          </a:solidFill>
          <a:ln/>
        </p:spPr>
      </p:sp>
      <p:sp>
        <p:nvSpPr>
          <p:cNvPr id="12" name="Shape 10"/>
          <p:cNvSpPr/>
          <p:nvPr/>
        </p:nvSpPr>
        <p:spPr>
          <a:xfrm>
            <a:off x="4572000" y="0"/>
            <a:ext cx="2743" cy="5143500"/>
          </a:xfrm>
          <a:prstGeom prst="rect">
            <a:avLst/>
          </a:prstGeom>
          <a:solidFill>
            <a:srgbClr val="1E2A3A">
              <a:alpha val="20000"/>
            </a:srgbClr>
          </a:solidFill>
          <a:ln/>
        </p:spPr>
      </p:sp>
      <p:sp>
        <p:nvSpPr>
          <p:cNvPr id="13" name="Shape 11"/>
          <p:cNvSpPr/>
          <p:nvPr/>
        </p:nvSpPr>
        <p:spPr>
          <a:xfrm>
            <a:off x="5486400" y="0"/>
            <a:ext cx="2743" cy="5143500"/>
          </a:xfrm>
          <a:prstGeom prst="rect">
            <a:avLst/>
          </a:prstGeom>
          <a:solidFill>
            <a:srgbClr val="1E2A3A">
              <a:alpha val="20000"/>
            </a:srgbClr>
          </a:solidFill>
          <a:ln/>
        </p:spPr>
      </p:sp>
      <p:sp>
        <p:nvSpPr>
          <p:cNvPr id="14" name="Shape 12"/>
          <p:cNvSpPr/>
          <p:nvPr/>
        </p:nvSpPr>
        <p:spPr>
          <a:xfrm>
            <a:off x="6400800" y="0"/>
            <a:ext cx="2743" cy="5143500"/>
          </a:xfrm>
          <a:prstGeom prst="rect">
            <a:avLst/>
          </a:prstGeom>
          <a:solidFill>
            <a:srgbClr val="1E2A3A">
              <a:alpha val="20000"/>
            </a:srgbClr>
          </a:solidFill>
          <a:ln/>
        </p:spPr>
      </p:sp>
      <p:sp>
        <p:nvSpPr>
          <p:cNvPr id="15" name="Shape 13"/>
          <p:cNvSpPr/>
          <p:nvPr/>
        </p:nvSpPr>
        <p:spPr>
          <a:xfrm>
            <a:off x="7315200" y="0"/>
            <a:ext cx="2743" cy="5143500"/>
          </a:xfrm>
          <a:prstGeom prst="rect">
            <a:avLst/>
          </a:prstGeom>
          <a:solidFill>
            <a:srgbClr val="1E2A3A">
              <a:alpha val="20000"/>
            </a:srgbClr>
          </a:solidFill>
          <a:ln/>
        </p:spPr>
      </p:sp>
      <p:sp>
        <p:nvSpPr>
          <p:cNvPr id="16" name="Shape 14"/>
          <p:cNvSpPr/>
          <p:nvPr/>
        </p:nvSpPr>
        <p:spPr>
          <a:xfrm>
            <a:off x="8229600" y="0"/>
            <a:ext cx="2743" cy="5143500"/>
          </a:xfrm>
          <a:prstGeom prst="rect">
            <a:avLst/>
          </a:prstGeom>
          <a:solidFill>
            <a:srgbClr val="1E2A3A">
              <a:alpha val="20000"/>
            </a:srgbClr>
          </a:solidFill>
          <a:ln/>
        </p:spPr>
      </p:sp>
      <p:sp>
        <p:nvSpPr>
          <p:cNvPr id="17" name="Shape 15"/>
          <p:cNvSpPr/>
          <p:nvPr/>
        </p:nvSpPr>
        <p:spPr>
          <a:xfrm>
            <a:off x="1828800" y="-1371600"/>
            <a:ext cx="5486400" cy="3657600"/>
          </a:xfrm>
          <a:prstGeom prst="ellipse">
            <a:avLst/>
          </a:prstGeom>
          <a:solidFill>
            <a:srgbClr val="00F0FF">
              <a:alpha val="5000"/>
            </a:srgbClr>
          </a:solidFill>
          <a:ln/>
        </p:spPr>
      </p:sp>
      <p:sp>
        <p:nvSpPr>
          <p:cNvPr id="18" name="Shape 16"/>
          <p:cNvSpPr/>
          <p:nvPr/>
        </p:nvSpPr>
        <p:spPr>
          <a:xfrm>
            <a:off x="2743200" y="-457200"/>
            <a:ext cx="3657600" cy="2743200"/>
          </a:xfrm>
          <a:prstGeom prst="ellipse">
            <a:avLst/>
          </a:prstGeom>
          <a:solidFill>
            <a:srgbClr val="FF2D6B">
              <a:alpha val="6000"/>
            </a:srgbClr>
          </a:solidFill>
          <a:ln/>
        </p:spPr>
      </p:sp>
      <p:pic>
        <p:nvPicPr>
          <p:cNvPr id="19" name="Image 0" descr="/Users/drux/Documents/Drux/GAMERapp/phoenix-arena/public/logo-color.png">    </p:cNvPr>
          <p:cNvPicPr>
            <a:picLocks noChangeAspect="1"/>
          </p:cNvPicPr>
          <p:nvPr/>
        </p:nvPicPr>
        <p:blipFill>
          <a:blip r:embed="rId1"/>
          <a:srcRect l="0" r="0" t="0" b="0"/>
          <a:stretch/>
        </p:blipFill>
        <p:spPr>
          <a:xfrm>
            <a:off x="3200400" y="274320"/>
            <a:ext cx="2743200" cy="2743200"/>
          </a:xfrm>
          <a:prstGeom prst="rect">
            <a:avLst/>
          </a:prstGeom>
        </p:spPr>
      </p:pic>
      <p:sp>
        <p:nvSpPr>
          <p:cNvPr id="20" name="Text 17"/>
          <p:cNvSpPr/>
          <p:nvPr/>
        </p:nvSpPr>
        <p:spPr>
          <a:xfrm>
            <a:off x="457200" y="3017520"/>
            <a:ext cx="8229600" cy="640080"/>
          </a:xfrm>
          <a:prstGeom prst="rect">
            <a:avLst/>
          </a:prstGeom>
          <a:noFill/>
          <a:ln/>
        </p:spPr>
        <p:txBody>
          <a:bodyPr wrap="square" rtlCol="0" anchor="ctr"/>
          <a:lstStyle/>
          <a:p>
            <a:pPr algn="ctr" indent="0" marL="0">
              <a:buNone/>
            </a:pPr>
            <a:r>
              <a:rPr lang="en-US" sz="3200" b="1" spc="400" kern="0" dirty="0">
                <a:solidFill>
                  <a:srgbClr val="00F0FF"/>
                </a:solidFill>
                <a:latin typeface="Impact" pitchFamily="34" charset="0"/>
                <a:ea typeface="Impact" pitchFamily="34" charset="-122"/>
                <a:cs typeface="Impact" pitchFamily="34" charset="-120"/>
              </a:rPr>
              <a:t>PSR // MODELO Y EJEMPLOS</a:t>
            </a:r>
            <a:endParaRPr lang="en-US" sz="3200" dirty="0"/>
          </a:p>
        </p:txBody>
      </p:sp>
      <p:sp>
        <p:nvSpPr>
          <p:cNvPr id="21" name="Shape 18"/>
          <p:cNvSpPr/>
          <p:nvPr/>
        </p:nvSpPr>
        <p:spPr>
          <a:xfrm>
            <a:off x="2286000" y="3657600"/>
            <a:ext cx="4572000" cy="22860"/>
          </a:xfrm>
          <a:prstGeom prst="rect">
            <a:avLst/>
          </a:prstGeom>
          <a:solidFill>
            <a:srgbClr val="FF2D6B"/>
          </a:solidFill>
          <a:ln/>
        </p:spPr>
      </p:sp>
      <p:sp>
        <p:nvSpPr>
          <p:cNvPr id="22" name="Shape 19"/>
          <p:cNvSpPr/>
          <p:nvPr/>
        </p:nvSpPr>
        <p:spPr>
          <a:xfrm>
            <a:off x="2468880" y="3703320"/>
            <a:ext cx="4206240" cy="13716"/>
          </a:xfrm>
          <a:prstGeom prst="rect">
            <a:avLst/>
          </a:prstGeom>
          <a:solidFill>
            <a:srgbClr val="00F0FF">
              <a:alpha val="50000"/>
            </a:srgbClr>
          </a:solidFill>
          <a:ln/>
        </p:spPr>
      </p:sp>
      <p:sp>
        <p:nvSpPr>
          <p:cNvPr id="23" name="Text 20"/>
          <p:cNvSpPr/>
          <p:nvPr/>
        </p:nvSpPr>
        <p:spPr>
          <a:xfrm>
            <a:off x="457200" y="3794760"/>
            <a:ext cx="8229600" cy="320040"/>
          </a:xfrm>
          <a:prstGeom prst="rect">
            <a:avLst/>
          </a:prstGeom>
          <a:noFill/>
          <a:ln/>
        </p:spPr>
        <p:txBody>
          <a:bodyPr wrap="square" rtlCol="0" anchor="ctr"/>
          <a:lstStyle/>
          <a:p>
            <a:pPr algn="ctr" indent="0" marL="0">
              <a:buNone/>
            </a:pPr>
            <a:r>
              <a:rPr lang="en-US" sz="1100" spc="200" kern="0" dirty="0">
                <a:solidFill>
                  <a:srgbClr val="7A8BA8"/>
                </a:solidFill>
                <a:latin typeface="Consolas" pitchFamily="34" charset="0"/>
                <a:ea typeface="Consolas" pitchFamily="34" charset="-122"/>
                <a:cs typeface="Consolas" pitchFamily="34" charset="-120"/>
              </a:rPr>
              <a:t>COMO EL ALGORITMO ESTIMA, APRENDE Y CLASIFICA</a:t>
            </a:r>
            <a:endParaRPr lang="en-US" sz="1100" dirty="0"/>
          </a:p>
        </p:txBody>
      </p:sp>
      <p:sp>
        <p:nvSpPr>
          <p:cNvPr id="24" name="Text 21"/>
          <p:cNvSpPr/>
          <p:nvPr/>
        </p:nvSpPr>
        <p:spPr>
          <a:xfrm>
            <a:off x="457200" y="4572000"/>
            <a:ext cx="8229600" cy="228600"/>
          </a:xfrm>
          <a:prstGeom prst="rect">
            <a:avLst/>
          </a:prstGeom>
          <a:noFill/>
          <a:ln/>
        </p:spPr>
        <p:txBody>
          <a:bodyPr wrap="square" rtlCol="0" anchor="ctr"/>
          <a:lstStyle/>
          <a:p>
            <a:pPr algn="ctr" indent="0" marL="0">
              <a:buNone/>
            </a:pPr>
            <a:r>
              <a:rPr lang="en-US" sz="800" spc="300" kern="0" dirty="0">
                <a:solidFill>
                  <a:srgbClr val="7A8BA8"/>
                </a:solidFill>
                <a:latin typeface="Consolas" pitchFamily="34" charset="0"/>
                <a:ea typeface="Consolas" pitchFamily="34" charset="-122"/>
                <a:cs typeface="Consolas" pitchFamily="34" charset="-120"/>
              </a:rPr>
              <a:t>PHOENIX ARENA //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00F0FF"/>
          </a:solidFill>
          <a:ln/>
        </p:spPr>
      </p:sp>
      <p:sp>
        <p:nvSpPr>
          <p:cNvPr id="3" name="Shape 1"/>
          <p:cNvSpPr/>
          <p:nvPr/>
        </p:nvSpPr>
        <p:spPr>
          <a:xfrm>
            <a:off x="0" y="5125212"/>
            <a:ext cx="9144000" cy="18288"/>
          </a:xfrm>
          <a:prstGeom prst="rect">
            <a:avLst/>
          </a:prstGeom>
          <a:solidFill>
            <a:srgbClr val="FF2D6B"/>
          </a:solidFill>
          <a:ln/>
        </p:spPr>
      </p:sp>
      <p:sp>
        <p:nvSpPr>
          <p:cNvPr id="4" name="Shape 2"/>
          <p:cNvSpPr/>
          <p:nvPr/>
        </p:nvSpPr>
        <p:spPr>
          <a:xfrm>
            <a:off x="0" y="0"/>
            <a:ext cx="18288" cy="548640"/>
          </a:xfrm>
          <a:prstGeom prst="rect">
            <a:avLst/>
          </a:prstGeom>
          <a:solidFill>
            <a:srgbClr val="00F0FF"/>
          </a:solidFill>
          <a:ln/>
        </p:spPr>
      </p:sp>
      <p:sp>
        <p:nvSpPr>
          <p:cNvPr id="5" name="Shape 3"/>
          <p:cNvSpPr/>
          <p:nvPr/>
        </p:nvSpPr>
        <p:spPr>
          <a:xfrm>
            <a:off x="0" y="0"/>
            <a:ext cx="548640" cy="18288"/>
          </a:xfrm>
          <a:prstGeom prst="rect">
            <a:avLst/>
          </a:prstGeom>
          <a:solidFill>
            <a:srgbClr val="00F0FF"/>
          </a:solidFill>
          <a:ln/>
        </p:spPr>
      </p:sp>
      <p:sp>
        <p:nvSpPr>
          <p:cNvPr id="6" name="Shape 4"/>
          <p:cNvSpPr/>
          <p:nvPr/>
        </p:nvSpPr>
        <p:spPr>
          <a:xfrm>
            <a:off x="9125712" y="4594860"/>
            <a:ext cx="18288" cy="548640"/>
          </a:xfrm>
          <a:prstGeom prst="rect">
            <a:avLst/>
          </a:prstGeom>
          <a:solidFill>
            <a:srgbClr val="FF2D6B"/>
          </a:solidFill>
          <a:ln/>
        </p:spPr>
      </p:sp>
      <p:sp>
        <p:nvSpPr>
          <p:cNvPr id="7" name="Shape 5"/>
          <p:cNvSpPr/>
          <p:nvPr/>
        </p:nvSpPr>
        <p:spPr>
          <a:xfrm>
            <a:off x="8595360" y="5125212"/>
            <a:ext cx="548640" cy="18288"/>
          </a:xfrm>
          <a:prstGeom prst="rect">
            <a:avLst/>
          </a:prstGeom>
          <a:solidFill>
            <a:srgbClr val="FF2D6B"/>
          </a:solidFill>
          <a:ln/>
        </p:spPr>
      </p:sp>
      <p:sp>
        <p:nvSpPr>
          <p:cNvPr id="8" name="Shape 6"/>
          <p:cNvSpPr/>
          <p:nvPr/>
        </p:nvSpPr>
        <p:spPr>
          <a:xfrm>
            <a:off x="914400" y="0"/>
            <a:ext cx="2743" cy="5143500"/>
          </a:xfrm>
          <a:prstGeom prst="rect">
            <a:avLst/>
          </a:prstGeom>
          <a:solidFill>
            <a:srgbClr val="1E2A3A">
              <a:alpha val="20000"/>
            </a:srgbClr>
          </a:solidFill>
          <a:ln/>
        </p:spPr>
      </p:sp>
      <p:sp>
        <p:nvSpPr>
          <p:cNvPr id="9" name="Shape 7"/>
          <p:cNvSpPr/>
          <p:nvPr/>
        </p:nvSpPr>
        <p:spPr>
          <a:xfrm>
            <a:off x="1828800" y="0"/>
            <a:ext cx="2743" cy="5143500"/>
          </a:xfrm>
          <a:prstGeom prst="rect">
            <a:avLst/>
          </a:prstGeom>
          <a:solidFill>
            <a:srgbClr val="1E2A3A">
              <a:alpha val="20000"/>
            </a:srgbClr>
          </a:solidFill>
          <a:ln/>
        </p:spPr>
      </p:sp>
      <p:sp>
        <p:nvSpPr>
          <p:cNvPr id="10" name="Shape 8"/>
          <p:cNvSpPr/>
          <p:nvPr/>
        </p:nvSpPr>
        <p:spPr>
          <a:xfrm>
            <a:off x="2743200" y="0"/>
            <a:ext cx="2743" cy="5143500"/>
          </a:xfrm>
          <a:prstGeom prst="rect">
            <a:avLst/>
          </a:prstGeom>
          <a:solidFill>
            <a:srgbClr val="1E2A3A">
              <a:alpha val="20000"/>
            </a:srgbClr>
          </a:solidFill>
          <a:ln/>
        </p:spPr>
      </p:sp>
      <p:sp>
        <p:nvSpPr>
          <p:cNvPr id="11" name="Shape 9"/>
          <p:cNvSpPr/>
          <p:nvPr/>
        </p:nvSpPr>
        <p:spPr>
          <a:xfrm>
            <a:off x="3657600" y="0"/>
            <a:ext cx="2743" cy="5143500"/>
          </a:xfrm>
          <a:prstGeom prst="rect">
            <a:avLst/>
          </a:prstGeom>
          <a:solidFill>
            <a:srgbClr val="1E2A3A">
              <a:alpha val="20000"/>
            </a:srgbClr>
          </a:solidFill>
          <a:ln/>
        </p:spPr>
      </p:sp>
      <p:sp>
        <p:nvSpPr>
          <p:cNvPr id="12" name="Shape 10"/>
          <p:cNvSpPr/>
          <p:nvPr/>
        </p:nvSpPr>
        <p:spPr>
          <a:xfrm>
            <a:off x="4572000" y="0"/>
            <a:ext cx="2743" cy="5143500"/>
          </a:xfrm>
          <a:prstGeom prst="rect">
            <a:avLst/>
          </a:prstGeom>
          <a:solidFill>
            <a:srgbClr val="1E2A3A">
              <a:alpha val="20000"/>
            </a:srgbClr>
          </a:solidFill>
          <a:ln/>
        </p:spPr>
      </p:sp>
      <p:sp>
        <p:nvSpPr>
          <p:cNvPr id="13" name="Shape 11"/>
          <p:cNvSpPr/>
          <p:nvPr/>
        </p:nvSpPr>
        <p:spPr>
          <a:xfrm>
            <a:off x="5486400" y="0"/>
            <a:ext cx="2743" cy="5143500"/>
          </a:xfrm>
          <a:prstGeom prst="rect">
            <a:avLst/>
          </a:prstGeom>
          <a:solidFill>
            <a:srgbClr val="1E2A3A">
              <a:alpha val="20000"/>
            </a:srgbClr>
          </a:solidFill>
          <a:ln/>
        </p:spPr>
      </p:sp>
      <p:sp>
        <p:nvSpPr>
          <p:cNvPr id="14" name="Shape 12"/>
          <p:cNvSpPr/>
          <p:nvPr/>
        </p:nvSpPr>
        <p:spPr>
          <a:xfrm>
            <a:off x="6400800" y="0"/>
            <a:ext cx="2743" cy="5143500"/>
          </a:xfrm>
          <a:prstGeom prst="rect">
            <a:avLst/>
          </a:prstGeom>
          <a:solidFill>
            <a:srgbClr val="1E2A3A">
              <a:alpha val="20000"/>
            </a:srgbClr>
          </a:solidFill>
          <a:ln/>
        </p:spPr>
      </p:sp>
      <p:sp>
        <p:nvSpPr>
          <p:cNvPr id="15" name="Shape 13"/>
          <p:cNvSpPr/>
          <p:nvPr/>
        </p:nvSpPr>
        <p:spPr>
          <a:xfrm>
            <a:off x="7315200" y="0"/>
            <a:ext cx="2743" cy="5143500"/>
          </a:xfrm>
          <a:prstGeom prst="rect">
            <a:avLst/>
          </a:prstGeom>
          <a:solidFill>
            <a:srgbClr val="1E2A3A">
              <a:alpha val="20000"/>
            </a:srgbClr>
          </a:solidFill>
          <a:ln/>
        </p:spPr>
      </p:sp>
      <p:sp>
        <p:nvSpPr>
          <p:cNvPr id="16" name="Shape 14"/>
          <p:cNvSpPr/>
          <p:nvPr/>
        </p:nvSpPr>
        <p:spPr>
          <a:xfrm>
            <a:off x="8229600" y="0"/>
            <a:ext cx="2743" cy="5143500"/>
          </a:xfrm>
          <a:prstGeom prst="rect">
            <a:avLst/>
          </a:prstGeom>
          <a:solidFill>
            <a:srgbClr val="1E2A3A">
              <a:alpha val="20000"/>
            </a:srgbClr>
          </a:solidFill>
          <a:ln/>
        </p:spPr>
      </p:sp>
      <p:sp>
        <p:nvSpPr>
          <p:cNvPr id="17" name="Text 15"/>
          <p:cNvSpPr/>
          <p:nvPr/>
        </p:nvSpPr>
        <p:spPr>
          <a:xfrm>
            <a:off x="640080" y="182880"/>
            <a:ext cx="7863840" cy="502920"/>
          </a:xfrm>
          <a:prstGeom prst="rect">
            <a:avLst/>
          </a:prstGeom>
          <a:noFill/>
          <a:ln/>
        </p:spPr>
        <p:txBody>
          <a:bodyPr wrap="square" lIns="0" tIns="0" rIns="0" bIns="0" rtlCol="0" anchor="ctr"/>
          <a:lstStyle/>
          <a:p>
            <a:pPr indent="0" marL="0">
              <a:buNone/>
            </a:pPr>
            <a:r>
              <a:rPr lang="en-US" sz="2200" b="1" spc="300" kern="0" dirty="0">
                <a:solidFill>
                  <a:srgbClr val="00F0FF"/>
                </a:solidFill>
                <a:latin typeface="Impact" pitchFamily="34" charset="0"/>
                <a:ea typeface="Impact" pitchFamily="34" charset="-122"/>
                <a:cs typeface="Impact" pitchFamily="34" charset="-120"/>
              </a:rPr>
              <a:t>MODELOS QUE INSPIRAN PSR</a:t>
            </a:r>
            <a:endParaRPr lang="en-US" sz="2200" dirty="0"/>
          </a:p>
        </p:txBody>
      </p:sp>
      <p:sp>
        <p:nvSpPr>
          <p:cNvPr id="18" name="Shape 16"/>
          <p:cNvSpPr/>
          <p:nvPr/>
        </p:nvSpPr>
        <p:spPr>
          <a:xfrm>
            <a:off x="640080" y="713232"/>
            <a:ext cx="2286000" cy="22860"/>
          </a:xfrm>
          <a:prstGeom prst="rect">
            <a:avLst/>
          </a:prstGeom>
          <a:solidFill>
            <a:srgbClr val="FF2D6B"/>
          </a:solidFill>
          <a:ln/>
        </p:spPr>
      </p:sp>
      <p:sp>
        <p:nvSpPr>
          <p:cNvPr id="19" name="Text 17"/>
          <p:cNvSpPr/>
          <p:nvPr/>
        </p:nvSpPr>
        <p:spPr>
          <a:xfrm>
            <a:off x="640080" y="822960"/>
            <a:ext cx="7863840" cy="228600"/>
          </a:xfrm>
          <a:prstGeom prst="rect">
            <a:avLst/>
          </a:prstGeom>
          <a:noFill/>
          <a:ln/>
        </p:spPr>
        <p:txBody>
          <a:bodyPr wrap="square" lIns="0" tIns="0" rIns="0" bIns="0" rtlCol="0" anchor="ctr"/>
          <a:lstStyle/>
          <a:p>
            <a:pPr indent="0" marL="0">
              <a:buNone/>
            </a:pPr>
            <a:r>
              <a:rPr lang="en-US" sz="1000" i="1" dirty="0">
                <a:solidFill>
                  <a:srgbClr val="7A8BA8"/>
                </a:solidFill>
                <a:latin typeface="Trebuchet MS" pitchFamily="34" charset="0"/>
                <a:ea typeface="Trebuchet MS" pitchFamily="34" charset="-122"/>
                <a:cs typeface="Trebuchet MS" pitchFamily="34" charset="-120"/>
              </a:rPr>
              <a:t>El algoritmo se basa en fundamentos publicados y validados por la comunidad academica</a:t>
            </a:r>
            <a:endParaRPr lang="en-US" sz="1000" dirty="0"/>
          </a:p>
        </p:txBody>
      </p:sp>
      <p:sp>
        <p:nvSpPr>
          <p:cNvPr id="20" name="Shape 18"/>
          <p:cNvSpPr/>
          <p:nvPr/>
        </p:nvSpPr>
        <p:spPr>
          <a:xfrm>
            <a:off x="457200" y="1097280"/>
            <a:ext cx="2011680" cy="2377440"/>
          </a:xfrm>
          <a:prstGeom prst="rect">
            <a:avLst/>
          </a:prstGeom>
          <a:solidFill>
            <a:srgbClr val="12121E"/>
          </a:solidFill>
          <a:ln w="12700">
            <a:solidFill>
              <a:srgbClr val="FFE600"/>
            </a:solidFill>
            <a:prstDash val="solid"/>
          </a:ln>
        </p:spPr>
      </p:sp>
      <p:sp>
        <p:nvSpPr>
          <p:cNvPr id="21" name="Shape 19"/>
          <p:cNvSpPr/>
          <p:nvPr/>
        </p:nvSpPr>
        <p:spPr>
          <a:xfrm>
            <a:off x="457200" y="1097280"/>
            <a:ext cx="2011680" cy="22860"/>
          </a:xfrm>
          <a:prstGeom prst="rect">
            <a:avLst/>
          </a:prstGeom>
          <a:solidFill>
            <a:srgbClr val="FFE600"/>
          </a:solidFill>
          <a:ln/>
        </p:spPr>
      </p:sp>
      <p:sp>
        <p:nvSpPr>
          <p:cNvPr id="22" name="Shape 20"/>
          <p:cNvSpPr/>
          <p:nvPr/>
        </p:nvSpPr>
        <p:spPr>
          <a:xfrm>
            <a:off x="457200" y="1097280"/>
            <a:ext cx="2011680" cy="45720"/>
          </a:xfrm>
          <a:prstGeom prst="rect">
            <a:avLst/>
          </a:prstGeom>
          <a:solidFill>
            <a:srgbClr val="FFE600"/>
          </a:solidFill>
          <a:ln/>
        </p:spPr>
      </p:sp>
      <p:sp>
        <p:nvSpPr>
          <p:cNvPr id="23" name="Text 21"/>
          <p:cNvSpPr/>
          <p:nvPr/>
        </p:nvSpPr>
        <p:spPr>
          <a:xfrm>
            <a:off x="566928" y="1234440"/>
            <a:ext cx="1792224" cy="320040"/>
          </a:xfrm>
          <a:prstGeom prst="rect">
            <a:avLst/>
          </a:prstGeom>
          <a:noFill/>
          <a:ln/>
        </p:spPr>
        <p:txBody>
          <a:bodyPr wrap="square" lIns="0" tIns="0" rIns="0" bIns="0" rtlCol="0" anchor="ctr"/>
          <a:lstStyle/>
          <a:p>
            <a:pPr indent="0" marL="0">
              <a:buNone/>
            </a:pPr>
            <a:r>
              <a:rPr lang="en-US" sz="1200" b="1" dirty="0">
                <a:solidFill>
                  <a:srgbClr val="E8E8F0"/>
                </a:solidFill>
                <a:latin typeface="Trebuchet MS" pitchFamily="34" charset="0"/>
                <a:ea typeface="Trebuchet MS" pitchFamily="34" charset="-122"/>
                <a:cs typeface="Trebuchet MS" pitchFamily="34" charset="-120"/>
              </a:rPr>
              <a:t>Elo (1960)</a:t>
            </a:r>
            <a:endParaRPr lang="en-US" sz="1200" dirty="0"/>
          </a:p>
        </p:txBody>
      </p:sp>
      <p:sp>
        <p:nvSpPr>
          <p:cNvPr id="24" name="Text 22"/>
          <p:cNvSpPr/>
          <p:nvPr/>
        </p:nvSpPr>
        <p:spPr>
          <a:xfrm>
            <a:off x="566928" y="1572768"/>
            <a:ext cx="1792224" cy="320040"/>
          </a:xfrm>
          <a:prstGeom prst="rect">
            <a:avLst/>
          </a:prstGeom>
          <a:noFill/>
          <a:ln/>
        </p:spPr>
        <p:txBody>
          <a:bodyPr wrap="square" lIns="0" tIns="0" rIns="0" bIns="0" rtlCol="0" anchor="ctr"/>
          <a:lstStyle/>
          <a:p>
            <a:pPr indent="0" marL="0">
              <a:buNone/>
            </a:pPr>
            <a:r>
              <a:rPr lang="en-US" sz="1000" dirty="0">
                <a:solidFill>
                  <a:srgbClr val="FFE600"/>
                </a:solidFill>
                <a:latin typeface="Consolas" pitchFamily="34" charset="0"/>
                <a:ea typeface="Consolas" pitchFamily="34" charset="-122"/>
                <a:cs typeface="Consolas" pitchFamily="34" charset="-120"/>
              </a:rPr>
              <a:t>R' = R + K(S - E)</a:t>
            </a:r>
            <a:endParaRPr lang="en-US" sz="1000" dirty="0"/>
          </a:p>
        </p:txBody>
      </p:sp>
      <p:sp>
        <p:nvSpPr>
          <p:cNvPr id="25" name="Text 23"/>
          <p:cNvSpPr/>
          <p:nvPr/>
        </p:nvSpPr>
        <p:spPr>
          <a:xfrm>
            <a:off x="566928" y="1965960"/>
            <a:ext cx="1792224" cy="1371600"/>
          </a:xfrm>
          <a:prstGeom prst="rect">
            <a:avLst/>
          </a:prstGeom>
          <a:noFill/>
          <a:ln/>
        </p:spPr>
        <p:txBody>
          <a:bodyPr wrap="square" lIns="0" tIns="0" rIns="0" bIns="0" rtlCol="0" anchor="t"/>
          <a:lstStyle/>
          <a:p>
            <a:pPr indent="0" marL="0">
              <a:buNone/>
            </a:pPr>
            <a:r>
              <a:rPr lang="en-US" sz="900" dirty="0">
                <a:solidFill>
                  <a:srgbClr val="7A8BA8"/>
                </a:solidFill>
                <a:latin typeface="Trebuchet MS" pitchFamily="34" charset="0"/>
                <a:ea typeface="Trebuchet MS" pitchFamily="34" charset="-122"/>
                <a:cs typeface="Trebuchet MS" pitchFamily="34" charset="-120"/>
              </a:rPr>
              <a:t>Rating simple. Sube si ganas, baja si pierdes. No modela incertidumbre.</a:t>
            </a:r>
            <a:endParaRPr lang="en-US" sz="900" dirty="0"/>
          </a:p>
        </p:txBody>
      </p:sp>
      <p:sp>
        <p:nvSpPr>
          <p:cNvPr id="26" name="Shape 24"/>
          <p:cNvSpPr/>
          <p:nvPr/>
        </p:nvSpPr>
        <p:spPr>
          <a:xfrm>
            <a:off x="2651760" y="1097280"/>
            <a:ext cx="2011680" cy="2377440"/>
          </a:xfrm>
          <a:prstGeom prst="rect">
            <a:avLst/>
          </a:prstGeom>
          <a:solidFill>
            <a:srgbClr val="12121E"/>
          </a:solidFill>
          <a:ln w="12700">
            <a:solidFill>
              <a:srgbClr val="00F0FF"/>
            </a:solidFill>
            <a:prstDash val="solid"/>
          </a:ln>
        </p:spPr>
      </p:sp>
      <p:sp>
        <p:nvSpPr>
          <p:cNvPr id="27" name="Shape 25"/>
          <p:cNvSpPr/>
          <p:nvPr/>
        </p:nvSpPr>
        <p:spPr>
          <a:xfrm>
            <a:off x="2651760" y="1097280"/>
            <a:ext cx="2011680" cy="22860"/>
          </a:xfrm>
          <a:prstGeom prst="rect">
            <a:avLst/>
          </a:prstGeom>
          <a:solidFill>
            <a:srgbClr val="00F0FF"/>
          </a:solidFill>
          <a:ln/>
        </p:spPr>
      </p:sp>
      <p:sp>
        <p:nvSpPr>
          <p:cNvPr id="28" name="Shape 26"/>
          <p:cNvSpPr/>
          <p:nvPr/>
        </p:nvSpPr>
        <p:spPr>
          <a:xfrm>
            <a:off x="2651760" y="1097280"/>
            <a:ext cx="2011680" cy="45720"/>
          </a:xfrm>
          <a:prstGeom prst="rect">
            <a:avLst/>
          </a:prstGeom>
          <a:solidFill>
            <a:srgbClr val="00F0FF"/>
          </a:solidFill>
          <a:ln/>
        </p:spPr>
      </p:sp>
      <p:sp>
        <p:nvSpPr>
          <p:cNvPr id="29" name="Text 27"/>
          <p:cNvSpPr/>
          <p:nvPr/>
        </p:nvSpPr>
        <p:spPr>
          <a:xfrm>
            <a:off x="2761488" y="1234440"/>
            <a:ext cx="1792224" cy="320040"/>
          </a:xfrm>
          <a:prstGeom prst="rect">
            <a:avLst/>
          </a:prstGeom>
          <a:noFill/>
          <a:ln/>
        </p:spPr>
        <p:txBody>
          <a:bodyPr wrap="square" lIns="0" tIns="0" rIns="0" bIns="0" rtlCol="0" anchor="ctr"/>
          <a:lstStyle/>
          <a:p>
            <a:pPr indent="0" marL="0">
              <a:buNone/>
            </a:pPr>
            <a:r>
              <a:rPr lang="en-US" sz="1200" b="1" dirty="0">
                <a:solidFill>
                  <a:srgbClr val="E8E8F0"/>
                </a:solidFill>
                <a:latin typeface="Trebuchet MS" pitchFamily="34" charset="0"/>
                <a:ea typeface="Trebuchet MS" pitchFamily="34" charset="-122"/>
                <a:cs typeface="Trebuchet MS" pitchFamily="34" charset="-120"/>
              </a:rPr>
              <a:t>Glicko-2 (2000)</a:t>
            </a:r>
            <a:endParaRPr lang="en-US" sz="1200" dirty="0"/>
          </a:p>
        </p:txBody>
      </p:sp>
      <p:sp>
        <p:nvSpPr>
          <p:cNvPr id="30" name="Text 28"/>
          <p:cNvSpPr/>
          <p:nvPr/>
        </p:nvSpPr>
        <p:spPr>
          <a:xfrm>
            <a:off x="2761488" y="1572768"/>
            <a:ext cx="1792224" cy="320040"/>
          </a:xfrm>
          <a:prstGeom prst="rect">
            <a:avLst/>
          </a:prstGeom>
          <a:noFill/>
          <a:ln/>
        </p:spPr>
        <p:txBody>
          <a:bodyPr wrap="square" lIns="0" tIns="0" rIns="0" bIns="0" rtlCol="0" anchor="ctr"/>
          <a:lstStyle/>
          <a:p>
            <a:pPr indent="0" marL="0">
              <a:buNone/>
            </a:pPr>
            <a:r>
              <a:rPr lang="en-US" sz="1000" dirty="0">
                <a:solidFill>
                  <a:srgbClr val="00F0FF"/>
                </a:solidFill>
                <a:latin typeface="Consolas" pitchFamily="34" charset="0"/>
                <a:ea typeface="Consolas" pitchFamily="34" charset="-122"/>
                <a:cs typeface="Consolas" pitchFamily="34" charset="-120"/>
              </a:rPr>
              <a:t>R + RD + volatility</a:t>
            </a:r>
            <a:endParaRPr lang="en-US" sz="1000" dirty="0"/>
          </a:p>
        </p:txBody>
      </p:sp>
      <p:sp>
        <p:nvSpPr>
          <p:cNvPr id="31" name="Text 29"/>
          <p:cNvSpPr/>
          <p:nvPr/>
        </p:nvSpPr>
        <p:spPr>
          <a:xfrm>
            <a:off x="2761488" y="1965960"/>
            <a:ext cx="1792224" cy="1371600"/>
          </a:xfrm>
          <a:prstGeom prst="rect">
            <a:avLst/>
          </a:prstGeom>
          <a:noFill/>
          <a:ln/>
        </p:spPr>
        <p:txBody>
          <a:bodyPr wrap="square" lIns="0" tIns="0" rIns="0" bIns="0" rtlCol="0" anchor="t"/>
          <a:lstStyle/>
          <a:p>
            <a:pPr indent="0" marL="0">
              <a:buNone/>
            </a:pPr>
            <a:r>
              <a:rPr lang="en-US" sz="900" dirty="0">
                <a:solidFill>
                  <a:srgbClr val="7A8BA8"/>
                </a:solidFill>
                <a:latin typeface="Trebuchet MS" pitchFamily="34" charset="0"/>
                <a:ea typeface="Trebuchet MS" pitchFamily="34" charset="-122"/>
                <a:cs typeface="Trebuchet MS" pitchFamily="34" charset="-120"/>
              </a:rPr>
              <a:t>Agrega desviacion (RD) = que tan seguro estas del rating. Menos partidas = mas incertidumbre.</a:t>
            </a:r>
            <a:endParaRPr lang="en-US" sz="900" dirty="0"/>
          </a:p>
        </p:txBody>
      </p:sp>
      <p:sp>
        <p:nvSpPr>
          <p:cNvPr id="32" name="Shape 30"/>
          <p:cNvSpPr/>
          <p:nvPr/>
        </p:nvSpPr>
        <p:spPr>
          <a:xfrm>
            <a:off x="4846320" y="1097280"/>
            <a:ext cx="2011680" cy="2377440"/>
          </a:xfrm>
          <a:prstGeom prst="rect">
            <a:avLst/>
          </a:prstGeom>
          <a:solidFill>
            <a:srgbClr val="12121E"/>
          </a:solidFill>
          <a:ln w="12700">
            <a:solidFill>
              <a:srgbClr val="39FF14"/>
            </a:solidFill>
            <a:prstDash val="solid"/>
          </a:ln>
        </p:spPr>
      </p:sp>
      <p:sp>
        <p:nvSpPr>
          <p:cNvPr id="33" name="Shape 31"/>
          <p:cNvSpPr/>
          <p:nvPr/>
        </p:nvSpPr>
        <p:spPr>
          <a:xfrm>
            <a:off x="4846320" y="1097280"/>
            <a:ext cx="2011680" cy="22860"/>
          </a:xfrm>
          <a:prstGeom prst="rect">
            <a:avLst/>
          </a:prstGeom>
          <a:solidFill>
            <a:srgbClr val="39FF14"/>
          </a:solidFill>
          <a:ln/>
        </p:spPr>
      </p:sp>
      <p:sp>
        <p:nvSpPr>
          <p:cNvPr id="34" name="Shape 32"/>
          <p:cNvSpPr/>
          <p:nvPr/>
        </p:nvSpPr>
        <p:spPr>
          <a:xfrm>
            <a:off x="4846320" y="1097280"/>
            <a:ext cx="2011680" cy="45720"/>
          </a:xfrm>
          <a:prstGeom prst="rect">
            <a:avLst/>
          </a:prstGeom>
          <a:solidFill>
            <a:srgbClr val="39FF14"/>
          </a:solidFill>
          <a:ln/>
        </p:spPr>
      </p:sp>
      <p:sp>
        <p:nvSpPr>
          <p:cNvPr id="35" name="Text 33"/>
          <p:cNvSpPr/>
          <p:nvPr/>
        </p:nvSpPr>
        <p:spPr>
          <a:xfrm>
            <a:off x="4956048" y="1234440"/>
            <a:ext cx="1792224" cy="320040"/>
          </a:xfrm>
          <a:prstGeom prst="rect">
            <a:avLst/>
          </a:prstGeom>
          <a:noFill/>
          <a:ln/>
        </p:spPr>
        <p:txBody>
          <a:bodyPr wrap="square" lIns="0" tIns="0" rIns="0" bIns="0" rtlCol="0" anchor="ctr"/>
          <a:lstStyle/>
          <a:p>
            <a:pPr indent="0" marL="0">
              <a:buNone/>
            </a:pPr>
            <a:r>
              <a:rPr lang="en-US" sz="1200" b="1" dirty="0">
                <a:solidFill>
                  <a:srgbClr val="E8E8F0"/>
                </a:solidFill>
                <a:latin typeface="Trebuchet MS" pitchFamily="34" charset="0"/>
                <a:ea typeface="Trebuchet MS" pitchFamily="34" charset="-122"/>
                <a:cs typeface="Trebuchet MS" pitchFamily="34" charset="-120"/>
              </a:rPr>
              <a:t>TrueSkill (2006)</a:t>
            </a:r>
            <a:endParaRPr lang="en-US" sz="1200" dirty="0"/>
          </a:p>
        </p:txBody>
      </p:sp>
      <p:sp>
        <p:nvSpPr>
          <p:cNvPr id="36" name="Text 34"/>
          <p:cNvSpPr/>
          <p:nvPr/>
        </p:nvSpPr>
        <p:spPr>
          <a:xfrm>
            <a:off x="4956048" y="1572768"/>
            <a:ext cx="1792224" cy="320040"/>
          </a:xfrm>
          <a:prstGeom prst="rect">
            <a:avLst/>
          </a:prstGeom>
          <a:noFill/>
          <a:ln/>
        </p:spPr>
        <p:txBody>
          <a:bodyPr wrap="square" lIns="0" tIns="0" rIns="0" bIns="0" rtlCol="0" anchor="ctr"/>
          <a:lstStyle/>
          <a:p>
            <a:pPr indent="0" marL="0">
              <a:buNone/>
            </a:pPr>
            <a:r>
              <a:rPr lang="en-US" sz="1000" dirty="0">
                <a:solidFill>
                  <a:srgbClr val="39FF14"/>
                </a:solidFill>
                <a:latin typeface="Consolas" pitchFamily="34" charset="0"/>
                <a:ea typeface="Consolas" pitchFamily="34" charset="-122"/>
                <a:cs typeface="Consolas" pitchFamily="34" charset="-120"/>
              </a:rPr>
              <a:t>skill ~ N(mu, sigma²)</a:t>
            </a:r>
            <a:endParaRPr lang="en-US" sz="1000" dirty="0"/>
          </a:p>
        </p:txBody>
      </p:sp>
      <p:sp>
        <p:nvSpPr>
          <p:cNvPr id="37" name="Text 35"/>
          <p:cNvSpPr/>
          <p:nvPr/>
        </p:nvSpPr>
        <p:spPr>
          <a:xfrm>
            <a:off x="4956048" y="1965960"/>
            <a:ext cx="1792224" cy="1371600"/>
          </a:xfrm>
          <a:prstGeom prst="rect">
            <a:avLst/>
          </a:prstGeom>
          <a:noFill/>
          <a:ln/>
        </p:spPr>
        <p:txBody>
          <a:bodyPr wrap="square" lIns="0" tIns="0" rIns="0" bIns="0" rtlCol="0" anchor="t"/>
          <a:lstStyle/>
          <a:p>
            <a:pPr indent="0" marL="0">
              <a:buNone/>
            </a:pPr>
            <a:r>
              <a:rPr lang="en-US" sz="900" dirty="0">
                <a:solidFill>
                  <a:srgbClr val="7A8BA8"/>
                </a:solidFill>
                <a:latin typeface="Trebuchet MS" pitchFamily="34" charset="0"/>
                <a:ea typeface="Trebuchet MS" pitchFamily="34" charset="-122"/>
                <a:cs typeface="Trebuchet MS" pitchFamily="34" charset="-120"/>
              </a:rPr>
              <a:t>Habilidad como variable oculta con distribucion normal. Usado por Xbox Live.</a:t>
            </a:r>
            <a:endParaRPr lang="en-US" sz="900" dirty="0"/>
          </a:p>
        </p:txBody>
      </p:sp>
      <p:sp>
        <p:nvSpPr>
          <p:cNvPr id="38" name="Shape 36"/>
          <p:cNvSpPr/>
          <p:nvPr/>
        </p:nvSpPr>
        <p:spPr>
          <a:xfrm>
            <a:off x="7040880" y="1097280"/>
            <a:ext cx="2011680" cy="2377440"/>
          </a:xfrm>
          <a:prstGeom prst="rect">
            <a:avLst/>
          </a:prstGeom>
          <a:solidFill>
            <a:srgbClr val="12121E"/>
          </a:solidFill>
          <a:ln w="12700">
            <a:solidFill>
              <a:srgbClr val="BF40FF"/>
            </a:solidFill>
            <a:prstDash val="solid"/>
          </a:ln>
        </p:spPr>
      </p:sp>
      <p:sp>
        <p:nvSpPr>
          <p:cNvPr id="39" name="Shape 37"/>
          <p:cNvSpPr/>
          <p:nvPr/>
        </p:nvSpPr>
        <p:spPr>
          <a:xfrm>
            <a:off x="7040880" y="1097280"/>
            <a:ext cx="2011680" cy="22860"/>
          </a:xfrm>
          <a:prstGeom prst="rect">
            <a:avLst/>
          </a:prstGeom>
          <a:solidFill>
            <a:srgbClr val="BF40FF"/>
          </a:solidFill>
          <a:ln/>
        </p:spPr>
      </p:sp>
      <p:sp>
        <p:nvSpPr>
          <p:cNvPr id="40" name="Shape 38"/>
          <p:cNvSpPr/>
          <p:nvPr/>
        </p:nvSpPr>
        <p:spPr>
          <a:xfrm>
            <a:off x="7040880" y="1097280"/>
            <a:ext cx="2011680" cy="45720"/>
          </a:xfrm>
          <a:prstGeom prst="rect">
            <a:avLst/>
          </a:prstGeom>
          <a:solidFill>
            <a:srgbClr val="BF40FF"/>
          </a:solidFill>
          <a:ln/>
        </p:spPr>
      </p:sp>
      <p:sp>
        <p:nvSpPr>
          <p:cNvPr id="41" name="Text 39"/>
          <p:cNvSpPr/>
          <p:nvPr/>
        </p:nvSpPr>
        <p:spPr>
          <a:xfrm>
            <a:off x="7150608" y="1234440"/>
            <a:ext cx="1792224" cy="320040"/>
          </a:xfrm>
          <a:prstGeom prst="rect">
            <a:avLst/>
          </a:prstGeom>
          <a:noFill/>
          <a:ln/>
        </p:spPr>
        <p:txBody>
          <a:bodyPr wrap="square" lIns="0" tIns="0" rIns="0" bIns="0" rtlCol="0" anchor="ctr"/>
          <a:lstStyle/>
          <a:p>
            <a:pPr indent="0" marL="0">
              <a:buNone/>
            </a:pPr>
            <a:r>
              <a:rPr lang="en-US" sz="1200" b="1" dirty="0">
                <a:solidFill>
                  <a:srgbClr val="E8E8F0"/>
                </a:solidFill>
                <a:latin typeface="Trebuchet MS" pitchFamily="34" charset="0"/>
                <a:ea typeface="Trebuchet MS" pitchFamily="34" charset="-122"/>
                <a:cs typeface="Trebuchet MS" pitchFamily="34" charset="-120"/>
              </a:rPr>
              <a:t>OpenSkill (2024)</a:t>
            </a:r>
            <a:endParaRPr lang="en-US" sz="1200" dirty="0"/>
          </a:p>
        </p:txBody>
      </p:sp>
      <p:sp>
        <p:nvSpPr>
          <p:cNvPr id="42" name="Text 40"/>
          <p:cNvSpPr/>
          <p:nvPr/>
        </p:nvSpPr>
        <p:spPr>
          <a:xfrm>
            <a:off x="7150608" y="1572768"/>
            <a:ext cx="1792224" cy="320040"/>
          </a:xfrm>
          <a:prstGeom prst="rect">
            <a:avLst/>
          </a:prstGeom>
          <a:noFill/>
          <a:ln/>
        </p:spPr>
        <p:txBody>
          <a:bodyPr wrap="square" lIns="0" tIns="0" rIns="0" bIns="0" rtlCol="0" anchor="ctr"/>
          <a:lstStyle/>
          <a:p>
            <a:pPr indent="0" marL="0">
              <a:buNone/>
            </a:pPr>
            <a:r>
              <a:rPr lang="en-US" sz="1000" dirty="0">
                <a:solidFill>
                  <a:srgbClr val="BF40FF"/>
                </a:solidFill>
                <a:latin typeface="Consolas" pitchFamily="34" charset="0"/>
                <a:ea typeface="Consolas" pitchFamily="34" charset="-122"/>
                <a:cs typeface="Consolas" pitchFamily="34" charset="-120"/>
              </a:rPr>
              <a:t>Weng-Lin + Plackett-Luce</a:t>
            </a:r>
            <a:endParaRPr lang="en-US" sz="1000" dirty="0"/>
          </a:p>
        </p:txBody>
      </p:sp>
      <p:sp>
        <p:nvSpPr>
          <p:cNvPr id="43" name="Text 41"/>
          <p:cNvSpPr/>
          <p:nvPr/>
        </p:nvSpPr>
        <p:spPr>
          <a:xfrm>
            <a:off x="7150608" y="1965960"/>
            <a:ext cx="1792224" cy="1371600"/>
          </a:xfrm>
          <a:prstGeom prst="rect">
            <a:avLst/>
          </a:prstGeom>
          <a:noFill/>
          <a:ln/>
        </p:spPr>
        <p:txBody>
          <a:bodyPr wrap="square" lIns="0" tIns="0" rIns="0" bIns="0" rtlCol="0" anchor="t"/>
          <a:lstStyle/>
          <a:p>
            <a:pPr indent="0" marL="0">
              <a:buNone/>
            </a:pPr>
            <a:r>
              <a:rPr lang="en-US" sz="900" dirty="0">
                <a:solidFill>
                  <a:srgbClr val="7A8BA8"/>
                </a:solidFill>
                <a:latin typeface="Trebuchet MS" pitchFamily="34" charset="0"/>
                <a:ea typeface="Trebuchet MS" pitchFamily="34" charset="-122"/>
                <a:cs typeface="Trebuchet MS" pitchFamily="34" charset="-120"/>
              </a:rPr>
              <a:t>Extension bayesiana para multiples equipos y placements simultaneos.</a:t>
            </a:r>
            <a:endParaRPr lang="en-US" sz="900" dirty="0"/>
          </a:p>
        </p:txBody>
      </p:sp>
      <p:sp>
        <p:nvSpPr>
          <p:cNvPr id="44" name="Text 42"/>
          <p:cNvSpPr/>
          <p:nvPr/>
        </p:nvSpPr>
        <p:spPr>
          <a:xfrm>
            <a:off x="914400" y="3749040"/>
            <a:ext cx="914400" cy="320040"/>
          </a:xfrm>
          <a:prstGeom prst="rect">
            <a:avLst/>
          </a:prstGeom>
          <a:noFill/>
          <a:ln/>
        </p:spPr>
        <p:txBody>
          <a:bodyPr wrap="square" rtlCol="0" anchor="ctr"/>
          <a:lstStyle/>
          <a:p>
            <a:pPr algn="ctr" indent="0" marL="0">
              <a:buNone/>
            </a:pPr>
            <a:r>
              <a:rPr lang="en-US" sz="1000" b="1" dirty="0">
                <a:solidFill>
                  <a:srgbClr val="FFE600"/>
                </a:solidFill>
                <a:latin typeface="Trebuchet MS" pitchFamily="34" charset="0"/>
                <a:ea typeface="Trebuchet MS" pitchFamily="34" charset="-122"/>
                <a:cs typeface="Trebuchet MS" pitchFamily="34" charset="-120"/>
              </a:rPr>
              <a:t>Elo</a:t>
            </a:r>
            <a:endParaRPr lang="en-US" sz="1000" dirty="0"/>
          </a:p>
        </p:txBody>
      </p:sp>
      <p:sp>
        <p:nvSpPr>
          <p:cNvPr id="45" name="Shape 43"/>
          <p:cNvSpPr/>
          <p:nvPr/>
        </p:nvSpPr>
        <p:spPr>
          <a:xfrm>
            <a:off x="1828800" y="3858768"/>
            <a:ext cx="548640" cy="36576"/>
          </a:xfrm>
          <a:prstGeom prst="rect">
            <a:avLst/>
          </a:prstGeom>
          <a:solidFill>
            <a:srgbClr val="1E2A3A"/>
          </a:solidFill>
          <a:ln/>
        </p:spPr>
      </p:sp>
      <p:sp>
        <p:nvSpPr>
          <p:cNvPr id="46" name="Text 44"/>
          <p:cNvSpPr/>
          <p:nvPr/>
        </p:nvSpPr>
        <p:spPr>
          <a:xfrm>
            <a:off x="2468880" y="3749040"/>
            <a:ext cx="1097280" cy="320040"/>
          </a:xfrm>
          <a:prstGeom prst="rect">
            <a:avLst/>
          </a:prstGeom>
          <a:noFill/>
          <a:ln/>
        </p:spPr>
        <p:txBody>
          <a:bodyPr wrap="square" rtlCol="0" anchor="ctr"/>
          <a:lstStyle/>
          <a:p>
            <a:pPr algn="ctr" indent="0" marL="0">
              <a:buNone/>
            </a:pPr>
            <a:r>
              <a:rPr lang="en-US" sz="1000" b="1" dirty="0">
                <a:solidFill>
                  <a:srgbClr val="00F0FF"/>
                </a:solidFill>
                <a:latin typeface="Trebuchet MS" pitchFamily="34" charset="0"/>
                <a:ea typeface="Trebuchet MS" pitchFamily="34" charset="-122"/>
                <a:cs typeface="Trebuchet MS" pitchFamily="34" charset="-120"/>
              </a:rPr>
              <a:t>Glicko</a:t>
            </a:r>
            <a:endParaRPr lang="en-US" sz="1000" dirty="0"/>
          </a:p>
        </p:txBody>
      </p:sp>
      <p:sp>
        <p:nvSpPr>
          <p:cNvPr id="47" name="Shape 45"/>
          <p:cNvSpPr/>
          <p:nvPr/>
        </p:nvSpPr>
        <p:spPr>
          <a:xfrm>
            <a:off x="3611880" y="3858768"/>
            <a:ext cx="548640" cy="36576"/>
          </a:xfrm>
          <a:prstGeom prst="rect">
            <a:avLst/>
          </a:prstGeom>
          <a:solidFill>
            <a:srgbClr val="1E2A3A"/>
          </a:solidFill>
          <a:ln/>
        </p:spPr>
      </p:sp>
      <p:sp>
        <p:nvSpPr>
          <p:cNvPr id="48" name="Text 46"/>
          <p:cNvSpPr/>
          <p:nvPr/>
        </p:nvSpPr>
        <p:spPr>
          <a:xfrm>
            <a:off x="4206240" y="3749040"/>
            <a:ext cx="1280160" cy="320040"/>
          </a:xfrm>
          <a:prstGeom prst="rect">
            <a:avLst/>
          </a:prstGeom>
          <a:noFill/>
          <a:ln/>
        </p:spPr>
        <p:txBody>
          <a:bodyPr wrap="square" rtlCol="0" anchor="ctr"/>
          <a:lstStyle/>
          <a:p>
            <a:pPr algn="ctr" indent="0" marL="0">
              <a:buNone/>
            </a:pPr>
            <a:r>
              <a:rPr lang="en-US" sz="1000" b="1" dirty="0">
                <a:solidFill>
                  <a:srgbClr val="39FF14"/>
                </a:solidFill>
                <a:latin typeface="Trebuchet MS" pitchFamily="34" charset="0"/>
                <a:ea typeface="Trebuchet MS" pitchFamily="34" charset="-122"/>
                <a:cs typeface="Trebuchet MS" pitchFamily="34" charset="-120"/>
              </a:rPr>
              <a:t>TrueSkill</a:t>
            </a:r>
            <a:endParaRPr lang="en-US" sz="1000" dirty="0"/>
          </a:p>
        </p:txBody>
      </p:sp>
      <p:sp>
        <p:nvSpPr>
          <p:cNvPr id="49" name="Shape 47"/>
          <p:cNvSpPr/>
          <p:nvPr/>
        </p:nvSpPr>
        <p:spPr>
          <a:xfrm>
            <a:off x="5532120" y="3858768"/>
            <a:ext cx="548640" cy="36576"/>
          </a:xfrm>
          <a:prstGeom prst="rect">
            <a:avLst/>
          </a:prstGeom>
          <a:solidFill>
            <a:srgbClr val="1E2A3A"/>
          </a:solidFill>
          <a:ln/>
        </p:spPr>
      </p:sp>
      <p:sp>
        <p:nvSpPr>
          <p:cNvPr id="50" name="Text 48"/>
          <p:cNvSpPr/>
          <p:nvPr/>
        </p:nvSpPr>
        <p:spPr>
          <a:xfrm>
            <a:off x="6126480" y="3749040"/>
            <a:ext cx="1280160" cy="320040"/>
          </a:xfrm>
          <a:prstGeom prst="rect">
            <a:avLst/>
          </a:prstGeom>
          <a:noFill/>
          <a:ln/>
        </p:spPr>
        <p:txBody>
          <a:bodyPr wrap="square" rtlCol="0" anchor="ctr"/>
          <a:lstStyle/>
          <a:p>
            <a:pPr algn="ctr" indent="0" marL="0">
              <a:buNone/>
            </a:pPr>
            <a:r>
              <a:rPr lang="en-US" sz="1000" b="1" dirty="0">
                <a:solidFill>
                  <a:srgbClr val="BF40FF"/>
                </a:solidFill>
                <a:latin typeface="Trebuchet MS" pitchFamily="34" charset="0"/>
                <a:ea typeface="Trebuchet MS" pitchFamily="34" charset="-122"/>
                <a:cs typeface="Trebuchet MS" pitchFamily="34" charset="-120"/>
              </a:rPr>
              <a:t>OpenSkill</a:t>
            </a:r>
            <a:endParaRPr lang="en-US" sz="1000" dirty="0"/>
          </a:p>
        </p:txBody>
      </p:sp>
      <p:sp>
        <p:nvSpPr>
          <p:cNvPr id="51" name="Shape 49"/>
          <p:cNvSpPr/>
          <p:nvPr/>
        </p:nvSpPr>
        <p:spPr>
          <a:xfrm>
            <a:off x="7452360" y="3858768"/>
            <a:ext cx="365760" cy="36576"/>
          </a:xfrm>
          <a:prstGeom prst="rect">
            <a:avLst/>
          </a:prstGeom>
          <a:solidFill>
            <a:srgbClr val="FF2D6B"/>
          </a:solidFill>
          <a:ln/>
        </p:spPr>
      </p:sp>
      <p:sp>
        <p:nvSpPr>
          <p:cNvPr id="52" name="Text 50"/>
          <p:cNvSpPr/>
          <p:nvPr/>
        </p:nvSpPr>
        <p:spPr>
          <a:xfrm>
            <a:off x="7772400" y="3657600"/>
            <a:ext cx="914400" cy="457200"/>
          </a:xfrm>
          <a:prstGeom prst="rect">
            <a:avLst/>
          </a:prstGeom>
          <a:noFill/>
          <a:ln/>
        </p:spPr>
        <p:txBody>
          <a:bodyPr wrap="square" rtlCol="0" anchor="ctr"/>
          <a:lstStyle/>
          <a:p>
            <a:pPr algn="ctr" indent="0" marL="0">
              <a:buNone/>
            </a:pPr>
            <a:r>
              <a:rPr lang="en-US" sz="1400" b="1" dirty="0">
                <a:solidFill>
                  <a:srgbClr val="FF2D6B"/>
                </a:solidFill>
                <a:latin typeface="Impact" pitchFamily="34" charset="0"/>
                <a:ea typeface="Impact" pitchFamily="34" charset="-122"/>
                <a:cs typeface="Impact" pitchFamily="34" charset="-120"/>
              </a:rPr>
              <a:t>PSR</a:t>
            </a:r>
            <a:endParaRPr lang="en-US" sz="1400" dirty="0"/>
          </a:p>
        </p:txBody>
      </p:sp>
      <p:sp>
        <p:nvSpPr>
          <p:cNvPr id="53" name="Text 51"/>
          <p:cNvSpPr/>
          <p:nvPr/>
        </p:nvSpPr>
        <p:spPr>
          <a:xfrm>
            <a:off x="457200" y="4160520"/>
            <a:ext cx="8229600" cy="365760"/>
          </a:xfrm>
          <a:prstGeom prst="rect">
            <a:avLst/>
          </a:prstGeom>
          <a:noFill/>
          <a:ln/>
        </p:spPr>
        <p:txBody>
          <a:bodyPr wrap="square" rtlCol="0" anchor="ctr"/>
          <a:lstStyle/>
          <a:p>
            <a:pPr algn="ctr" indent="0" marL="0">
              <a:buNone/>
            </a:pPr>
            <a:r>
              <a:rPr lang="en-US" sz="1000" i="1" dirty="0">
                <a:solidFill>
                  <a:srgbClr val="E8E8F0"/>
                </a:solidFill>
                <a:latin typeface="Trebuchet MS" pitchFamily="34" charset="0"/>
                <a:ea typeface="Trebuchet MS" pitchFamily="34" charset="-122"/>
                <a:cs typeface="Trebuchet MS" pitchFamily="34" charset="-120"/>
              </a:rPr>
              <a:t>PSR toma lo mejor de cada modelo: incertidumbre de Glicko, variable latente de TrueSkill, multi-equipo de OpenSkill</a:t>
            </a:r>
            <a:endParaRPr lang="en-US" sz="1000" dirty="0"/>
          </a:p>
        </p:txBody>
      </p:sp>
      <p:sp>
        <p:nvSpPr>
          <p:cNvPr id="54" name="Text 52"/>
          <p:cNvSpPr/>
          <p:nvPr/>
        </p:nvSpPr>
        <p:spPr>
          <a:xfrm>
            <a:off x="457200" y="4709160"/>
            <a:ext cx="8229600" cy="274320"/>
          </a:xfrm>
          <a:prstGeom prst="rect">
            <a:avLst/>
          </a:prstGeom>
          <a:noFill/>
          <a:ln/>
        </p:spPr>
        <p:txBody>
          <a:bodyPr wrap="square" rtlCol="0" anchor="ctr"/>
          <a:lstStyle/>
          <a:p>
            <a:pPr indent="0" marL="0">
              <a:buNone/>
            </a:pPr>
            <a:r>
              <a:rPr lang="en-US" sz="700" i="1" dirty="0">
                <a:solidFill>
                  <a:srgbClr val="7A8BA8"/>
                </a:solidFill>
                <a:latin typeface="Consolas" pitchFamily="34" charset="0"/>
                <a:ea typeface="Consolas" pitchFamily="34" charset="-122"/>
                <a:cs typeface="Consolas" pitchFamily="34" charset="-120"/>
              </a:rPr>
              <a:t>Ref: Herbrich et al. 2006, Glickman 2000, Weng &amp; Lin 2011, Joshy 2024 — docs/psr-audit/09-referencias-vancouver.md</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00F0FF"/>
          </a:solidFill>
          <a:ln/>
        </p:spPr>
      </p:sp>
      <p:sp>
        <p:nvSpPr>
          <p:cNvPr id="3" name="Shape 1"/>
          <p:cNvSpPr/>
          <p:nvPr/>
        </p:nvSpPr>
        <p:spPr>
          <a:xfrm>
            <a:off x="0" y="5125212"/>
            <a:ext cx="9144000" cy="18288"/>
          </a:xfrm>
          <a:prstGeom prst="rect">
            <a:avLst/>
          </a:prstGeom>
          <a:solidFill>
            <a:srgbClr val="FF2D6B"/>
          </a:solidFill>
          <a:ln/>
        </p:spPr>
      </p:sp>
      <p:sp>
        <p:nvSpPr>
          <p:cNvPr id="4" name="Shape 2"/>
          <p:cNvSpPr/>
          <p:nvPr/>
        </p:nvSpPr>
        <p:spPr>
          <a:xfrm>
            <a:off x="0" y="0"/>
            <a:ext cx="18288" cy="548640"/>
          </a:xfrm>
          <a:prstGeom prst="rect">
            <a:avLst/>
          </a:prstGeom>
          <a:solidFill>
            <a:srgbClr val="00F0FF"/>
          </a:solidFill>
          <a:ln/>
        </p:spPr>
      </p:sp>
      <p:sp>
        <p:nvSpPr>
          <p:cNvPr id="5" name="Shape 3"/>
          <p:cNvSpPr/>
          <p:nvPr/>
        </p:nvSpPr>
        <p:spPr>
          <a:xfrm>
            <a:off x="0" y="0"/>
            <a:ext cx="548640" cy="18288"/>
          </a:xfrm>
          <a:prstGeom prst="rect">
            <a:avLst/>
          </a:prstGeom>
          <a:solidFill>
            <a:srgbClr val="00F0FF"/>
          </a:solidFill>
          <a:ln/>
        </p:spPr>
      </p:sp>
      <p:sp>
        <p:nvSpPr>
          <p:cNvPr id="6" name="Shape 4"/>
          <p:cNvSpPr/>
          <p:nvPr/>
        </p:nvSpPr>
        <p:spPr>
          <a:xfrm>
            <a:off x="9125712" y="4594860"/>
            <a:ext cx="18288" cy="548640"/>
          </a:xfrm>
          <a:prstGeom prst="rect">
            <a:avLst/>
          </a:prstGeom>
          <a:solidFill>
            <a:srgbClr val="FF2D6B"/>
          </a:solidFill>
          <a:ln/>
        </p:spPr>
      </p:sp>
      <p:sp>
        <p:nvSpPr>
          <p:cNvPr id="7" name="Shape 5"/>
          <p:cNvSpPr/>
          <p:nvPr/>
        </p:nvSpPr>
        <p:spPr>
          <a:xfrm>
            <a:off x="8595360" y="5125212"/>
            <a:ext cx="548640" cy="18288"/>
          </a:xfrm>
          <a:prstGeom prst="rect">
            <a:avLst/>
          </a:prstGeom>
          <a:solidFill>
            <a:srgbClr val="FF2D6B"/>
          </a:solidFill>
          <a:ln/>
        </p:spPr>
      </p:sp>
      <p:sp>
        <p:nvSpPr>
          <p:cNvPr id="8" name="Shape 6"/>
          <p:cNvSpPr/>
          <p:nvPr/>
        </p:nvSpPr>
        <p:spPr>
          <a:xfrm>
            <a:off x="914400" y="0"/>
            <a:ext cx="2743" cy="5143500"/>
          </a:xfrm>
          <a:prstGeom prst="rect">
            <a:avLst/>
          </a:prstGeom>
          <a:solidFill>
            <a:srgbClr val="1E2A3A">
              <a:alpha val="20000"/>
            </a:srgbClr>
          </a:solidFill>
          <a:ln/>
        </p:spPr>
      </p:sp>
      <p:sp>
        <p:nvSpPr>
          <p:cNvPr id="9" name="Shape 7"/>
          <p:cNvSpPr/>
          <p:nvPr/>
        </p:nvSpPr>
        <p:spPr>
          <a:xfrm>
            <a:off x="1828800" y="0"/>
            <a:ext cx="2743" cy="5143500"/>
          </a:xfrm>
          <a:prstGeom prst="rect">
            <a:avLst/>
          </a:prstGeom>
          <a:solidFill>
            <a:srgbClr val="1E2A3A">
              <a:alpha val="20000"/>
            </a:srgbClr>
          </a:solidFill>
          <a:ln/>
        </p:spPr>
      </p:sp>
      <p:sp>
        <p:nvSpPr>
          <p:cNvPr id="10" name="Shape 8"/>
          <p:cNvSpPr/>
          <p:nvPr/>
        </p:nvSpPr>
        <p:spPr>
          <a:xfrm>
            <a:off x="2743200" y="0"/>
            <a:ext cx="2743" cy="5143500"/>
          </a:xfrm>
          <a:prstGeom prst="rect">
            <a:avLst/>
          </a:prstGeom>
          <a:solidFill>
            <a:srgbClr val="1E2A3A">
              <a:alpha val="20000"/>
            </a:srgbClr>
          </a:solidFill>
          <a:ln/>
        </p:spPr>
      </p:sp>
      <p:sp>
        <p:nvSpPr>
          <p:cNvPr id="11" name="Shape 9"/>
          <p:cNvSpPr/>
          <p:nvPr/>
        </p:nvSpPr>
        <p:spPr>
          <a:xfrm>
            <a:off x="3657600" y="0"/>
            <a:ext cx="2743" cy="5143500"/>
          </a:xfrm>
          <a:prstGeom prst="rect">
            <a:avLst/>
          </a:prstGeom>
          <a:solidFill>
            <a:srgbClr val="1E2A3A">
              <a:alpha val="20000"/>
            </a:srgbClr>
          </a:solidFill>
          <a:ln/>
        </p:spPr>
      </p:sp>
      <p:sp>
        <p:nvSpPr>
          <p:cNvPr id="12" name="Shape 10"/>
          <p:cNvSpPr/>
          <p:nvPr/>
        </p:nvSpPr>
        <p:spPr>
          <a:xfrm>
            <a:off x="4572000" y="0"/>
            <a:ext cx="2743" cy="5143500"/>
          </a:xfrm>
          <a:prstGeom prst="rect">
            <a:avLst/>
          </a:prstGeom>
          <a:solidFill>
            <a:srgbClr val="1E2A3A">
              <a:alpha val="20000"/>
            </a:srgbClr>
          </a:solidFill>
          <a:ln/>
        </p:spPr>
      </p:sp>
      <p:sp>
        <p:nvSpPr>
          <p:cNvPr id="13" name="Shape 11"/>
          <p:cNvSpPr/>
          <p:nvPr/>
        </p:nvSpPr>
        <p:spPr>
          <a:xfrm>
            <a:off x="5486400" y="0"/>
            <a:ext cx="2743" cy="5143500"/>
          </a:xfrm>
          <a:prstGeom prst="rect">
            <a:avLst/>
          </a:prstGeom>
          <a:solidFill>
            <a:srgbClr val="1E2A3A">
              <a:alpha val="20000"/>
            </a:srgbClr>
          </a:solidFill>
          <a:ln/>
        </p:spPr>
      </p:sp>
      <p:sp>
        <p:nvSpPr>
          <p:cNvPr id="14" name="Shape 12"/>
          <p:cNvSpPr/>
          <p:nvPr/>
        </p:nvSpPr>
        <p:spPr>
          <a:xfrm>
            <a:off x="6400800" y="0"/>
            <a:ext cx="2743" cy="5143500"/>
          </a:xfrm>
          <a:prstGeom prst="rect">
            <a:avLst/>
          </a:prstGeom>
          <a:solidFill>
            <a:srgbClr val="1E2A3A">
              <a:alpha val="20000"/>
            </a:srgbClr>
          </a:solidFill>
          <a:ln/>
        </p:spPr>
      </p:sp>
      <p:sp>
        <p:nvSpPr>
          <p:cNvPr id="15" name="Shape 13"/>
          <p:cNvSpPr/>
          <p:nvPr/>
        </p:nvSpPr>
        <p:spPr>
          <a:xfrm>
            <a:off x="7315200" y="0"/>
            <a:ext cx="2743" cy="5143500"/>
          </a:xfrm>
          <a:prstGeom prst="rect">
            <a:avLst/>
          </a:prstGeom>
          <a:solidFill>
            <a:srgbClr val="1E2A3A">
              <a:alpha val="20000"/>
            </a:srgbClr>
          </a:solidFill>
          <a:ln/>
        </p:spPr>
      </p:sp>
      <p:sp>
        <p:nvSpPr>
          <p:cNvPr id="16" name="Shape 14"/>
          <p:cNvSpPr/>
          <p:nvPr/>
        </p:nvSpPr>
        <p:spPr>
          <a:xfrm>
            <a:off x="8229600" y="0"/>
            <a:ext cx="2743" cy="5143500"/>
          </a:xfrm>
          <a:prstGeom prst="rect">
            <a:avLst/>
          </a:prstGeom>
          <a:solidFill>
            <a:srgbClr val="1E2A3A">
              <a:alpha val="20000"/>
            </a:srgbClr>
          </a:solidFill>
          <a:ln/>
        </p:spPr>
      </p:sp>
      <p:sp>
        <p:nvSpPr>
          <p:cNvPr id="17" name="Text 15"/>
          <p:cNvSpPr/>
          <p:nvPr/>
        </p:nvSpPr>
        <p:spPr>
          <a:xfrm>
            <a:off x="640080" y="182880"/>
            <a:ext cx="7863840" cy="502920"/>
          </a:xfrm>
          <a:prstGeom prst="rect">
            <a:avLst/>
          </a:prstGeom>
          <a:noFill/>
          <a:ln/>
        </p:spPr>
        <p:txBody>
          <a:bodyPr wrap="square" lIns="0" tIns="0" rIns="0" bIns="0" rtlCol="0" anchor="ctr"/>
          <a:lstStyle/>
          <a:p>
            <a:pPr indent="0" marL="0">
              <a:buNone/>
            </a:pPr>
            <a:r>
              <a:rPr lang="en-US" sz="2200" b="1" spc="300" kern="0" dirty="0">
                <a:solidFill>
                  <a:srgbClr val="00F0FF"/>
                </a:solidFill>
                <a:latin typeface="Impact" pitchFamily="34" charset="0"/>
                <a:ea typeface="Impact" pitchFamily="34" charset="-122"/>
                <a:cs typeface="Impact" pitchFamily="34" charset="-120"/>
              </a:rPr>
              <a:t>LAS ECUACIONES DE PSR</a:t>
            </a:r>
            <a:endParaRPr lang="en-US" sz="2200" dirty="0"/>
          </a:p>
        </p:txBody>
      </p:sp>
      <p:sp>
        <p:nvSpPr>
          <p:cNvPr id="18" name="Shape 16"/>
          <p:cNvSpPr/>
          <p:nvPr/>
        </p:nvSpPr>
        <p:spPr>
          <a:xfrm>
            <a:off x="640080" y="713232"/>
            <a:ext cx="2286000" cy="22860"/>
          </a:xfrm>
          <a:prstGeom prst="rect">
            <a:avLst/>
          </a:prstGeom>
          <a:solidFill>
            <a:srgbClr val="FF2D6B"/>
          </a:solidFill>
          <a:ln/>
        </p:spPr>
      </p:sp>
      <p:sp>
        <p:nvSpPr>
          <p:cNvPr id="19" name="Text 17"/>
          <p:cNvSpPr/>
          <p:nvPr/>
        </p:nvSpPr>
        <p:spPr>
          <a:xfrm>
            <a:off x="640080" y="822960"/>
            <a:ext cx="7863840" cy="228600"/>
          </a:xfrm>
          <a:prstGeom prst="rect">
            <a:avLst/>
          </a:prstGeom>
          <a:noFill/>
          <a:ln/>
        </p:spPr>
        <p:txBody>
          <a:bodyPr wrap="square" lIns="0" tIns="0" rIns="0" bIns="0" rtlCol="0" anchor="ctr"/>
          <a:lstStyle/>
          <a:p>
            <a:pPr indent="0" marL="0">
              <a:buNone/>
            </a:pPr>
            <a:r>
              <a:rPr lang="en-US" sz="1000" i="1" dirty="0">
                <a:solidFill>
                  <a:srgbClr val="7A8BA8"/>
                </a:solidFill>
                <a:latin typeface="Trebuchet MS" pitchFamily="34" charset="0"/>
                <a:ea typeface="Trebuchet MS" pitchFamily="34" charset="-122"/>
                <a:cs typeface="Trebuchet MS" pitchFamily="34" charset="-120"/>
              </a:rPr>
              <a:t>Cada variable alimenta un pipeline que produce el score final del jugador</a:t>
            </a:r>
            <a:endParaRPr lang="en-US" sz="1000" dirty="0"/>
          </a:p>
        </p:txBody>
      </p:sp>
      <p:sp>
        <p:nvSpPr>
          <p:cNvPr id="20" name="Shape 18"/>
          <p:cNvSpPr/>
          <p:nvPr/>
        </p:nvSpPr>
        <p:spPr>
          <a:xfrm>
            <a:off x="457200" y="1051560"/>
            <a:ext cx="4114800" cy="3657600"/>
          </a:xfrm>
          <a:prstGeom prst="rect">
            <a:avLst/>
          </a:prstGeom>
          <a:solidFill>
            <a:srgbClr val="12121E"/>
          </a:solidFill>
          <a:ln w="12700">
            <a:solidFill>
              <a:srgbClr val="FF2D6B"/>
            </a:solidFill>
            <a:prstDash val="solid"/>
          </a:ln>
        </p:spPr>
      </p:sp>
      <p:sp>
        <p:nvSpPr>
          <p:cNvPr id="21" name="Shape 19"/>
          <p:cNvSpPr/>
          <p:nvPr/>
        </p:nvSpPr>
        <p:spPr>
          <a:xfrm>
            <a:off x="457200" y="1051560"/>
            <a:ext cx="4114800" cy="22860"/>
          </a:xfrm>
          <a:prstGeom prst="rect">
            <a:avLst/>
          </a:prstGeom>
          <a:solidFill>
            <a:srgbClr val="FF2D6B"/>
          </a:solidFill>
          <a:ln/>
        </p:spPr>
      </p:sp>
      <p:sp>
        <p:nvSpPr>
          <p:cNvPr id="22" name="Text 20"/>
          <p:cNvSpPr/>
          <p:nvPr/>
        </p:nvSpPr>
        <p:spPr>
          <a:xfrm>
            <a:off x="594360" y="1143000"/>
            <a:ext cx="3840480" cy="274320"/>
          </a:xfrm>
          <a:prstGeom prst="rect">
            <a:avLst/>
          </a:prstGeom>
          <a:noFill/>
          <a:ln/>
        </p:spPr>
        <p:txBody>
          <a:bodyPr wrap="square" lIns="0" tIns="0" rIns="0" bIns="0" rtlCol="0" anchor="ctr"/>
          <a:lstStyle/>
          <a:p>
            <a:pPr indent="0" marL="0">
              <a:buNone/>
            </a:pPr>
            <a:r>
              <a:rPr lang="en-US" sz="1200" b="1" dirty="0">
                <a:solidFill>
                  <a:srgbClr val="FF2D6B"/>
                </a:solidFill>
                <a:latin typeface="Trebuchet MS" pitchFamily="34" charset="0"/>
                <a:ea typeface="Trebuchet MS" pitchFamily="34" charset="-122"/>
                <a:cs typeface="Trebuchet MS" pitchFamily="34" charset="-120"/>
              </a:rPr>
              <a:t>Senales de entrada</a:t>
            </a:r>
            <a:endParaRPr lang="en-US" sz="1200" dirty="0"/>
          </a:p>
        </p:txBody>
      </p:sp>
      <p:sp>
        <p:nvSpPr>
          <p:cNvPr id="23" name="Text 21"/>
          <p:cNvSpPr/>
          <p:nvPr/>
        </p:nvSpPr>
        <p:spPr>
          <a:xfrm>
            <a:off x="640080" y="1508760"/>
            <a:ext cx="1463040" cy="228600"/>
          </a:xfrm>
          <a:prstGeom prst="rect">
            <a:avLst/>
          </a:prstGeom>
          <a:noFill/>
          <a:ln/>
        </p:spPr>
        <p:txBody>
          <a:bodyPr wrap="square" lIns="0" tIns="0" rIns="0" bIns="0" rtlCol="0" anchor="ctr"/>
          <a:lstStyle/>
          <a:p>
            <a:pPr indent="0" marL="0">
              <a:buNone/>
            </a:pPr>
            <a:r>
              <a:rPr lang="en-US" sz="900" b="1" dirty="0">
                <a:solidFill>
                  <a:srgbClr val="FF2D6B"/>
                </a:solidFill>
                <a:latin typeface="Trebuchet MS" pitchFamily="34" charset="0"/>
                <a:ea typeface="Trebuchet MS" pitchFamily="34" charset="-122"/>
                <a:cs typeface="Trebuchet MS" pitchFamily="34" charset="-120"/>
              </a:rPr>
              <a:t>Placement</a:t>
            </a:r>
            <a:endParaRPr lang="en-US" sz="900" dirty="0"/>
          </a:p>
        </p:txBody>
      </p:sp>
      <p:sp>
        <p:nvSpPr>
          <p:cNvPr id="24" name="Text 22"/>
          <p:cNvSpPr/>
          <p:nvPr/>
        </p:nvSpPr>
        <p:spPr>
          <a:xfrm>
            <a:off x="640080" y="1737360"/>
            <a:ext cx="3749040" cy="228600"/>
          </a:xfrm>
          <a:prstGeom prst="rect">
            <a:avLst/>
          </a:prstGeom>
          <a:noFill/>
          <a:ln/>
        </p:spPr>
        <p:txBody>
          <a:bodyPr wrap="square" lIns="0" tIns="0" rIns="0" bIns="0" rtlCol="0" anchor="ctr"/>
          <a:lstStyle/>
          <a:p>
            <a:pPr indent="0" marL="0">
              <a:buNone/>
            </a:pPr>
            <a:r>
              <a:rPr lang="en-US" sz="1000" dirty="0">
                <a:solidFill>
                  <a:srgbClr val="E8E8F0"/>
                </a:solidFill>
                <a:latin typeface="Consolas" pitchFamily="34" charset="0"/>
                <a:ea typeface="Consolas" pitchFamily="34" charset="-122"/>
                <a:cs typeface="Consolas" pitchFamily="34" charset="-120"/>
              </a:rPr>
              <a:t>placement = (total - pos) / (total - 1)</a:t>
            </a:r>
            <a:endParaRPr lang="en-US" sz="1000" dirty="0"/>
          </a:p>
        </p:txBody>
      </p:sp>
      <p:sp>
        <p:nvSpPr>
          <p:cNvPr id="25" name="Text 23"/>
          <p:cNvSpPr/>
          <p:nvPr/>
        </p:nvSpPr>
        <p:spPr>
          <a:xfrm>
            <a:off x="640080" y="2103120"/>
            <a:ext cx="1463040" cy="228600"/>
          </a:xfrm>
          <a:prstGeom prst="rect">
            <a:avLst/>
          </a:prstGeom>
          <a:noFill/>
          <a:ln/>
        </p:spPr>
        <p:txBody>
          <a:bodyPr wrap="square" lIns="0" tIns="0" rIns="0" bIns="0" rtlCol="0" anchor="ctr"/>
          <a:lstStyle/>
          <a:p>
            <a:pPr indent="0" marL="0">
              <a:buNone/>
            </a:pPr>
            <a:r>
              <a:rPr lang="en-US" sz="900" b="1" dirty="0">
                <a:solidFill>
                  <a:srgbClr val="FF2D6B"/>
                </a:solidFill>
                <a:latin typeface="Trebuchet MS" pitchFamily="34" charset="0"/>
                <a:ea typeface="Trebuchet MS" pitchFamily="34" charset="-122"/>
                <a:cs typeface="Trebuchet MS" pitchFamily="34" charset="-120"/>
              </a:rPr>
              <a:t>Placement compuesto</a:t>
            </a:r>
            <a:endParaRPr lang="en-US" sz="900" dirty="0"/>
          </a:p>
        </p:txBody>
      </p:sp>
      <p:sp>
        <p:nvSpPr>
          <p:cNvPr id="26" name="Text 24"/>
          <p:cNvSpPr/>
          <p:nvPr/>
        </p:nvSpPr>
        <p:spPr>
          <a:xfrm>
            <a:off x="640080" y="2331720"/>
            <a:ext cx="3749040" cy="228600"/>
          </a:xfrm>
          <a:prstGeom prst="rect">
            <a:avLst/>
          </a:prstGeom>
          <a:noFill/>
          <a:ln/>
        </p:spPr>
        <p:txBody>
          <a:bodyPr wrap="square" lIns="0" tIns="0" rIns="0" bIns="0" rtlCol="0" anchor="ctr"/>
          <a:lstStyle/>
          <a:p>
            <a:pPr indent="0" marL="0">
              <a:buNone/>
            </a:pPr>
            <a:r>
              <a:rPr lang="en-US" sz="1000" dirty="0">
                <a:solidFill>
                  <a:srgbClr val="E8E8F0"/>
                </a:solidFill>
                <a:latin typeface="Consolas" pitchFamily="34" charset="0"/>
                <a:ea typeface="Consolas" pitchFamily="34" charset="-122"/>
                <a:cs typeface="Consolas" pitchFamily="34" charset="-120"/>
              </a:rPr>
              <a:t>signal = 0.72*final + 0.28*avg</a:t>
            </a:r>
            <a:endParaRPr lang="en-US" sz="1000" dirty="0"/>
          </a:p>
        </p:txBody>
      </p:sp>
      <p:sp>
        <p:nvSpPr>
          <p:cNvPr id="27" name="Text 25"/>
          <p:cNvSpPr/>
          <p:nvPr/>
        </p:nvSpPr>
        <p:spPr>
          <a:xfrm>
            <a:off x="640080" y="2697480"/>
            <a:ext cx="1463040" cy="228600"/>
          </a:xfrm>
          <a:prstGeom prst="rect">
            <a:avLst/>
          </a:prstGeom>
          <a:noFill/>
          <a:ln/>
        </p:spPr>
        <p:txBody>
          <a:bodyPr wrap="square" lIns="0" tIns="0" rIns="0" bIns="0" rtlCol="0" anchor="ctr"/>
          <a:lstStyle/>
          <a:p>
            <a:pPr indent="0" marL="0">
              <a:buNone/>
            </a:pPr>
            <a:r>
              <a:rPr lang="en-US" sz="900" b="1" dirty="0">
                <a:solidFill>
                  <a:srgbClr val="00F0FF"/>
                </a:solidFill>
                <a:latin typeface="Trebuchet MS" pitchFamily="34" charset="0"/>
                <a:ea typeface="Trebuchet MS" pitchFamily="34" charset="-122"/>
                <a:cs typeface="Trebuchet MS" pitchFamily="34" charset="-120"/>
              </a:rPr>
              <a:t>Kills (log-transform)</a:t>
            </a:r>
            <a:endParaRPr lang="en-US" sz="900" dirty="0"/>
          </a:p>
        </p:txBody>
      </p:sp>
      <p:sp>
        <p:nvSpPr>
          <p:cNvPr id="28" name="Text 26"/>
          <p:cNvSpPr/>
          <p:nvPr/>
        </p:nvSpPr>
        <p:spPr>
          <a:xfrm>
            <a:off x="640080" y="2926080"/>
            <a:ext cx="3749040" cy="228600"/>
          </a:xfrm>
          <a:prstGeom prst="rect">
            <a:avLst/>
          </a:prstGeom>
          <a:noFill/>
          <a:ln/>
        </p:spPr>
        <p:txBody>
          <a:bodyPr wrap="square" lIns="0" tIns="0" rIns="0" bIns="0" rtlCol="0" anchor="ctr"/>
          <a:lstStyle/>
          <a:p>
            <a:pPr indent="0" marL="0">
              <a:buNone/>
            </a:pPr>
            <a:r>
              <a:rPr lang="en-US" sz="1000" dirty="0">
                <a:solidFill>
                  <a:srgbClr val="E8E8F0"/>
                </a:solidFill>
                <a:latin typeface="Consolas" pitchFamily="34" charset="0"/>
                <a:ea typeface="Consolas" pitchFamily="34" charset="-122"/>
                <a:cs typeface="Consolas" pitchFamily="34" charset="-120"/>
              </a:rPr>
              <a:t>kills = log(1+avg_k) / log(1+max_k)</a:t>
            </a:r>
            <a:endParaRPr lang="en-US" sz="1000" dirty="0"/>
          </a:p>
        </p:txBody>
      </p:sp>
      <p:sp>
        <p:nvSpPr>
          <p:cNvPr id="29" name="Text 27"/>
          <p:cNvSpPr/>
          <p:nvPr/>
        </p:nvSpPr>
        <p:spPr>
          <a:xfrm>
            <a:off x="640080" y="3291840"/>
            <a:ext cx="1463040" cy="228600"/>
          </a:xfrm>
          <a:prstGeom prst="rect">
            <a:avLst/>
          </a:prstGeom>
          <a:noFill/>
          <a:ln/>
        </p:spPr>
        <p:txBody>
          <a:bodyPr wrap="square" lIns="0" tIns="0" rIns="0" bIns="0" rtlCol="0" anchor="ctr"/>
          <a:lstStyle/>
          <a:p>
            <a:pPr indent="0" marL="0">
              <a:buNone/>
            </a:pPr>
            <a:r>
              <a:rPr lang="en-US" sz="900" b="1" dirty="0">
                <a:solidFill>
                  <a:srgbClr val="39FF14"/>
                </a:solidFill>
                <a:latin typeface="Trebuchet MS" pitchFamily="34" charset="0"/>
                <a:ea typeface="Trebuchet MS" pitchFamily="34" charset="-122"/>
                <a:cs typeface="Trebuchet MS" pitchFamily="34" charset="-120"/>
              </a:rPr>
              <a:t>Equipo</a:t>
            </a:r>
            <a:endParaRPr lang="en-US" sz="900" dirty="0"/>
          </a:p>
        </p:txBody>
      </p:sp>
      <p:sp>
        <p:nvSpPr>
          <p:cNvPr id="30" name="Text 28"/>
          <p:cNvSpPr/>
          <p:nvPr/>
        </p:nvSpPr>
        <p:spPr>
          <a:xfrm>
            <a:off x="640080" y="3520440"/>
            <a:ext cx="3749040" cy="228600"/>
          </a:xfrm>
          <a:prstGeom prst="rect">
            <a:avLst/>
          </a:prstGeom>
          <a:noFill/>
          <a:ln/>
        </p:spPr>
        <p:txBody>
          <a:bodyPr wrap="square" lIns="0" tIns="0" rIns="0" bIns="0" rtlCol="0" anchor="ctr"/>
          <a:lstStyle/>
          <a:p>
            <a:pPr indent="0" marL="0">
              <a:buNone/>
            </a:pPr>
            <a:r>
              <a:rPr lang="en-US" sz="1000" dirty="0">
                <a:solidFill>
                  <a:srgbClr val="E8E8F0"/>
                </a:solidFill>
                <a:latin typeface="Consolas" pitchFamily="34" charset="0"/>
                <a:ea typeface="Consolas" pitchFamily="34" charset="-122"/>
                <a:cs typeface="Consolas" pitchFamily="34" charset="-120"/>
              </a:rPr>
              <a:t>team = skillPts / max_skillPts</a:t>
            </a:r>
            <a:endParaRPr lang="en-US" sz="1000" dirty="0"/>
          </a:p>
        </p:txBody>
      </p:sp>
      <p:sp>
        <p:nvSpPr>
          <p:cNvPr id="31" name="Text 29"/>
          <p:cNvSpPr/>
          <p:nvPr/>
        </p:nvSpPr>
        <p:spPr>
          <a:xfrm>
            <a:off x="640080" y="3886200"/>
            <a:ext cx="1463040" cy="228600"/>
          </a:xfrm>
          <a:prstGeom prst="rect">
            <a:avLst/>
          </a:prstGeom>
          <a:noFill/>
          <a:ln/>
        </p:spPr>
        <p:txBody>
          <a:bodyPr wrap="square" lIns="0" tIns="0" rIns="0" bIns="0" rtlCol="0" anchor="ctr"/>
          <a:lstStyle/>
          <a:p>
            <a:pPr indent="0" marL="0">
              <a:buNone/>
            </a:pPr>
            <a:r>
              <a:rPr lang="en-US" sz="900" b="1" dirty="0">
                <a:solidFill>
                  <a:srgbClr val="FF6B35"/>
                </a:solidFill>
                <a:latin typeface="Trebuchet MS" pitchFamily="34" charset="0"/>
                <a:ea typeface="Trebuchet MS" pitchFamily="34" charset="-122"/>
                <a:cs typeface="Trebuchet MS" pitchFamily="34" charset="-120"/>
              </a:rPr>
              <a:t>Performance</a:t>
            </a:r>
            <a:endParaRPr lang="en-US" sz="900" dirty="0"/>
          </a:p>
        </p:txBody>
      </p:sp>
      <p:sp>
        <p:nvSpPr>
          <p:cNvPr id="32" name="Text 30"/>
          <p:cNvSpPr/>
          <p:nvPr/>
        </p:nvSpPr>
        <p:spPr>
          <a:xfrm>
            <a:off x="640080" y="4114800"/>
            <a:ext cx="3749040" cy="228600"/>
          </a:xfrm>
          <a:prstGeom prst="rect">
            <a:avLst/>
          </a:prstGeom>
          <a:noFill/>
          <a:ln/>
        </p:spPr>
        <p:txBody>
          <a:bodyPr wrap="square" lIns="0" tIns="0" rIns="0" bIns="0" rtlCol="0" anchor="ctr"/>
          <a:lstStyle/>
          <a:p>
            <a:pPr indent="0" marL="0">
              <a:buNone/>
            </a:pPr>
            <a:r>
              <a:rPr lang="en-US" sz="1000" dirty="0">
                <a:solidFill>
                  <a:srgbClr val="E8E8F0"/>
                </a:solidFill>
                <a:latin typeface="Consolas" pitchFamily="34" charset="0"/>
                <a:ea typeface="Consolas" pitchFamily="34" charset="-122"/>
                <a:cs typeface="Consolas" pitchFamily="34" charset="-120"/>
              </a:rPr>
              <a:t>perf = 0.70*plc + 0.20*kll + 0.10*tm</a:t>
            </a:r>
            <a:endParaRPr lang="en-US" sz="1000" dirty="0"/>
          </a:p>
        </p:txBody>
      </p:sp>
      <p:sp>
        <p:nvSpPr>
          <p:cNvPr id="33" name="Shape 31"/>
          <p:cNvSpPr/>
          <p:nvPr/>
        </p:nvSpPr>
        <p:spPr>
          <a:xfrm>
            <a:off x="4754880" y="1051560"/>
            <a:ext cx="3931920" cy="3657600"/>
          </a:xfrm>
          <a:prstGeom prst="rect">
            <a:avLst/>
          </a:prstGeom>
          <a:solidFill>
            <a:srgbClr val="12121E"/>
          </a:solidFill>
          <a:ln w="12700">
            <a:solidFill>
              <a:srgbClr val="00F0FF"/>
            </a:solidFill>
            <a:prstDash val="solid"/>
          </a:ln>
        </p:spPr>
      </p:sp>
      <p:sp>
        <p:nvSpPr>
          <p:cNvPr id="34" name="Shape 32"/>
          <p:cNvSpPr/>
          <p:nvPr/>
        </p:nvSpPr>
        <p:spPr>
          <a:xfrm>
            <a:off x="4754880" y="1051560"/>
            <a:ext cx="3931920" cy="22860"/>
          </a:xfrm>
          <a:prstGeom prst="rect">
            <a:avLst/>
          </a:prstGeom>
          <a:solidFill>
            <a:srgbClr val="00F0FF"/>
          </a:solidFill>
          <a:ln/>
        </p:spPr>
      </p:sp>
      <p:sp>
        <p:nvSpPr>
          <p:cNvPr id="35" name="Text 33"/>
          <p:cNvSpPr/>
          <p:nvPr/>
        </p:nvSpPr>
        <p:spPr>
          <a:xfrm>
            <a:off x="4892040" y="1143000"/>
            <a:ext cx="3657600" cy="274320"/>
          </a:xfrm>
          <a:prstGeom prst="rect">
            <a:avLst/>
          </a:prstGeom>
          <a:noFill/>
          <a:ln/>
        </p:spPr>
        <p:txBody>
          <a:bodyPr wrap="square" lIns="0" tIns="0" rIns="0" bIns="0" rtlCol="0" anchor="ctr"/>
          <a:lstStyle/>
          <a:p>
            <a:pPr indent="0" marL="0">
              <a:buNone/>
            </a:pPr>
            <a:r>
              <a:rPr lang="en-US" sz="1200" b="1" dirty="0">
                <a:solidFill>
                  <a:srgbClr val="00F0FF"/>
                </a:solidFill>
                <a:latin typeface="Trebuchet MS" pitchFamily="34" charset="0"/>
                <a:ea typeface="Trebuchet MS" pitchFamily="34" charset="-122"/>
                <a:cs typeface="Trebuchet MS" pitchFamily="34" charset="-120"/>
              </a:rPr>
              <a:t>Motor bayesiano</a:t>
            </a:r>
            <a:endParaRPr lang="en-US" sz="1200" dirty="0"/>
          </a:p>
        </p:txBody>
      </p:sp>
      <p:sp>
        <p:nvSpPr>
          <p:cNvPr id="36" name="Text 34"/>
          <p:cNvSpPr/>
          <p:nvPr/>
        </p:nvSpPr>
        <p:spPr>
          <a:xfrm>
            <a:off x="4892040" y="1508760"/>
            <a:ext cx="1828800" cy="228600"/>
          </a:xfrm>
          <a:prstGeom prst="rect">
            <a:avLst/>
          </a:prstGeom>
          <a:noFill/>
          <a:ln/>
        </p:spPr>
        <p:txBody>
          <a:bodyPr wrap="square" lIns="0" tIns="0" rIns="0" bIns="0" rtlCol="0" anchor="ctr"/>
          <a:lstStyle/>
          <a:p>
            <a:pPr indent="0" marL="0">
              <a:buNone/>
            </a:pPr>
            <a:r>
              <a:rPr lang="en-US" sz="900" b="1" dirty="0">
                <a:solidFill>
                  <a:srgbClr val="BF40FF"/>
                </a:solidFill>
                <a:latin typeface="Trebuchet MS" pitchFamily="34" charset="0"/>
                <a:ea typeface="Trebuchet MS" pitchFamily="34" charset="-122"/>
                <a:cs typeface="Trebuchet MS" pitchFamily="34" charset="-120"/>
              </a:rPr>
              <a:t>Comparacion pares</a:t>
            </a:r>
            <a:endParaRPr lang="en-US" sz="900" dirty="0"/>
          </a:p>
        </p:txBody>
      </p:sp>
      <p:sp>
        <p:nvSpPr>
          <p:cNvPr id="37" name="Text 35"/>
          <p:cNvSpPr/>
          <p:nvPr/>
        </p:nvSpPr>
        <p:spPr>
          <a:xfrm>
            <a:off x="4892040" y="1737360"/>
            <a:ext cx="3657600" cy="228600"/>
          </a:xfrm>
          <a:prstGeom prst="rect">
            <a:avLst/>
          </a:prstGeom>
          <a:noFill/>
          <a:ln/>
        </p:spPr>
        <p:txBody>
          <a:bodyPr wrap="square" lIns="0" tIns="0" rIns="0" bIns="0" rtlCol="0" anchor="ctr"/>
          <a:lstStyle/>
          <a:p>
            <a:pPr indent="0" marL="0">
              <a:buNone/>
            </a:pPr>
            <a:r>
              <a:rPr lang="en-US" sz="1000" dirty="0">
                <a:solidFill>
                  <a:srgbClr val="E8E8F0"/>
                </a:solidFill>
                <a:latin typeface="Consolas" pitchFamily="34" charset="0"/>
                <a:ea typeface="Consolas" pitchFamily="34" charset="-122"/>
                <a:cs typeface="Consolas" pitchFamily="34" charset="-120"/>
              </a:rPr>
              <a:t>c = sqrt(2*beta² + sigma_w² + sigma_l²)</a:t>
            </a:r>
            <a:endParaRPr lang="en-US" sz="1000" dirty="0"/>
          </a:p>
        </p:txBody>
      </p:sp>
      <p:sp>
        <p:nvSpPr>
          <p:cNvPr id="38" name="Text 36"/>
          <p:cNvSpPr/>
          <p:nvPr/>
        </p:nvSpPr>
        <p:spPr>
          <a:xfrm>
            <a:off x="4892040" y="2103120"/>
            <a:ext cx="1828800" cy="228600"/>
          </a:xfrm>
          <a:prstGeom prst="rect">
            <a:avLst/>
          </a:prstGeom>
          <a:noFill/>
          <a:ln/>
        </p:spPr>
        <p:txBody>
          <a:bodyPr wrap="square" lIns="0" tIns="0" rIns="0" bIns="0" rtlCol="0" anchor="ctr"/>
          <a:lstStyle/>
          <a:p>
            <a:pPr indent="0" marL="0">
              <a:buNone/>
            </a:pPr>
            <a:r>
              <a:rPr lang="en-US" sz="900" b="1" dirty="0">
                <a:solidFill>
                  <a:srgbClr val="BF40FF"/>
                </a:solidFill>
                <a:latin typeface="Trebuchet MS" pitchFamily="34" charset="0"/>
                <a:ea typeface="Trebuchet MS" pitchFamily="34" charset="-122"/>
                <a:cs typeface="Trebuchet MS" pitchFamily="34" charset="-120"/>
              </a:rPr>
              <a:t>Evidencia</a:t>
            </a:r>
            <a:endParaRPr lang="en-US" sz="900" dirty="0"/>
          </a:p>
        </p:txBody>
      </p:sp>
      <p:sp>
        <p:nvSpPr>
          <p:cNvPr id="39" name="Text 37"/>
          <p:cNvSpPr/>
          <p:nvPr/>
        </p:nvSpPr>
        <p:spPr>
          <a:xfrm>
            <a:off x="4892040" y="2331720"/>
            <a:ext cx="3657600" cy="228600"/>
          </a:xfrm>
          <a:prstGeom prst="rect">
            <a:avLst/>
          </a:prstGeom>
          <a:noFill/>
          <a:ln/>
        </p:spPr>
        <p:txBody>
          <a:bodyPr wrap="square" lIns="0" tIns="0" rIns="0" bIns="0" rtlCol="0" anchor="ctr"/>
          <a:lstStyle/>
          <a:p>
            <a:pPr indent="0" marL="0">
              <a:buNone/>
            </a:pPr>
            <a:r>
              <a:rPr lang="en-US" sz="1000" dirty="0">
                <a:solidFill>
                  <a:srgbClr val="E8E8F0"/>
                </a:solidFill>
                <a:latin typeface="Consolas" pitchFamily="34" charset="0"/>
                <a:ea typeface="Consolas" pitchFamily="34" charset="-122"/>
                <a:cs typeface="Consolas" pitchFamily="34" charset="-120"/>
              </a:rPr>
              <a:t>t = (mu_w - mu_l) / c</a:t>
            </a:r>
            <a:endParaRPr lang="en-US" sz="1000" dirty="0"/>
          </a:p>
        </p:txBody>
      </p:sp>
      <p:sp>
        <p:nvSpPr>
          <p:cNvPr id="40" name="Text 38"/>
          <p:cNvSpPr/>
          <p:nvPr/>
        </p:nvSpPr>
        <p:spPr>
          <a:xfrm>
            <a:off x="4892040" y="2697480"/>
            <a:ext cx="1828800" cy="228600"/>
          </a:xfrm>
          <a:prstGeom prst="rect">
            <a:avLst/>
          </a:prstGeom>
          <a:noFill/>
          <a:ln/>
        </p:spPr>
        <p:txBody>
          <a:bodyPr wrap="square" lIns="0" tIns="0" rIns="0" bIns="0" rtlCol="0" anchor="ctr"/>
          <a:lstStyle/>
          <a:p>
            <a:pPr indent="0" marL="0">
              <a:buNone/>
            </a:pPr>
            <a:r>
              <a:rPr lang="en-US" sz="900" b="1" dirty="0">
                <a:solidFill>
                  <a:srgbClr val="BF40FF"/>
                </a:solidFill>
                <a:latin typeface="Trebuchet MS" pitchFamily="34" charset="0"/>
                <a:ea typeface="Trebuchet MS" pitchFamily="34" charset="-122"/>
                <a:cs typeface="Trebuchet MS" pitchFamily="34" charset="-120"/>
              </a:rPr>
              <a:t>Actualizacion</a:t>
            </a:r>
            <a:endParaRPr lang="en-US" sz="900" dirty="0"/>
          </a:p>
        </p:txBody>
      </p:sp>
      <p:sp>
        <p:nvSpPr>
          <p:cNvPr id="41" name="Text 39"/>
          <p:cNvSpPr/>
          <p:nvPr/>
        </p:nvSpPr>
        <p:spPr>
          <a:xfrm>
            <a:off x="4892040" y="2926080"/>
            <a:ext cx="3657600" cy="228600"/>
          </a:xfrm>
          <a:prstGeom prst="rect">
            <a:avLst/>
          </a:prstGeom>
          <a:noFill/>
          <a:ln/>
        </p:spPr>
        <p:txBody>
          <a:bodyPr wrap="square" lIns="0" tIns="0" rIns="0" bIns="0" rtlCol="0" anchor="ctr"/>
          <a:lstStyle/>
          <a:p>
            <a:pPr indent="0" marL="0">
              <a:buNone/>
            </a:pPr>
            <a:r>
              <a:rPr lang="en-US" sz="1000" dirty="0">
                <a:solidFill>
                  <a:srgbClr val="E8E8F0"/>
                </a:solidFill>
                <a:latin typeface="Consolas" pitchFamily="34" charset="0"/>
                <a:ea typeface="Consolas" pitchFamily="34" charset="-122"/>
                <a:cs typeface="Consolas" pitchFamily="34" charset="-120"/>
              </a:rPr>
              <a:t>v = N(t) / Phi(t)</a:t>
            </a:r>
            <a:endParaRPr lang="en-US" sz="1000" dirty="0"/>
          </a:p>
        </p:txBody>
      </p:sp>
      <p:sp>
        <p:nvSpPr>
          <p:cNvPr id="42" name="Text 40"/>
          <p:cNvSpPr/>
          <p:nvPr/>
        </p:nvSpPr>
        <p:spPr>
          <a:xfrm>
            <a:off x="4892040" y="3291840"/>
            <a:ext cx="1828800" cy="228600"/>
          </a:xfrm>
          <a:prstGeom prst="rect">
            <a:avLst/>
          </a:prstGeom>
          <a:noFill/>
          <a:ln/>
        </p:spPr>
        <p:txBody>
          <a:bodyPr wrap="square" lIns="0" tIns="0" rIns="0" bIns="0" rtlCol="0" anchor="ctr"/>
          <a:lstStyle/>
          <a:p>
            <a:pPr indent="0" marL="0">
              <a:buNone/>
            </a:pPr>
            <a:r>
              <a:rPr lang="en-US" sz="900" b="1" dirty="0">
                <a:solidFill>
                  <a:srgbClr val="FF6B35"/>
                </a:solidFill>
                <a:latin typeface="Trebuchet MS" pitchFamily="34" charset="0"/>
                <a:ea typeface="Trebuchet MS" pitchFamily="34" charset="-122"/>
                <a:cs typeface="Trebuchet MS" pitchFamily="34" charset="-120"/>
              </a:rPr>
              <a:t>Ajuste mu</a:t>
            </a:r>
            <a:endParaRPr lang="en-US" sz="900" dirty="0"/>
          </a:p>
        </p:txBody>
      </p:sp>
      <p:sp>
        <p:nvSpPr>
          <p:cNvPr id="43" name="Text 41"/>
          <p:cNvSpPr/>
          <p:nvPr/>
        </p:nvSpPr>
        <p:spPr>
          <a:xfrm>
            <a:off x="4892040" y="3520440"/>
            <a:ext cx="3657600" cy="228600"/>
          </a:xfrm>
          <a:prstGeom prst="rect">
            <a:avLst/>
          </a:prstGeom>
          <a:noFill/>
          <a:ln/>
        </p:spPr>
        <p:txBody>
          <a:bodyPr wrap="square" lIns="0" tIns="0" rIns="0" bIns="0" rtlCol="0" anchor="ctr"/>
          <a:lstStyle/>
          <a:p>
            <a:pPr indent="0" marL="0">
              <a:buNone/>
            </a:pPr>
            <a:r>
              <a:rPr lang="en-US" sz="1000" dirty="0">
                <a:solidFill>
                  <a:srgbClr val="E8E8F0"/>
                </a:solidFill>
                <a:latin typeface="Consolas" pitchFamily="34" charset="0"/>
                <a:ea typeface="Consolas" pitchFamily="34" charset="-122"/>
                <a:cs typeface="Consolas" pitchFamily="34" charset="-120"/>
              </a:rPr>
              <a:t>mu += performAdj * maxMuAdj</a:t>
            </a:r>
            <a:endParaRPr lang="en-US" sz="1000" dirty="0"/>
          </a:p>
        </p:txBody>
      </p:sp>
      <p:sp>
        <p:nvSpPr>
          <p:cNvPr id="44" name="Text 42"/>
          <p:cNvSpPr/>
          <p:nvPr/>
        </p:nvSpPr>
        <p:spPr>
          <a:xfrm>
            <a:off x="4892040" y="3886200"/>
            <a:ext cx="1828800" cy="228600"/>
          </a:xfrm>
          <a:prstGeom prst="rect">
            <a:avLst/>
          </a:prstGeom>
          <a:noFill/>
          <a:ln/>
        </p:spPr>
        <p:txBody>
          <a:bodyPr wrap="square" lIns="0" tIns="0" rIns="0" bIns="0" rtlCol="0" anchor="ctr"/>
          <a:lstStyle/>
          <a:p>
            <a:pPr indent="0" marL="0">
              <a:buNone/>
            </a:pPr>
            <a:r>
              <a:rPr lang="en-US" sz="900" b="1" dirty="0">
                <a:solidFill>
                  <a:srgbClr val="FF2D6B"/>
                </a:solidFill>
                <a:latin typeface="Trebuchet MS" pitchFamily="34" charset="0"/>
                <a:ea typeface="Trebuchet MS" pitchFamily="34" charset="-122"/>
                <a:cs typeface="Trebuchet MS" pitchFamily="34" charset="-120"/>
              </a:rPr>
              <a:t>Score publico</a:t>
            </a:r>
            <a:endParaRPr lang="en-US" sz="900" dirty="0"/>
          </a:p>
        </p:txBody>
      </p:sp>
      <p:sp>
        <p:nvSpPr>
          <p:cNvPr id="45" name="Text 43"/>
          <p:cNvSpPr/>
          <p:nvPr/>
        </p:nvSpPr>
        <p:spPr>
          <a:xfrm>
            <a:off x="4892040" y="4114800"/>
            <a:ext cx="3657600" cy="228600"/>
          </a:xfrm>
          <a:prstGeom prst="rect">
            <a:avLst/>
          </a:prstGeom>
          <a:noFill/>
          <a:ln/>
        </p:spPr>
        <p:txBody>
          <a:bodyPr wrap="square" lIns="0" tIns="0" rIns="0" bIns="0" rtlCol="0" anchor="ctr"/>
          <a:lstStyle/>
          <a:p>
            <a:pPr indent="0" marL="0">
              <a:buNone/>
            </a:pPr>
            <a:r>
              <a:rPr lang="en-US" sz="1000" dirty="0">
                <a:solidFill>
                  <a:srgbClr val="E8E8F0"/>
                </a:solidFill>
                <a:latin typeface="Consolas" pitchFamily="34" charset="0"/>
                <a:ea typeface="Consolas" pitchFamily="34" charset="-122"/>
                <a:cs typeface="Consolas" pitchFamily="34" charset="-120"/>
              </a:rPr>
              <a:t>PSR = mu - 3 * sigma</a:t>
            </a:r>
            <a:endParaRPr lang="en-US" sz="1000" dirty="0"/>
          </a:p>
        </p:txBody>
      </p:sp>
      <p:sp>
        <p:nvSpPr>
          <p:cNvPr id="46" name="Text 44"/>
          <p:cNvSpPr/>
          <p:nvPr/>
        </p:nvSpPr>
        <p:spPr>
          <a:xfrm>
            <a:off x="457200" y="4709160"/>
            <a:ext cx="8229600" cy="274320"/>
          </a:xfrm>
          <a:prstGeom prst="rect">
            <a:avLst/>
          </a:prstGeom>
          <a:noFill/>
          <a:ln/>
        </p:spPr>
        <p:txBody>
          <a:bodyPr wrap="square" rtlCol="0" anchor="ctr"/>
          <a:lstStyle/>
          <a:p>
            <a:pPr indent="0" marL="0">
              <a:buNone/>
            </a:pPr>
            <a:r>
              <a:rPr lang="en-US" sz="700" i="1" dirty="0">
                <a:solidFill>
                  <a:srgbClr val="7A8BA8"/>
                </a:solidFill>
                <a:latin typeface="Consolas" pitchFamily="34" charset="0"/>
                <a:ea typeface="Consolas" pitchFamily="34" charset="-122"/>
                <a:cs typeface="Consolas" pitchFamily="34" charset="-120"/>
              </a:rPr>
              <a:t>Fuente: docs/psr-audit/02-metodologia-matematica.md</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00F0FF"/>
          </a:solidFill>
          <a:ln/>
        </p:spPr>
      </p:sp>
      <p:sp>
        <p:nvSpPr>
          <p:cNvPr id="3" name="Shape 1"/>
          <p:cNvSpPr/>
          <p:nvPr/>
        </p:nvSpPr>
        <p:spPr>
          <a:xfrm>
            <a:off x="0" y="5125212"/>
            <a:ext cx="9144000" cy="18288"/>
          </a:xfrm>
          <a:prstGeom prst="rect">
            <a:avLst/>
          </a:prstGeom>
          <a:solidFill>
            <a:srgbClr val="FF2D6B"/>
          </a:solidFill>
          <a:ln/>
        </p:spPr>
      </p:sp>
      <p:sp>
        <p:nvSpPr>
          <p:cNvPr id="4" name="Shape 2"/>
          <p:cNvSpPr/>
          <p:nvPr/>
        </p:nvSpPr>
        <p:spPr>
          <a:xfrm>
            <a:off x="0" y="0"/>
            <a:ext cx="18288" cy="548640"/>
          </a:xfrm>
          <a:prstGeom prst="rect">
            <a:avLst/>
          </a:prstGeom>
          <a:solidFill>
            <a:srgbClr val="00F0FF"/>
          </a:solidFill>
          <a:ln/>
        </p:spPr>
      </p:sp>
      <p:sp>
        <p:nvSpPr>
          <p:cNvPr id="5" name="Shape 3"/>
          <p:cNvSpPr/>
          <p:nvPr/>
        </p:nvSpPr>
        <p:spPr>
          <a:xfrm>
            <a:off x="0" y="0"/>
            <a:ext cx="548640" cy="18288"/>
          </a:xfrm>
          <a:prstGeom prst="rect">
            <a:avLst/>
          </a:prstGeom>
          <a:solidFill>
            <a:srgbClr val="00F0FF"/>
          </a:solidFill>
          <a:ln/>
        </p:spPr>
      </p:sp>
      <p:sp>
        <p:nvSpPr>
          <p:cNvPr id="6" name="Shape 4"/>
          <p:cNvSpPr/>
          <p:nvPr/>
        </p:nvSpPr>
        <p:spPr>
          <a:xfrm>
            <a:off x="9125712" y="4594860"/>
            <a:ext cx="18288" cy="548640"/>
          </a:xfrm>
          <a:prstGeom prst="rect">
            <a:avLst/>
          </a:prstGeom>
          <a:solidFill>
            <a:srgbClr val="FF2D6B"/>
          </a:solidFill>
          <a:ln/>
        </p:spPr>
      </p:sp>
      <p:sp>
        <p:nvSpPr>
          <p:cNvPr id="7" name="Shape 5"/>
          <p:cNvSpPr/>
          <p:nvPr/>
        </p:nvSpPr>
        <p:spPr>
          <a:xfrm>
            <a:off x="8595360" y="5125212"/>
            <a:ext cx="548640" cy="18288"/>
          </a:xfrm>
          <a:prstGeom prst="rect">
            <a:avLst/>
          </a:prstGeom>
          <a:solidFill>
            <a:srgbClr val="FF2D6B"/>
          </a:solidFill>
          <a:ln/>
        </p:spPr>
      </p:sp>
      <p:sp>
        <p:nvSpPr>
          <p:cNvPr id="8" name="Shape 6"/>
          <p:cNvSpPr/>
          <p:nvPr/>
        </p:nvSpPr>
        <p:spPr>
          <a:xfrm>
            <a:off x="914400" y="0"/>
            <a:ext cx="2743" cy="5143500"/>
          </a:xfrm>
          <a:prstGeom prst="rect">
            <a:avLst/>
          </a:prstGeom>
          <a:solidFill>
            <a:srgbClr val="1E2A3A">
              <a:alpha val="20000"/>
            </a:srgbClr>
          </a:solidFill>
          <a:ln/>
        </p:spPr>
      </p:sp>
      <p:sp>
        <p:nvSpPr>
          <p:cNvPr id="9" name="Shape 7"/>
          <p:cNvSpPr/>
          <p:nvPr/>
        </p:nvSpPr>
        <p:spPr>
          <a:xfrm>
            <a:off x="1828800" y="0"/>
            <a:ext cx="2743" cy="5143500"/>
          </a:xfrm>
          <a:prstGeom prst="rect">
            <a:avLst/>
          </a:prstGeom>
          <a:solidFill>
            <a:srgbClr val="1E2A3A">
              <a:alpha val="20000"/>
            </a:srgbClr>
          </a:solidFill>
          <a:ln/>
        </p:spPr>
      </p:sp>
      <p:sp>
        <p:nvSpPr>
          <p:cNvPr id="10" name="Shape 8"/>
          <p:cNvSpPr/>
          <p:nvPr/>
        </p:nvSpPr>
        <p:spPr>
          <a:xfrm>
            <a:off x="2743200" y="0"/>
            <a:ext cx="2743" cy="5143500"/>
          </a:xfrm>
          <a:prstGeom prst="rect">
            <a:avLst/>
          </a:prstGeom>
          <a:solidFill>
            <a:srgbClr val="1E2A3A">
              <a:alpha val="20000"/>
            </a:srgbClr>
          </a:solidFill>
          <a:ln/>
        </p:spPr>
      </p:sp>
      <p:sp>
        <p:nvSpPr>
          <p:cNvPr id="11" name="Shape 9"/>
          <p:cNvSpPr/>
          <p:nvPr/>
        </p:nvSpPr>
        <p:spPr>
          <a:xfrm>
            <a:off x="3657600" y="0"/>
            <a:ext cx="2743" cy="5143500"/>
          </a:xfrm>
          <a:prstGeom prst="rect">
            <a:avLst/>
          </a:prstGeom>
          <a:solidFill>
            <a:srgbClr val="1E2A3A">
              <a:alpha val="20000"/>
            </a:srgbClr>
          </a:solidFill>
          <a:ln/>
        </p:spPr>
      </p:sp>
      <p:sp>
        <p:nvSpPr>
          <p:cNvPr id="12" name="Shape 10"/>
          <p:cNvSpPr/>
          <p:nvPr/>
        </p:nvSpPr>
        <p:spPr>
          <a:xfrm>
            <a:off x="4572000" y="0"/>
            <a:ext cx="2743" cy="5143500"/>
          </a:xfrm>
          <a:prstGeom prst="rect">
            <a:avLst/>
          </a:prstGeom>
          <a:solidFill>
            <a:srgbClr val="1E2A3A">
              <a:alpha val="20000"/>
            </a:srgbClr>
          </a:solidFill>
          <a:ln/>
        </p:spPr>
      </p:sp>
      <p:sp>
        <p:nvSpPr>
          <p:cNvPr id="13" name="Shape 11"/>
          <p:cNvSpPr/>
          <p:nvPr/>
        </p:nvSpPr>
        <p:spPr>
          <a:xfrm>
            <a:off x="5486400" y="0"/>
            <a:ext cx="2743" cy="5143500"/>
          </a:xfrm>
          <a:prstGeom prst="rect">
            <a:avLst/>
          </a:prstGeom>
          <a:solidFill>
            <a:srgbClr val="1E2A3A">
              <a:alpha val="20000"/>
            </a:srgbClr>
          </a:solidFill>
          <a:ln/>
        </p:spPr>
      </p:sp>
      <p:sp>
        <p:nvSpPr>
          <p:cNvPr id="14" name="Shape 12"/>
          <p:cNvSpPr/>
          <p:nvPr/>
        </p:nvSpPr>
        <p:spPr>
          <a:xfrm>
            <a:off x="6400800" y="0"/>
            <a:ext cx="2743" cy="5143500"/>
          </a:xfrm>
          <a:prstGeom prst="rect">
            <a:avLst/>
          </a:prstGeom>
          <a:solidFill>
            <a:srgbClr val="1E2A3A">
              <a:alpha val="20000"/>
            </a:srgbClr>
          </a:solidFill>
          <a:ln/>
        </p:spPr>
      </p:sp>
      <p:sp>
        <p:nvSpPr>
          <p:cNvPr id="15" name="Shape 13"/>
          <p:cNvSpPr/>
          <p:nvPr/>
        </p:nvSpPr>
        <p:spPr>
          <a:xfrm>
            <a:off x="7315200" y="0"/>
            <a:ext cx="2743" cy="5143500"/>
          </a:xfrm>
          <a:prstGeom prst="rect">
            <a:avLst/>
          </a:prstGeom>
          <a:solidFill>
            <a:srgbClr val="1E2A3A">
              <a:alpha val="20000"/>
            </a:srgbClr>
          </a:solidFill>
          <a:ln/>
        </p:spPr>
      </p:sp>
      <p:sp>
        <p:nvSpPr>
          <p:cNvPr id="16" name="Shape 14"/>
          <p:cNvSpPr/>
          <p:nvPr/>
        </p:nvSpPr>
        <p:spPr>
          <a:xfrm>
            <a:off x="8229600" y="0"/>
            <a:ext cx="2743" cy="5143500"/>
          </a:xfrm>
          <a:prstGeom prst="rect">
            <a:avLst/>
          </a:prstGeom>
          <a:solidFill>
            <a:srgbClr val="1E2A3A">
              <a:alpha val="20000"/>
            </a:srgbClr>
          </a:solidFill>
          <a:ln/>
        </p:spPr>
      </p:sp>
      <p:sp>
        <p:nvSpPr>
          <p:cNvPr id="17" name="Text 15"/>
          <p:cNvSpPr/>
          <p:nvPr/>
        </p:nvSpPr>
        <p:spPr>
          <a:xfrm>
            <a:off x="640080" y="182880"/>
            <a:ext cx="7863840" cy="502920"/>
          </a:xfrm>
          <a:prstGeom prst="rect">
            <a:avLst/>
          </a:prstGeom>
          <a:noFill/>
          <a:ln/>
        </p:spPr>
        <p:txBody>
          <a:bodyPr wrap="square" lIns="0" tIns="0" rIns="0" bIns="0" rtlCol="0" anchor="ctr"/>
          <a:lstStyle/>
          <a:p>
            <a:pPr indent="0" marL="0">
              <a:buNone/>
            </a:pPr>
            <a:r>
              <a:rPr lang="en-US" sz="2200" b="1" spc="300" kern="0" dirty="0">
                <a:solidFill>
                  <a:srgbClr val="00F0FF"/>
                </a:solidFill>
                <a:latin typeface="Impact" pitchFamily="34" charset="0"/>
                <a:ea typeface="Impact" pitchFamily="34" charset="-122"/>
                <a:cs typeface="Impact" pitchFamily="34" charset="-120"/>
              </a:rPr>
              <a:t>PIPELINE COMPLETO: DE DATO A RANKING</a:t>
            </a:r>
            <a:endParaRPr lang="en-US" sz="2200" dirty="0"/>
          </a:p>
        </p:txBody>
      </p:sp>
      <p:sp>
        <p:nvSpPr>
          <p:cNvPr id="18" name="Shape 16"/>
          <p:cNvSpPr/>
          <p:nvPr/>
        </p:nvSpPr>
        <p:spPr>
          <a:xfrm>
            <a:off x="640080" y="713232"/>
            <a:ext cx="2286000" cy="22860"/>
          </a:xfrm>
          <a:prstGeom prst="rect">
            <a:avLst/>
          </a:prstGeom>
          <a:solidFill>
            <a:srgbClr val="FF2D6B"/>
          </a:solidFill>
          <a:ln/>
        </p:spPr>
      </p:sp>
      <p:sp>
        <p:nvSpPr>
          <p:cNvPr id="19" name="Shape 17"/>
          <p:cNvSpPr/>
          <p:nvPr/>
        </p:nvSpPr>
        <p:spPr>
          <a:xfrm>
            <a:off x="274320" y="1188720"/>
            <a:ext cx="1188720" cy="914400"/>
          </a:xfrm>
          <a:prstGeom prst="rect">
            <a:avLst/>
          </a:prstGeom>
          <a:solidFill>
            <a:srgbClr val="12121E"/>
          </a:solidFill>
          <a:ln w="19050">
            <a:solidFill>
              <a:srgbClr val="7A8BA8"/>
            </a:solidFill>
            <a:prstDash val="solid"/>
          </a:ln>
        </p:spPr>
      </p:sp>
      <p:sp>
        <p:nvSpPr>
          <p:cNvPr id="20" name="Text 18"/>
          <p:cNvSpPr/>
          <p:nvPr/>
        </p:nvSpPr>
        <p:spPr>
          <a:xfrm>
            <a:off x="274320" y="1188720"/>
            <a:ext cx="1188720" cy="914400"/>
          </a:xfrm>
          <a:prstGeom prst="rect">
            <a:avLst/>
          </a:prstGeom>
          <a:noFill/>
          <a:ln/>
        </p:spPr>
        <p:txBody>
          <a:bodyPr wrap="square" rtlCol="0" anchor="ctr"/>
          <a:lstStyle/>
          <a:p>
            <a:pPr algn="ctr" indent="0" marL="0">
              <a:buNone/>
            </a:pPr>
            <a:r>
              <a:rPr lang="en-US" sz="1000" b="1" dirty="0">
                <a:solidFill>
                  <a:srgbClr val="E8E8F0"/>
                </a:solidFill>
                <a:latin typeface="Trebuchet MS" pitchFamily="34" charset="0"/>
                <a:ea typeface="Trebuchet MS" pitchFamily="34" charset="-122"/>
                <a:cs typeface="Trebuchet MS" pitchFamily="34" charset="-120"/>
              </a:rPr>
              <a:t>Torneo</a:t>
            </a:r>
            <a:endParaRPr lang="en-US" sz="1000" dirty="0"/>
          </a:p>
          <a:p>
            <a:pPr algn="ctr" indent="0" marL="0">
              <a:buNone/>
            </a:pPr>
            <a:r>
              <a:rPr lang="en-US" sz="1000" b="1" dirty="0">
                <a:solidFill>
                  <a:srgbClr val="E8E8F0"/>
                </a:solidFill>
                <a:latin typeface="Trebuchet MS" pitchFamily="34" charset="0"/>
                <a:ea typeface="Trebuchet MS" pitchFamily="34" charset="-122"/>
                <a:cs typeface="Trebuchet MS" pitchFamily="34" charset="-120"/>
              </a:rPr>
              <a:t>(raw data)</a:t>
            </a:r>
            <a:endParaRPr lang="en-US" sz="1000" dirty="0"/>
          </a:p>
        </p:txBody>
      </p:sp>
      <p:sp>
        <p:nvSpPr>
          <p:cNvPr id="21" name="Shape 19"/>
          <p:cNvSpPr/>
          <p:nvPr/>
        </p:nvSpPr>
        <p:spPr>
          <a:xfrm>
            <a:off x="1508760" y="1572768"/>
            <a:ext cx="228600" cy="36576"/>
          </a:xfrm>
          <a:prstGeom prst="rect">
            <a:avLst/>
          </a:prstGeom>
          <a:solidFill>
            <a:srgbClr val="1E2A3A"/>
          </a:solidFill>
          <a:ln/>
        </p:spPr>
      </p:sp>
      <p:sp>
        <p:nvSpPr>
          <p:cNvPr id="22" name="Shape 20"/>
          <p:cNvSpPr/>
          <p:nvPr/>
        </p:nvSpPr>
        <p:spPr>
          <a:xfrm>
            <a:off x="1737360" y="1188720"/>
            <a:ext cx="1371600" cy="914400"/>
          </a:xfrm>
          <a:prstGeom prst="rect">
            <a:avLst/>
          </a:prstGeom>
          <a:solidFill>
            <a:srgbClr val="12121E"/>
          </a:solidFill>
          <a:ln w="19050">
            <a:solidFill>
              <a:srgbClr val="00F0FF"/>
            </a:solidFill>
            <a:prstDash val="solid"/>
          </a:ln>
        </p:spPr>
      </p:sp>
      <p:sp>
        <p:nvSpPr>
          <p:cNvPr id="23" name="Text 21"/>
          <p:cNvSpPr/>
          <p:nvPr/>
        </p:nvSpPr>
        <p:spPr>
          <a:xfrm>
            <a:off x="1737360" y="1188720"/>
            <a:ext cx="1371600" cy="914400"/>
          </a:xfrm>
          <a:prstGeom prst="rect">
            <a:avLst/>
          </a:prstGeom>
          <a:noFill/>
          <a:ln/>
        </p:spPr>
        <p:txBody>
          <a:bodyPr wrap="square" rtlCol="0" anchor="ctr"/>
          <a:lstStyle/>
          <a:p>
            <a:pPr algn="ctr" indent="0" marL="0">
              <a:buNone/>
            </a:pPr>
            <a:r>
              <a:rPr lang="en-US" sz="1000" b="1" dirty="0">
                <a:solidFill>
                  <a:srgbClr val="E8E8F0"/>
                </a:solidFill>
                <a:latin typeface="Trebuchet MS" pitchFamily="34" charset="0"/>
                <a:ea typeface="Trebuchet MS" pitchFamily="34" charset="-122"/>
                <a:cs typeface="Trebuchet MS" pitchFamily="34" charset="-120"/>
              </a:rPr>
              <a:t>Normalizar</a:t>
            </a:r>
            <a:endParaRPr lang="en-US" sz="1000" dirty="0"/>
          </a:p>
          <a:p>
            <a:pPr algn="ctr" indent="0" marL="0">
              <a:buNone/>
            </a:pPr>
            <a:r>
              <a:rPr lang="en-US" sz="1000" b="1" dirty="0">
                <a:solidFill>
                  <a:srgbClr val="E8E8F0"/>
                </a:solidFill>
                <a:latin typeface="Trebuchet MS" pitchFamily="34" charset="0"/>
                <a:ea typeface="Trebuchet MS" pitchFamily="34" charset="-122"/>
                <a:cs typeface="Trebuchet MS" pitchFamily="34" charset="-120"/>
              </a:rPr>
              <a:t>kills, placement</a:t>
            </a:r>
            <a:endParaRPr lang="en-US" sz="1000" dirty="0"/>
          </a:p>
        </p:txBody>
      </p:sp>
      <p:sp>
        <p:nvSpPr>
          <p:cNvPr id="24" name="Shape 22"/>
          <p:cNvSpPr/>
          <p:nvPr/>
        </p:nvSpPr>
        <p:spPr>
          <a:xfrm>
            <a:off x="3154680" y="1572768"/>
            <a:ext cx="228600" cy="36576"/>
          </a:xfrm>
          <a:prstGeom prst="rect">
            <a:avLst/>
          </a:prstGeom>
          <a:solidFill>
            <a:srgbClr val="1E2A3A"/>
          </a:solidFill>
          <a:ln/>
        </p:spPr>
      </p:sp>
      <p:sp>
        <p:nvSpPr>
          <p:cNvPr id="25" name="Shape 23"/>
          <p:cNvSpPr/>
          <p:nvPr/>
        </p:nvSpPr>
        <p:spPr>
          <a:xfrm>
            <a:off x="3383280" y="1188720"/>
            <a:ext cx="1188720" cy="914400"/>
          </a:xfrm>
          <a:prstGeom prst="rect">
            <a:avLst/>
          </a:prstGeom>
          <a:solidFill>
            <a:srgbClr val="12121E"/>
          </a:solidFill>
          <a:ln w="19050">
            <a:solidFill>
              <a:srgbClr val="39FF14"/>
            </a:solidFill>
            <a:prstDash val="solid"/>
          </a:ln>
        </p:spPr>
      </p:sp>
      <p:sp>
        <p:nvSpPr>
          <p:cNvPr id="26" name="Text 24"/>
          <p:cNvSpPr/>
          <p:nvPr/>
        </p:nvSpPr>
        <p:spPr>
          <a:xfrm>
            <a:off x="3383280" y="1188720"/>
            <a:ext cx="1188720" cy="914400"/>
          </a:xfrm>
          <a:prstGeom prst="rect">
            <a:avLst/>
          </a:prstGeom>
          <a:noFill/>
          <a:ln/>
        </p:spPr>
        <p:txBody>
          <a:bodyPr wrap="square" rtlCol="0" anchor="ctr"/>
          <a:lstStyle/>
          <a:p>
            <a:pPr algn="ctr" indent="0" marL="0">
              <a:buNone/>
            </a:pPr>
            <a:r>
              <a:rPr lang="en-US" sz="1000" b="1" dirty="0">
                <a:solidFill>
                  <a:srgbClr val="E8E8F0"/>
                </a:solidFill>
                <a:latin typeface="Trebuchet MS" pitchFamily="34" charset="0"/>
                <a:ea typeface="Trebuchet MS" pitchFamily="34" charset="-122"/>
                <a:cs typeface="Trebuchet MS" pitchFamily="34" charset="-120"/>
              </a:rPr>
              <a:t>Senal</a:t>
            </a:r>
            <a:endParaRPr lang="en-US" sz="1000" dirty="0"/>
          </a:p>
          <a:p>
            <a:pPr algn="ctr" indent="0" marL="0">
              <a:buNone/>
            </a:pPr>
            <a:r>
              <a:rPr lang="en-US" sz="1000" b="1" dirty="0">
                <a:solidFill>
                  <a:srgbClr val="E8E8F0"/>
                </a:solidFill>
                <a:latin typeface="Trebuchet MS" pitchFamily="34" charset="0"/>
                <a:ea typeface="Trebuchet MS" pitchFamily="34" charset="-122"/>
                <a:cs typeface="Trebuchet MS" pitchFamily="34" charset="-120"/>
              </a:rPr>
              <a:t>compuesta</a:t>
            </a:r>
            <a:endParaRPr lang="en-US" sz="1000" dirty="0"/>
          </a:p>
        </p:txBody>
      </p:sp>
      <p:sp>
        <p:nvSpPr>
          <p:cNvPr id="27" name="Shape 25"/>
          <p:cNvSpPr/>
          <p:nvPr/>
        </p:nvSpPr>
        <p:spPr>
          <a:xfrm>
            <a:off x="4617720" y="1572768"/>
            <a:ext cx="228600" cy="36576"/>
          </a:xfrm>
          <a:prstGeom prst="rect">
            <a:avLst/>
          </a:prstGeom>
          <a:solidFill>
            <a:srgbClr val="1E2A3A"/>
          </a:solidFill>
          <a:ln/>
        </p:spPr>
      </p:sp>
      <p:sp>
        <p:nvSpPr>
          <p:cNvPr id="28" name="Shape 26"/>
          <p:cNvSpPr/>
          <p:nvPr/>
        </p:nvSpPr>
        <p:spPr>
          <a:xfrm>
            <a:off x="4846320" y="1188720"/>
            <a:ext cx="1280160" cy="914400"/>
          </a:xfrm>
          <a:prstGeom prst="rect">
            <a:avLst/>
          </a:prstGeom>
          <a:solidFill>
            <a:srgbClr val="12121E"/>
          </a:solidFill>
          <a:ln w="19050">
            <a:solidFill>
              <a:srgbClr val="BF40FF"/>
            </a:solidFill>
            <a:prstDash val="solid"/>
          </a:ln>
        </p:spPr>
      </p:sp>
      <p:sp>
        <p:nvSpPr>
          <p:cNvPr id="29" name="Text 27"/>
          <p:cNvSpPr/>
          <p:nvPr/>
        </p:nvSpPr>
        <p:spPr>
          <a:xfrm>
            <a:off x="4846320" y="1188720"/>
            <a:ext cx="1280160" cy="914400"/>
          </a:xfrm>
          <a:prstGeom prst="rect">
            <a:avLst/>
          </a:prstGeom>
          <a:noFill/>
          <a:ln/>
        </p:spPr>
        <p:txBody>
          <a:bodyPr wrap="square" rtlCol="0" anchor="ctr"/>
          <a:lstStyle/>
          <a:p>
            <a:pPr algn="ctr" indent="0" marL="0">
              <a:buNone/>
            </a:pPr>
            <a:r>
              <a:rPr lang="en-US" sz="1000" b="1" dirty="0">
                <a:solidFill>
                  <a:srgbClr val="E8E8F0"/>
                </a:solidFill>
                <a:latin typeface="Trebuchet MS" pitchFamily="34" charset="0"/>
                <a:ea typeface="Trebuchet MS" pitchFamily="34" charset="-122"/>
                <a:cs typeface="Trebuchet MS" pitchFamily="34" charset="-120"/>
              </a:rPr>
              <a:t>Pairwise</a:t>
            </a:r>
            <a:endParaRPr lang="en-US" sz="1000" dirty="0"/>
          </a:p>
          <a:p>
            <a:pPr algn="ctr" indent="0" marL="0">
              <a:buNone/>
            </a:pPr>
            <a:r>
              <a:rPr lang="en-US" sz="1000" b="1" dirty="0">
                <a:solidFill>
                  <a:srgbClr val="E8E8F0"/>
                </a:solidFill>
                <a:latin typeface="Trebuchet MS" pitchFamily="34" charset="0"/>
                <a:ea typeface="Trebuchet MS" pitchFamily="34" charset="-122"/>
                <a:cs typeface="Trebuchet MS" pitchFamily="34" charset="-120"/>
              </a:rPr>
              <a:t>comparisons</a:t>
            </a:r>
            <a:endParaRPr lang="en-US" sz="1000" dirty="0"/>
          </a:p>
        </p:txBody>
      </p:sp>
      <p:sp>
        <p:nvSpPr>
          <p:cNvPr id="30" name="Shape 28"/>
          <p:cNvSpPr/>
          <p:nvPr/>
        </p:nvSpPr>
        <p:spPr>
          <a:xfrm>
            <a:off x="6172200" y="1572768"/>
            <a:ext cx="228600" cy="36576"/>
          </a:xfrm>
          <a:prstGeom prst="rect">
            <a:avLst/>
          </a:prstGeom>
          <a:solidFill>
            <a:srgbClr val="1E2A3A"/>
          </a:solidFill>
          <a:ln/>
        </p:spPr>
      </p:sp>
      <p:sp>
        <p:nvSpPr>
          <p:cNvPr id="31" name="Shape 29"/>
          <p:cNvSpPr/>
          <p:nvPr/>
        </p:nvSpPr>
        <p:spPr>
          <a:xfrm>
            <a:off x="6400800" y="1188720"/>
            <a:ext cx="1188720" cy="914400"/>
          </a:xfrm>
          <a:prstGeom prst="rect">
            <a:avLst/>
          </a:prstGeom>
          <a:solidFill>
            <a:srgbClr val="12121E"/>
          </a:solidFill>
          <a:ln w="19050">
            <a:solidFill>
              <a:srgbClr val="FF6B35"/>
            </a:solidFill>
            <a:prstDash val="solid"/>
          </a:ln>
        </p:spPr>
      </p:sp>
      <p:sp>
        <p:nvSpPr>
          <p:cNvPr id="32" name="Text 30"/>
          <p:cNvSpPr/>
          <p:nvPr/>
        </p:nvSpPr>
        <p:spPr>
          <a:xfrm>
            <a:off x="6400800" y="1188720"/>
            <a:ext cx="1188720" cy="914400"/>
          </a:xfrm>
          <a:prstGeom prst="rect">
            <a:avLst/>
          </a:prstGeom>
          <a:noFill/>
          <a:ln/>
        </p:spPr>
        <p:txBody>
          <a:bodyPr wrap="square" rtlCol="0" anchor="ctr"/>
          <a:lstStyle/>
          <a:p>
            <a:pPr algn="ctr" indent="0" marL="0">
              <a:buNone/>
            </a:pPr>
            <a:r>
              <a:rPr lang="en-US" sz="1000" b="1" dirty="0">
                <a:solidFill>
                  <a:srgbClr val="E8E8F0"/>
                </a:solidFill>
                <a:latin typeface="Trebuchet MS" pitchFamily="34" charset="0"/>
                <a:ea typeface="Trebuchet MS" pitchFamily="34" charset="-122"/>
                <a:cs typeface="Trebuchet MS" pitchFamily="34" charset="-120"/>
              </a:rPr>
              <a:t>Bayesian</a:t>
            </a:r>
            <a:endParaRPr lang="en-US" sz="1000" dirty="0"/>
          </a:p>
          <a:p>
            <a:pPr algn="ctr" indent="0" marL="0">
              <a:buNone/>
            </a:pPr>
            <a:r>
              <a:rPr lang="en-US" sz="1000" b="1" dirty="0">
                <a:solidFill>
                  <a:srgbClr val="E8E8F0"/>
                </a:solidFill>
                <a:latin typeface="Trebuchet MS" pitchFamily="34" charset="0"/>
                <a:ea typeface="Trebuchet MS" pitchFamily="34" charset="-122"/>
                <a:cs typeface="Trebuchet MS" pitchFamily="34" charset="-120"/>
              </a:rPr>
              <a:t>update</a:t>
            </a:r>
            <a:endParaRPr lang="en-US" sz="1000" dirty="0"/>
          </a:p>
        </p:txBody>
      </p:sp>
      <p:sp>
        <p:nvSpPr>
          <p:cNvPr id="33" name="Shape 31"/>
          <p:cNvSpPr/>
          <p:nvPr/>
        </p:nvSpPr>
        <p:spPr>
          <a:xfrm>
            <a:off x="7635240" y="1572768"/>
            <a:ext cx="228600" cy="36576"/>
          </a:xfrm>
          <a:prstGeom prst="rect">
            <a:avLst/>
          </a:prstGeom>
          <a:solidFill>
            <a:srgbClr val="1E2A3A"/>
          </a:solidFill>
          <a:ln/>
        </p:spPr>
      </p:sp>
      <p:sp>
        <p:nvSpPr>
          <p:cNvPr id="34" name="Shape 32"/>
          <p:cNvSpPr/>
          <p:nvPr/>
        </p:nvSpPr>
        <p:spPr>
          <a:xfrm>
            <a:off x="7863840" y="1188720"/>
            <a:ext cx="1005840" cy="914400"/>
          </a:xfrm>
          <a:prstGeom prst="rect">
            <a:avLst/>
          </a:prstGeom>
          <a:solidFill>
            <a:srgbClr val="12121E"/>
          </a:solidFill>
          <a:ln w="19050">
            <a:solidFill>
              <a:srgbClr val="FF2D6B"/>
            </a:solidFill>
            <a:prstDash val="solid"/>
          </a:ln>
        </p:spPr>
      </p:sp>
      <p:sp>
        <p:nvSpPr>
          <p:cNvPr id="35" name="Text 33"/>
          <p:cNvSpPr/>
          <p:nvPr/>
        </p:nvSpPr>
        <p:spPr>
          <a:xfrm>
            <a:off x="7863840" y="1188720"/>
            <a:ext cx="1005840" cy="914400"/>
          </a:xfrm>
          <a:prstGeom prst="rect">
            <a:avLst/>
          </a:prstGeom>
          <a:noFill/>
          <a:ln/>
        </p:spPr>
        <p:txBody>
          <a:bodyPr wrap="square" rtlCol="0" anchor="ctr"/>
          <a:lstStyle/>
          <a:p>
            <a:pPr algn="ctr" indent="0" marL="0">
              <a:buNone/>
            </a:pPr>
            <a:r>
              <a:rPr lang="en-US" sz="1000" b="1" dirty="0">
                <a:solidFill>
                  <a:srgbClr val="E8E8F0"/>
                </a:solidFill>
                <a:latin typeface="Trebuchet MS" pitchFamily="34" charset="0"/>
                <a:ea typeface="Trebuchet MS" pitchFamily="34" charset="-122"/>
                <a:cs typeface="Trebuchet MS" pitchFamily="34" charset="-120"/>
              </a:rPr>
              <a:t>PSR</a:t>
            </a:r>
            <a:endParaRPr lang="en-US" sz="1000" dirty="0"/>
          </a:p>
          <a:p>
            <a:pPr algn="ctr" indent="0" marL="0">
              <a:buNone/>
            </a:pPr>
            <a:r>
              <a:rPr lang="en-US" sz="1000" b="1" dirty="0">
                <a:solidFill>
                  <a:srgbClr val="E8E8F0"/>
                </a:solidFill>
                <a:latin typeface="Trebuchet MS" pitchFamily="34" charset="0"/>
                <a:ea typeface="Trebuchet MS" pitchFamily="34" charset="-122"/>
                <a:cs typeface="Trebuchet MS" pitchFamily="34" charset="-120"/>
              </a:rPr>
              <a:t>publicado</a:t>
            </a:r>
            <a:endParaRPr lang="en-US" sz="1000" dirty="0"/>
          </a:p>
        </p:txBody>
      </p:sp>
      <p:sp>
        <p:nvSpPr>
          <p:cNvPr id="36" name="Text 34"/>
          <p:cNvSpPr/>
          <p:nvPr/>
        </p:nvSpPr>
        <p:spPr>
          <a:xfrm>
            <a:off x="274320" y="2240280"/>
            <a:ext cx="1188720" cy="1005840"/>
          </a:xfrm>
          <a:prstGeom prst="rect">
            <a:avLst/>
          </a:prstGeom>
          <a:noFill/>
          <a:ln/>
        </p:spPr>
        <p:txBody>
          <a:bodyPr wrap="square" rtlCol="0" anchor="t"/>
          <a:lstStyle/>
          <a:p>
            <a:pPr algn="ctr" indent="0" marL="0">
              <a:buNone/>
            </a:pPr>
            <a:r>
              <a:rPr lang="en-US" sz="800" dirty="0">
                <a:solidFill>
                  <a:srgbClr val="7A8BA8"/>
                </a:solidFill>
                <a:latin typeface="Trebuchet MS" pitchFamily="34" charset="0"/>
                <a:ea typeface="Trebuchet MS" pitchFamily="34" charset="-122"/>
                <a:cs typeface="Trebuchet MS" pitchFamily="34" charset="-120"/>
              </a:rPr>
              <a:t>kills</a:t>
            </a:r>
            <a:endParaRPr lang="en-US" sz="800" dirty="0"/>
          </a:p>
          <a:p>
            <a:pPr algn="ctr" indent="0" marL="0">
              <a:buNone/>
            </a:pPr>
            <a:r>
              <a:rPr lang="en-US" sz="800" dirty="0">
                <a:solidFill>
                  <a:srgbClr val="7A8BA8"/>
                </a:solidFill>
                <a:latin typeface="Trebuchet MS" pitchFamily="34" charset="0"/>
                <a:ea typeface="Trebuchet MS" pitchFamily="34" charset="-122"/>
                <a:cs typeface="Trebuchet MS" pitchFamily="34" charset="-120"/>
              </a:rPr>
              <a:t>placement</a:t>
            </a:r>
            <a:endParaRPr lang="en-US" sz="800" dirty="0"/>
          </a:p>
          <a:p>
            <a:pPr algn="ctr" indent="0" marL="0">
              <a:buNone/>
            </a:pPr>
            <a:r>
              <a:rPr lang="en-US" sz="800" dirty="0">
                <a:solidFill>
                  <a:srgbClr val="7A8BA8"/>
                </a:solidFill>
                <a:latin typeface="Trebuchet MS" pitchFamily="34" charset="0"/>
                <a:ea typeface="Trebuchet MS" pitchFamily="34" charset="-122"/>
                <a:cs typeface="Trebuchet MS" pitchFamily="34" charset="-120"/>
              </a:rPr>
              <a:t>teamKills</a:t>
            </a:r>
            <a:endParaRPr lang="en-US" sz="800" dirty="0"/>
          </a:p>
          <a:p>
            <a:pPr algn="ctr" indent="0" marL="0">
              <a:buNone/>
            </a:pPr>
            <a:r>
              <a:rPr lang="en-US" sz="800" dirty="0">
                <a:solidFill>
                  <a:srgbClr val="7A8BA8"/>
                </a:solidFill>
                <a:latin typeface="Trebuchet MS" pitchFamily="34" charset="0"/>
                <a:ea typeface="Trebuchet MS" pitchFamily="34" charset="-122"/>
                <a:cs typeface="Trebuchet MS" pitchFamily="34" charset="-120"/>
              </a:rPr>
              <a:t>roundsPlayed</a:t>
            </a:r>
            <a:endParaRPr lang="en-US" sz="800" dirty="0"/>
          </a:p>
        </p:txBody>
      </p:sp>
      <p:sp>
        <p:nvSpPr>
          <p:cNvPr id="37" name="Text 35"/>
          <p:cNvSpPr/>
          <p:nvPr/>
        </p:nvSpPr>
        <p:spPr>
          <a:xfrm>
            <a:off x="1737360" y="2240280"/>
            <a:ext cx="1371600" cy="1005840"/>
          </a:xfrm>
          <a:prstGeom prst="rect">
            <a:avLst/>
          </a:prstGeom>
          <a:noFill/>
          <a:ln/>
        </p:spPr>
        <p:txBody>
          <a:bodyPr wrap="square" rtlCol="0" anchor="t"/>
          <a:lstStyle/>
          <a:p>
            <a:pPr algn="ctr" indent="0" marL="0">
              <a:buNone/>
            </a:pPr>
            <a:r>
              <a:rPr lang="en-US" sz="800" dirty="0">
                <a:solidFill>
                  <a:srgbClr val="7A8BA8"/>
                </a:solidFill>
                <a:latin typeface="Trebuchet MS" pitchFamily="34" charset="0"/>
                <a:ea typeface="Trebuchet MS" pitchFamily="34" charset="-122"/>
                <a:cs typeface="Trebuchet MS" pitchFamily="34" charset="-120"/>
              </a:rPr>
              <a:t>log(1+avg_k)</a:t>
            </a:r>
            <a:endParaRPr lang="en-US" sz="800" dirty="0"/>
          </a:p>
          <a:p>
            <a:pPr algn="ctr" indent="0" marL="0">
              <a:buNone/>
            </a:pPr>
            <a:r>
              <a:rPr lang="en-US" sz="800" dirty="0">
                <a:solidFill>
                  <a:srgbClr val="7A8BA8"/>
                </a:solidFill>
                <a:latin typeface="Trebuchet MS" pitchFamily="34" charset="0"/>
                <a:ea typeface="Trebuchet MS" pitchFamily="34" charset="-122"/>
                <a:cs typeface="Trebuchet MS" pitchFamily="34" charset="-120"/>
              </a:rPr>
              <a:t>(total-pos)/(total-1)</a:t>
            </a:r>
            <a:endParaRPr lang="en-US" sz="800" dirty="0"/>
          </a:p>
          <a:p>
            <a:pPr algn="ctr" indent="0" marL="0">
              <a:buNone/>
            </a:pPr>
            <a:r>
              <a:rPr lang="en-US" sz="800" dirty="0">
                <a:solidFill>
                  <a:srgbClr val="7A8BA8"/>
                </a:solidFill>
                <a:latin typeface="Trebuchet MS" pitchFamily="34" charset="0"/>
                <a:ea typeface="Trebuchet MS" pitchFamily="34" charset="-122"/>
                <a:cs typeface="Trebuchet MS" pitchFamily="34" charset="-120"/>
              </a:rPr>
              <a:t>skillPts/max</a:t>
            </a:r>
            <a:endParaRPr lang="en-US" sz="800" dirty="0"/>
          </a:p>
        </p:txBody>
      </p:sp>
      <p:sp>
        <p:nvSpPr>
          <p:cNvPr id="38" name="Text 36"/>
          <p:cNvSpPr/>
          <p:nvPr/>
        </p:nvSpPr>
        <p:spPr>
          <a:xfrm>
            <a:off x="3383280" y="2240280"/>
            <a:ext cx="1188720" cy="1005840"/>
          </a:xfrm>
          <a:prstGeom prst="rect">
            <a:avLst/>
          </a:prstGeom>
          <a:noFill/>
          <a:ln/>
        </p:spPr>
        <p:txBody>
          <a:bodyPr wrap="square" rtlCol="0" anchor="t"/>
          <a:lstStyle/>
          <a:p>
            <a:pPr algn="ctr" indent="0" marL="0">
              <a:buNone/>
            </a:pPr>
            <a:r>
              <a:rPr lang="en-US" sz="800" dirty="0">
                <a:solidFill>
                  <a:srgbClr val="7A8BA8"/>
                </a:solidFill>
                <a:latin typeface="Trebuchet MS" pitchFamily="34" charset="0"/>
                <a:ea typeface="Trebuchet MS" pitchFamily="34" charset="-122"/>
                <a:cs typeface="Trebuchet MS" pitchFamily="34" charset="-120"/>
              </a:rPr>
              <a:t>0.70 plc</a:t>
            </a:r>
            <a:endParaRPr lang="en-US" sz="800" dirty="0"/>
          </a:p>
          <a:p>
            <a:pPr algn="ctr" indent="0" marL="0">
              <a:buNone/>
            </a:pPr>
            <a:r>
              <a:rPr lang="en-US" sz="800" dirty="0">
                <a:solidFill>
                  <a:srgbClr val="7A8BA8"/>
                </a:solidFill>
                <a:latin typeface="Trebuchet MS" pitchFamily="34" charset="0"/>
                <a:ea typeface="Trebuchet MS" pitchFamily="34" charset="-122"/>
                <a:cs typeface="Trebuchet MS" pitchFamily="34" charset="-120"/>
              </a:rPr>
              <a:t>0.20 kills</a:t>
            </a:r>
            <a:endParaRPr lang="en-US" sz="800" dirty="0"/>
          </a:p>
          <a:p>
            <a:pPr algn="ctr" indent="0" marL="0">
              <a:buNone/>
            </a:pPr>
            <a:r>
              <a:rPr lang="en-US" sz="800" dirty="0">
                <a:solidFill>
                  <a:srgbClr val="7A8BA8"/>
                </a:solidFill>
                <a:latin typeface="Trebuchet MS" pitchFamily="34" charset="0"/>
                <a:ea typeface="Trebuchet MS" pitchFamily="34" charset="-122"/>
                <a:cs typeface="Trebuchet MS" pitchFamily="34" charset="-120"/>
              </a:rPr>
              <a:t>0.10 team</a:t>
            </a:r>
            <a:endParaRPr lang="en-US" sz="800" dirty="0"/>
          </a:p>
        </p:txBody>
      </p:sp>
      <p:sp>
        <p:nvSpPr>
          <p:cNvPr id="39" name="Text 37"/>
          <p:cNvSpPr/>
          <p:nvPr/>
        </p:nvSpPr>
        <p:spPr>
          <a:xfrm>
            <a:off x="4846320" y="2240280"/>
            <a:ext cx="1280160" cy="1005840"/>
          </a:xfrm>
          <a:prstGeom prst="rect">
            <a:avLst/>
          </a:prstGeom>
          <a:noFill/>
          <a:ln/>
        </p:spPr>
        <p:txBody>
          <a:bodyPr wrap="square" rtlCol="0" anchor="t"/>
          <a:lstStyle/>
          <a:p>
            <a:pPr algn="ctr" indent="0" marL="0">
              <a:buNone/>
            </a:pPr>
            <a:r>
              <a:rPr lang="en-US" sz="800" dirty="0">
                <a:solidFill>
                  <a:srgbClr val="7A8BA8"/>
                </a:solidFill>
                <a:latin typeface="Trebuchet MS" pitchFamily="34" charset="0"/>
                <a:ea typeface="Trebuchet MS" pitchFamily="34" charset="-122"/>
                <a:cs typeface="Trebuchet MS" pitchFamily="34" charset="-120"/>
              </a:rPr>
              <a:t>cada jugador</a:t>
            </a:r>
            <a:endParaRPr lang="en-US" sz="800" dirty="0"/>
          </a:p>
          <a:p>
            <a:pPr algn="ctr" indent="0" marL="0">
              <a:buNone/>
            </a:pPr>
            <a:r>
              <a:rPr lang="en-US" sz="800" dirty="0">
                <a:solidFill>
                  <a:srgbClr val="7A8BA8"/>
                </a:solidFill>
                <a:latin typeface="Trebuchet MS" pitchFamily="34" charset="0"/>
                <a:ea typeface="Trebuchet MS" pitchFamily="34" charset="-122"/>
                <a:cs typeface="Trebuchet MS" pitchFamily="34" charset="-120"/>
              </a:rPr>
              <a:t>vs cada otro</a:t>
            </a:r>
            <a:endParaRPr lang="en-US" sz="800" dirty="0"/>
          </a:p>
          <a:p>
            <a:pPr algn="ctr" indent="0" marL="0">
              <a:buNone/>
            </a:pPr>
            <a:r>
              <a:rPr lang="en-US" sz="800" dirty="0">
                <a:solidFill>
                  <a:srgbClr val="7A8BA8"/>
                </a:solidFill>
                <a:latin typeface="Trebuchet MS" pitchFamily="34" charset="0"/>
                <a:ea typeface="Trebuchet MS" pitchFamily="34" charset="-122"/>
                <a:cs typeface="Trebuchet MS" pitchFamily="34" charset="-120"/>
              </a:rPr>
              <a:t>en el lobby</a:t>
            </a:r>
            <a:endParaRPr lang="en-US" sz="800" dirty="0"/>
          </a:p>
        </p:txBody>
      </p:sp>
      <p:sp>
        <p:nvSpPr>
          <p:cNvPr id="40" name="Text 38"/>
          <p:cNvSpPr/>
          <p:nvPr/>
        </p:nvSpPr>
        <p:spPr>
          <a:xfrm>
            <a:off x="6400800" y="2240280"/>
            <a:ext cx="1188720" cy="1005840"/>
          </a:xfrm>
          <a:prstGeom prst="rect">
            <a:avLst/>
          </a:prstGeom>
          <a:noFill/>
          <a:ln/>
        </p:spPr>
        <p:txBody>
          <a:bodyPr wrap="square" rtlCol="0" anchor="t"/>
          <a:lstStyle/>
          <a:p>
            <a:pPr algn="ctr" indent="0" marL="0">
              <a:buNone/>
            </a:pPr>
            <a:r>
              <a:rPr lang="en-US" sz="800" dirty="0">
                <a:solidFill>
                  <a:srgbClr val="7A8BA8"/>
                </a:solidFill>
                <a:latin typeface="Trebuchet MS" pitchFamily="34" charset="0"/>
                <a:ea typeface="Trebuchet MS" pitchFamily="34" charset="-122"/>
                <a:cs typeface="Trebuchet MS" pitchFamily="34" charset="-120"/>
              </a:rPr>
              <a:t>mu sube/baja</a:t>
            </a:r>
            <a:endParaRPr lang="en-US" sz="800" dirty="0"/>
          </a:p>
          <a:p>
            <a:pPr algn="ctr" indent="0" marL="0">
              <a:buNone/>
            </a:pPr>
            <a:r>
              <a:rPr lang="en-US" sz="800" dirty="0">
                <a:solidFill>
                  <a:srgbClr val="7A8BA8"/>
                </a:solidFill>
                <a:latin typeface="Trebuchet MS" pitchFamily="34" charset="0"/>
                <a:ea typeface="Trebuchet MS" pitchFamily="34" charset="-122"/>
                <a:cs typeface="Trebuchet MS" pitchFamily="34" charset="-120"/>
              </a:rPr>
              <a:t>sigma baja</a:t>
            </a:r>
            <a:endParaRPr lang="en-US" sz="800" dirty="0"/>
          </a:p>
          <a:p>
            <a:pPr algn="ctr" indent="0" marL="0">
              <a:buNone/>
            </a:pPr>
            <a:r>
              <a:rPr lang="en-US" sz="800" dirty="0">
                <a:solidFill>
                  <a:srgbClr val="7A8BA8"/>
                </a:solidFill>
                <a:latin typeface="Trebuchet MS" pitchFamily="34" charset="0"/>
                <a:ea typeface="Trebuchet MS" pitchFamily="34" charset="-122"/>
                <a:cs typeface="Trebuchet MS" pitchFamily="34" charset="-120"/>
              </a:rPr>
              <a:t>con evidencia</a:t>
            </a:r>
            <a:endParaRPr lang="en-US" sz="800" dirty="0"/>
          </a:p>
        </p:txBody>
      </p:sp>
      <p:sp>
        <p:nvSpPr>
          <p:cNvPr id="41" name="Text 39"/>
          <p:cNvSpPr/>
          <p:nvPr/>
        </p:nvSpPr>
        <p:spPr>
          <a:xfrm>
            <a:off x="7863840" y="2240280"/>
            <a:ext cx="1005840" cy="1005840"/>
          </a:xfrm>
          <a:prstGeom prst="rect">
            <a:avLst/>
          </a:prstGeom>
          <a:noFill/>
          <a:ln/>
        </p:spPr>
        <p:txBody>
          <a:bodyPr wrap="square" rtlCol="0" anchor="t"/>
          <a:lstStyle/>
          <a:p>
            <a:pPr algn="ctr" indent="0" marL="0">
              <a:buNone/>
            </a:pPr>
            <a:r>
              <a:rPr lang="en-US" sz="800" dirty="0">
                <a:solidFill>
                  <a:srgbClr val="7A8BA8"/>
                </a:solidFill>
                <a:latin typeface="Trebuchet MS" pitchFamily="34" charset="0"/>
                <a:ea typeface="Trebuchet MS" pitchFamily="34" charset="-122"/>
                <a:cs typeface="Trebuchet MS" pitchFamily="34" charset="-120"/>
              </a:rPr>
              <a:t>mu - 3*sigma</a:t>
            </a:r>
            <a:endParaRPr lang="en-US" sz="800" dirty="0"/>
          </a:p>
          <a:p>
            <a:pPr algn="ctr" indent="0" marL="0">
              <a:buNone/>
            </a:pPr>
            <a:r>
              <a:rPr lang="en-US" sz="800" dirty="0">
                <a:solidFill>
                  <a:srgbClr val="7A8BA8"/>
                </a:solidFill>
                <a:latin typeface="Trebuchet MS" pitchFamily="34" charset="0"/>
                <a:ea typeface="Trebuchet MS" pitchFamily="34" charset="-122"/>
                <a:cs typeface="Trebuchet MS" pitchFamily="34" charset="-120"/>
              </a:rPr>
              <a:t>conservador</a:t>
            </a:r>
            <a:endParaRPr lang="en-US" sz="800" dirty="0"/>
          </a:p>
          <a:p>
            <a:pPr algn="ctr" indent="0" marL="0">
              <a:buNone/>
            </a:pPr>
            <a:r>
              <a:rPr lang="en-US" sz="800" dirty="0">
                <a:solidFill>
                  <a:srgbClr val="7A8BA8"/>
                </a:solidFill>
                <a:latin typeface="Trebuchet MS" pitchFamily="34" charset="0"/>
                <a:ea typeface="Trebuchet MS" pitchFamily="34" charset="-122"/>
                <a:cs typeface="Trebuchet MS" pitchFamily="34" charset="-120"/>
              </a:rPr>
              <a:t>auditable</a:t>
            </a:r>
            <a:endParaRPr lang="en-US" sz="800" dirty="0"/>
          </a:p>
        </p:txBody>
      </p:sp>
      <p:sp>
        <p:nvSpPr>
          <p:cNvPr id="42" name="Shape 40"/>
          <p:cNvSpPr/>
          <p:nvPr/>
        </p:nvSpPr>
        <p:spPr>
          <a:xfrm>
            <a:off x="457200" y="3474720"/>
            <a:ext cx="8229600" cy="1188720"/>
          </a:xfrm>
          <a:prstGeom prst="rect">
            <a:avLst/>
          </a:prstGeom>
          <a:solidFill>
            <a:srgbClr val="12121E"/>
          </a:solidFill>
          <a:ln w="12700">
            <a:solidFill>
              <a:srgbClr val="1E2A3A"/>
            </a:solidFill>
            <a:prstDash val="solid"/>
          </a:ln>
        </p:spPr>
      </p:sp>
      <p:sp>
        <p:nvSpPr>
          <p:cNvPr id="43" name="Shape 41"/>
          <p:cNvSpPr/>
          <p:nvPr/>
        </p:nvSpPr>
        <p:spPr>
          <a:xfrm>
            <a:off x="457200" y="3474720"/>
            <a:ext cx="8229600" cy="22860"/>
          </a:xfrm>
          <a:prstGeom prst="rect">
            <a:avLst/>
          </a:prstGeom>
          <a:solidFill>
            <a:srgbClr val="1E2A3A"/>
          </a:solidFill>
          <a:ln/>
        </p:spPr>
      </p:sp>
      <p:sp>
        <p:nvSpPr>
          <p:cNvPr id="44" name="Text 42"/>
          <p:cNvSpPr/>
          <p:nvPr/>
        </p:nvSpPr>
        <p:spPr>
          <a:xfrm>
            <a:off x="594360" y="3566160"/>
            <a:ext cx="7955280" cy="274320"/>
          </a:xfrm>
          <a:prstGeom prst="rect">
            <a:avLst/>
          </a:prstGeom>
          <a:noFill/>
          <a:ln/>
        </p:spPr>
        <p:txBody>
          <a:bodyPr wrap="square" lIns="0" tIns="0" rIns="0" bIns="0" rtlCol="0" anchor="ctr"/>
          <a:lstStyle/>
          <a:p>
            <a:pPr indent="0" marL="0">
              <a:buNone/>
            </a:pPr>
            <a:r>
              <a:rPr lang="en-US" sz="1000" b="1" dirty="0">
                <a:solidFill>
                  <a:srgbClr val="7A8BA8"/>
                </a:solidFill>
                <a:latin typeface="Trebuchet MS" pitchFamily="34" charset="0"/>
                <a:ea typeface="Trebuchet MS" pitchFamily="34" charset="-122"/>
                <a:cs typeface="Trebuchet MS" pitchFamily="34" charset="-120"/>
              </a:rPr>
              <a:t>Capa de auditoria (cada paso genera registros)</a:t>
            </a:r>
            <a:endParaRPr lang="en-US" sz="1000" dirty="0"/>
          </a:p>
        </p:txBody>
      </p:sp>
      <p:sp>
        <p:nvSpPr>
          <p:cNvPr id="45" name="Shape 43"/>
          <p:cNvSpPr/>
          <p:nvPr/>
        </p:nvSpPr>
        <p:spPr>
          <a:xfrm>
            <a:off x="640080" y="3931920"/>
            <a:ext cx="1463040" cy="502920"/>
          </a:xfrm>
          <a:prstGeom prst="rect">
            <a:avLst/>
          </a:prstGeom>
          <a:solidFill>
            <a:srgbClr val="0E0E1A"/>
          </a:solidFill>
          <a:ln w="6350">
            <a:solidFill>
              <a:srgbClr val="1E2A3A"/>
            </a:solidFill>
            <a:prstDash val="solid"/>
          </a:ln>
        </p:spPr>
      </p:sp>
      <p:sp>
        <p:nvSpPr>
          <p:cNvPr id="46" name="Text 44"/>
          <p:cNvSpPr/>
          <p:nvPr/>
        </p:nvSpPr>
        <p:spPr>
          <a:xfrm>
            <a:off x="640080" y="3931920"/>
            <a:ext cx="1463040" cy="502920"/>
          </a:xfrm>
          <a:prstGeom prst="rect">
            <a:avLst/>
          </a:prstGeom>
          <a:noFill/>
          <a:ln/>
        </p:spPr>
        <p:txBody>
          <a:bodyPr wrap="square" rtlCol="0" anchor="ctr"/>
          <a:lstStyle/>
          <a:p>
            <a:pPr algn="ctr" indent="0" marL="0">
              <a:buNone/>
            </a:pPr>
            <a:r>
              <a:rPr lang="en-US" sz="800" dirty="0">
                <a:solidFill>
                  <a:srgbClr val="E8E8F0"/>
                </a:solidFill>
                <a:latin typeface="Consolas" pitchFamily="34" charset="0"/>
                <a:ea typeface="Consolas" pitchFamily="34" charset="-122"/>
                <a:cs typeface="Consolas" pitchFamily="34" charset="-120"/>
              </a:rPr>
              <a:t>MatchRecord</a:t>
            </a:r>
            <a:endParaRPr lang="en-US" sz="800" dirty="0"/>
          </a:p>
        </p:txBody>
      </p:sp>
      <p:sp>
        <p:nvSpPr>
          <p:cNvPr id="47" name="Shape 45"/>
          <p:cNvSpPr/>
          <p:nvPr/>
        </p:nvSpPr>
        <p:spPr>
          <a:xfrm>
            <a:off x="2286000" y="3931920"/>
            <a:ext cx="1463040" cy="502920"/>
          </a:xfrm>
          <a:prstGeom prst="rect">
            <a:avLst/>
          </a:prstGeom>
          <a:solidFill>
            <a:srgbClr val="0E0E1A"/>
          </a:solidFill>
          <a:ln w="6350">
            <a:solidFill>
              <a:srgbClr val="1E2A3A"/>
            </a:solidFill>
            <a:prstDash val="solid"/>
          </a:ln>
        </p:spPr>
      </p:sp>
      <p:sp>
        <p:nvSpPr>
          <p:cNvPr id="48" name="Text 46"/>
          <p:cNvSpPr/>
          <p:nvPr/>
        </p:nvSpPr>
        <p:spPr>
          <a:xfrm>
            <a:off x="2286000" y="3931920"/>
            <a:ext cx="1463040" cy="502920"/>
          </a:xfrm>
          <a:prstGeom prst="rect">
            <a:avLst/>
          </a:prstGeom>
          <a:noFill/>
          <a:ln/>
        </p:spPr>
        <p:txBody>
          <a:bodyPr wrap="square" rtlCol="0" anchor="ctr"/>
          <a:lstStyle/>
          <a:p>
            <a:pPr algn="ctr" indent="0" marL="0">
              <a:buNone/>
            </a:pPr>
            <a:r>
              <a:rPr lang="en-US" sz="800" dirty="0">
                <a:solidFill>
                  <a:srgbClr val="E8E8F0"/>
                </a:solidFill>
                <a:latin typeface="Consolas" pitchFamily="34" charset="0"/>
                <a:ea typeface="Consolas" pitchFamily="34" charset="-122"/>
                <a:cs typeface="Consolas" pitchFamily="34" charset="-120"/>
              </a:rPr>
              <a:t>EventLog</a:t>
            </a:r>
            <a:endParaRPr lang="en-US" sz="800" dirty="0"/>
          </a:p>
        </p:txBody>
      </p:sp>
      <p:sp>
        <p:nvSpPr>
          <p:cNvPr id="49" name="Shape 47"/>
          <p:cNvSpPr/>
          <p:nvPr/>
        </p:nvSpPr>
        <p:spPr>
          <a:xfrm>
            <a:off x="3931920" y="3931920"/>
            <a:ext cx="1463040" cy="502920"/>
          </a:xfrm>
          <a:prstGeom prst="rect">
            <a:avLst/>
          </a:prstGeom>
          <a:solidFill>
            <a:srgbClr val="0E0E1A"/>
          </a:solidFill>
          <a:ln w="6350">
            <a:solidFill>
              <a:srgbClr val="1E2A3A"/>
            </a:solidFill>
            <a:prstDash val="solid"/>
          </a:ln>
        </p:spPr>
      </p:sp>
      <p:sp>
        <p:nvSpPr>
          <p:cNvPr id="50" name="Text 48"/>
          <p:cNvSpPr/>
          <p:nvPr/>
        </p:nvSpPr>
        <p:spPr>
          <a:xfrm>
            <a:off x="3931920" y="3931920"/>
            <a:ext cx="1463040" cy="502920"/>
          </a:xfrm>
          <a:prstGeom prst="rect">
            <a:avLst/>
          </a:prstGeom>
          <a:noFill/>
          <a:ln/>
        </p:spPr>
        <p:txBody>
          <a:bodyPr wrap="square" rtlCol="0" anchor="ctr"/>
          <a:lstStyle/>
          <a:p>
            <a:pPr algn="ctr" indent="0" marL="0">
              <a:buNone/>
            </a:pPr>
            <a:r>
              <a:rPr lang="en-US" sz="800" dirty="0">
                <a:solidFill>
                  <a:srgbClr val="E8E8F0"/>
                </a:solidFill>
                <a:latin typeface="Consolas" pitchFamily="34" charset="0"/>
                <a:ea typeface="Consolas" pitchFamily="34" charset="-122"/>
                <a:cs typeface="Consolas" pitchFamily="34" charset="-120"/>
              </a:rPr>
              <a:t>RankingDelta</a:t>
            </a:r>
            <a:endParaRPr lang="en-US" sz="800" dirty="0"/>
          </a:p>
        </p:txBody>
      </p:sp>
      <p:sp>
        <p:nvSpPr>
          <p:cNvPr id="51" name="Shape 49"/>
          <p:cNvSpPr/>
          <p:nvPr/>
        </p:nvSpPr>
        <p:spPr>
          <a:xfrm>
            <a:off x="5577840" y="3931920"/>
            <a:ext cx="1463040" cy="502920"/>
          </a:xfrm>
          <a:prstGeom prst="rect">
            <a:avLst/>
          </a:prstGeom>
          <a:solidFill>
            <a:srgbClr val="0E0E1A"/>
          </a:solidFill>
          <a:ln w="6350">
            <a:solidFill>
              <a:srgbClr val="1E2A3A"/>
            </a:solidFill>
            <a:prstDash val="solid"/>
          </a:ln>
        </p:spPr>
      </p:sp>
      <p:sp>
        <p:nvSpPr>
          <p:cNvPr id="52" name="Text 50"/>
          <p:cNvSpPr/>
          <p:nvPr/>
        </p:nvSpPr>
        <p:spPr>
          <a:xfrm>
            <a:off x="5577840" y="3931920"/>
            <a:ext cx="1463040" cy="502920"/>
          </a:xfrm>
          <a:prstGeom prst="rect">
            <a:avLst/>
          </a:prstGeom>
          <a:noFill/>
          <a:ln/>
        </p:spPr>
        <p:txBody>
          <a:bodyPr wrap="square" rtlCol="0" anchor="ctr"/>
          <a:lstStyle/>
          <a:p>
            <a:pPr algn="ctr" indent="0" marL="0">
              <a:buNone/>
            </a:pPr>
            <a:r>
              <a:rPr lang="en-US" sz="800" dirty="0">
                <a:solidFill>
                  <a:srgbClr val="E8E8F0"/>
                </a:solidFill>
                <a:latin typeface="Consolas" pitchFamily="34" charset="0"/>
                <a:ea typeface="Consolas" pitchFamily="34" charset="-122"/>
                <a:cs typeface="Consolas" pitchFamily="34" charset="-120"/>
              </a:rPr>
              <a:t>Snapshot</a:t>
            </a:r>
            <a:endParaRPr lang="en-US" sz="800" dirty="0"/>
          </a:p>
        </p:txBody>
      </p:sp>
      <p:sp>
        <p:nvSpPr>
          <p:cNvPr id="53" name="Shape 51"/>
          <p:cNvSpPr/>
          <p:nvPr/>
        </p:nvSpPr>
        <p:spPr>
          <a:xfrm>
            <a:off x="7223760" y="3931920"/>
            <a:ext cx="1463040" cy="502920"/>
          </a:xfrm>
          <a:prstGeom prst="rect">
            <a:avLst/>
          </a:prstGeom>
          <a:solidFill>
            <a:srgbClr val="0E0E1A"/>
          </a:solidFill>
          <a:ln w="6350">
            <a:solidFill>
              <a:srgbClr val="1E2A3A"/>
            </a:solidFill>
            <a:prstDash val="solid"/>
          </a:ln>
        </p:spPr>
      </p:sp>
      <p:sp>
        <p:nvSpPr>
          <p:cNvPr id="54" name="Text 52"/>
          <p:cNvSpPr/>
          <p:nvPr/>
        </p:nvSpPr>
        <p:spPr>
          <a:xfrm>
            <a:off x="7223760" y="3931920"/>
            <a:ext cx="1463040" cy="502920"/>
          </a:xfrm>
          <a:prstGeom prst="rect">
            <a:avLst/>
          </a:prstGeom>
          <a:noFill/>
          <a:ln/>
        </p:spPr>
        <p:txBody>
          <a:bodyPr wrap="square" rtlCol="0" anchor="ctr"/>
          <a:lstStyle/>
          <a:p>
            <a:pPr algn="ctr" indent="0" marL="0">
              <a:buNone/>
            </a:pPr>
            <a:r>
              <a:rPr lang="en-US" sz="800" dirty="0">
                <a:solidFill>
                  <a:srgbClr val="E8E8F0"/>
                </a:solidFill>
                <a:latin typeface="Consolas" pitchFamily="34" charset="0"/>
                <a:ea typeface="Consolas" pitchFamily="34" charset="-122"/>
                <a:cs typeface="Consolas" pitchFamily="34" charset="-120"/>
              </a:rPr>
              <a:t>ModelVersion</a:t>
            </a:r>
            <a:endParaRPr lang="en-US" sz="800" dirty="0"/>
          </a:p>
        </p:txBody>
      </p:sp>
      <p:sp>
        <p:nvSpPr>
          <p:cNvPr id="55" name="Text 53"/>
          <p:cNvSpPr/>
          <p:nvPr/>
        </p:nvSpPr>
        <p:spPr>
          <a:xfrm>
            <a:off x="457200" y="4709160"/>
            <a:ext cx="8229600" cy="274320"/>
          </a:xfrm>
          <a:prstGeom prst="rect">
            <a:avLst/>
          </a:prstGeom>
          <a:noFill/>
          <a:ln/>
        </p:spPr>
        <p:txBody>
          <a:bodyPr wrap="square" rtlCol="0" anchor="ctr"/>
          <a:lstStyle/>
          <a:p>
            <a:pPr indent="0" marL="0">
              <a:buNone/>
            </a:pPr>
            <a:r>
              <a:rPr lang="en-US" sz="700" i="1" dirty="0">
                <a:solidFill>
                  <a:srgbClr val="7A8BA8"/>
                </a:solidFill>
                <a:latin typeface="Consolas" pitchFamily="34" charset="0"/>
                <a:ea typeface="Consolas" pitchFamily="34" charset="-122"/>
                <a:cs typeface="Consolas" pitchFamily="34" charset="-120"/>
              </a:rPr>
              <a:t>Fuente: docs/psr-audit/04-arquitectura-web-app.md</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00F0FF"/>
          </a:solidFill>
          <a:ln/>
        </p:spPr>
      </p:sp>
      <p:sp>
        <p:nvSpPr>
          <p:cNvPr id="3" name="Shape 1"/>
          <p:cNvSpPr/>
          <p:nvPr/>
        </p:nvSpPr>
        <p:spPr>
          <a:xfrm>
            <a:off x="0" y="5125212"/>
            <a:ext cx="9144000" cy="18288"/>
          </a:xfrm>
          <a:prstGeom prst="rect">
            <a:avLst/>
          </a:prstGeom>
          <a:solidFill>
            <a:srgbClr val="FF2D6B"/>
          </a:solidFill>
          <a:ln/>
        </p:spPr>
      </p:sp>
      <p:sp>
        <p:nvSpPr>
          <p:cNvPr id="4" name="Shape 2"/>
          <p:cNvSpPr/>
          <p:nvPr/>
        </p:nvSpPr>
        <p:spPr>
          <a:xfrm>
            <a:off x="0" y="0"/>
            <a:ext cx="18288" cy="548640"/>
          </a:xfrm>
          <a:prstGeom prst="rect">
            <a:avLst/>
          </a:prstGeom>
          <a:solidFill>
            <a:srgbClr val="00F0FF"/>
          </a:solidFill>
          <a:ln/>
        </p:spPr>
      </p:sp>
      <p:sp>
        <p:nvSpPr>
          <p:cNvPr id="5" name="Shape 3"/>
          <p:cNvSpPr/>
          <p:nvPr/>
        </p:nvSpPr>
        <p:spPr>
          <a:xfrm>
            <a:off x="0" y="0"/>
            <a:ext cx="548640" cy="18288"/>
          </a:xfrm>
          <a:prstGeom prst="rect">
            <a:avLst/>
          </a:prstGeom>
          <a:solidFill>
            <a:srgbClr val="00F0FF"/>
          </a:solidFill>
          <a:ln/>
        </p:spPr>
      </p:sp>
      <p:sp>
        <p:nvSpPr>
          <p:cNvPr id="6" name="Shape 4"/>
          <p:cNvSpPr/>
          <p:nvPr/>
        </p:nvSpPr>
        <p:spPr>
          <a:xfrm>
            <a:off x="9125712" y="4594860"/>
            <a:ext cx="18288" cy="548640"/>
          </a:xfrm>
          <a:prstGeom prst="rect">
            <a:avLst/>
          </a:prstGeom>
          <a:solidFill>
            <a:srgbClr val="FF2D6B"/>
          </a:solidFill>
          <a:ln/>
        </p:spPr>
      </p:sp>
      <p:sp>
        <p:nvSpPr>
          <p:cNvPr id="7" name="Shape 5"/>
          <p:cNvSpPr/>
          <p:nvPr/>
        </p:nvSpPr>
        <p:spPr>
          <a:xfrm>
            <a:off x="8595360" y="5125212"/>
            <a:ext cx="548640" cy="18288"/>
          </a:xfrm>
          <a:prstGeom prst="rect">
            <a:avLst/>
          </a:prstGeom>
          <a:solidFill>
            <a:srgbClr val="FF2D6B"/>
          </a:solidFill>
          <a:ln/>
        </p:spPr>
      </p:sp>
      <p:sp>
        <p:nvSpPr>
          <p:cNvPr id="8" name="Shape 6"/>
          <p:cNvSpPr/>
          <p:nvPr/>
        </p:nvSpPr>
        <p:spPr>
          <a:xfrm>
            <a:off x="914400" y="0"/>
            <a:ext cx="2743" cy="5143500"/>
          </a:xfrm>
          <a:prstGeom prst="rect">
            <a:avLst/>
          </a:prstGeom>
          <a:solidFill>
            <a:srgbClr val="1E2A3A">
              <a:alpha val="20000"/>
            </a:srgbClr>
          </a:solidFill>
          <a:ln/>
        </p:spPr>
      </p:sp>
      <p:sp>
        <p:nvSpPr>
          <p:cNvPr id="9" name="Shape 7"/>
          <p:cNvSpPr/>
          <p:nvPr/>
        </p:nvSpPr>
        <p:spPr>
          <a:xfrm>
            <a:off x="1828800" y="0"/>
            <a:ext cx="2743" cy="5143500"/>
          </a:xfrm>
          <a:prstGeom prst="rect">
            <a:avLst/>
          </a:prstGeom>
          <a:solidFill>
            <a:srgbClr val="1E2A3A">
              <a:alpha val="20000"/>
            </a:srgbClr>
          </a:solidFill>
          <a:ln/>
        </p:spPr>
      </p:sp>
      <p:sp>
        <p:nvSpPr>
          <p:cNvPr id="10" name="Shape 8"/>
          <p:cNvSpPr/>
          <p:nvPr/>
        </p:nvSpPr>
        <p:spPr>
          <a:xfrm>
            <a:off x="2743200" y="0"/>
            <a:ext cx="2743" cy="5143500"/>
          </a:xfrm>
          <a:prstGeom prst="rect">
            <a:avLst/>
          </a:prstGeom>
          <a:solidFill>
            <a:srgbClr val="1E2A3A">
              <a:alpha val="20000"/>
            </a:srgbClr>
          </a:solidFill>
          <a:ln/>
        </p:spPr>
      </p:sp>
      <p:sp>
        <p:nvSpPr>
          <p:cNvPr id="11" name="Shape 9"/>
          <p:cNvSpPr/>
          <p:nvPr/>
        </p:nvSpPr>
        <p:spPr>
          <a:xfrm>
            <a:off x="3657600" y="0"/>
            <a:ext cx="2743" cy="5143500"/>
          </a:xfrm>
          <a:prstGeom prst="rect">
            <a:avLst/>
          </a:prstGeom>
          <a:solidFill>
            <a:srgbClr val="1E2A3A">
              <a:alpha val="20000"/>
            </a:srgbClr>
          </a:solidFill>
          <a:ln/>
        </p:spPr>
      </p:sp>
      <p:sp>
        <p:nvSpPr>
          <p:cNvPr id="12" name="Shape 10"/>
          <p:cNvSpPr/>
          <p:nvPr/>
        </p:nvSpPr>
        <p:spPr>
          <a:xfrm>
            <a:off x="4572000" y="0"/>
            <a:ext cx="2743" cy="5143500"/>
          </a:xfrm>
          <a:prstGeom prst="rect">
            <a:avLst/>
          </a:prstGeom>
          <a:solidFill>
            <a:srgbClr val="1E2A3A">
              <a:alpha val="20000"/>
            </a:srgbClr>
          </a:solidFill>
          <a:ln/>
        </p:spPr>
      </p:sp>
      <p:sp>
        <p:nvSpPr>
          <p:cNvPr id="13" name="Shape 11"/>
          <p:cNvSpPr/>
          <p:nvPr/>
        </p:nvSpPr>
        <p:spPr>
          <a:xfrm>
            <a:off x="5486400" y="0"/>
            <a:ext cx="2743" cy="5143500"/>
          </a:xfrm>
          <a:prstGeom prst="rect">
            <a:avLst/>
          </a:prstGeom>
          <a:solidFill>
            <a:srgbClr val="1E2A3A">
              <a:alpha val="20000"/>
            </a:srgbClr>
          </a:solidFill>
          <a:ln/>
        </p:spPr>
      </p:sp>
      <p:sp>
        <p:nvSpPr>
          <p:cNvPr id="14" name="Shape 12"/>
          <p:cNvSpPr/>
          <p:nvPr/>
        </p:nvSpPr>
        <p:spPr>
          <a:xfrm>
            <a:off x="6400800" y="0"/>
            <a:ext cx="2743" cy="5143500"/>
          </a:xfrm>
          <a:prstGeom prst="rect">
            <a:avLst/>
          </a:prstGeom>
          <a:solidFill>
            <a:srgbClr val="1E2A3A">
              <a:alpha val="20000"/>
            </a:srgbClr>
          </a:solidFill>
          <a:ln/>
        </p:spPr>
      </p:sp>
      <p:sp>
        <p:nvSpPr>
          <p:cNvPr id="15" name="Shape 13"/>
          <p:cNvSpPr/>
          <p:nvPr/>
        </p:nvSpPr>
        <p:spPr>
          <a:xfrm>
            <a:off x="7315200" y="0"/>
            <a:ext cx="2743" cy="5143500"/>
          </a:xfrm>
          <a:prstGeom prst="rect">
            <a:avLst/>
          </a:prstGeom>
          <a:solidFill>
            <a:srgbClr val="1E2A3A">
              <a:alpha val="20000"/>
            </a:srgbClr>
          </a:solidFill>
          <a:ln/>
        </p:spPr>
      </p:sp>
      <p:sp>
        <p:nvSpPr>
          <p:cNvPr id="16" name="Shape 14"/>
          <p:cNvSpPr/>
          <p:nvPr/>
        </p:nvSpPr>
        <p:spPr>
          <a:xfrm>
            <a:off x="8229600" y="0"/>
            <a:ext cx="2743" cy="5143500"/>
          </a:xfrm>
          <a:prstGeom prst="rect">
            <a:avLst/>
          </a:prstGeom>
          <a:solidFill>
            <a:srgbClr val="1E2A3A">
              <a:alpha val="20000"/>
            </a:srgbClr>
          </a:solidFill>
          <a:ln/>
        </p:spPr>
      </p:sp>
      <p:sp>
        <p:nvSpPr>
          <p:cNvPr id="17" name="Text 15"/>
          <p:cNvSpPr/>
          <p:nvPr/>
        </p:nvSpPr>
        <p:spPr>
          <a:xfrm>
            <a:off x="640080" y="182880"/>
            <a:ext cx="7863840" cy="502920"/>
          </a:xfrm>
          <a:prstGeom prst="rect">
            <a:avLst/>
          </a:prstGeom>
          <a:noFill/>
          <a:ln/>
        </p:spPr>
        <p:txBody>
          <a:bodyPr wrap="square" lIns="0" tIns="0" rIns="0" bIns="0" rtlCol="0" anchor="ctr"/>
          <a:lstStyle/>
          <a:p>
            <a:pPr indent="0" marL="0">
              <a:buNone/>
            </a:pPr>
            <a:r>
              <a:rPr lang="en-US" sz="2200" b="1" spc="300" kern="0" dirty="0">
                <a:solidFill>
                  <a:srgbClr val="00F0FF"/>
                </a:solidFill>
                <a:latin typeface="Impact" pitchFamily="34" charset="0"/>
                <a:ea typeface="Impact" pitchFamily="34" charset="-122"/>
                <a:cs typeface="Impact" pitchFamily="34" charset="-120"/>
              </a:rPr>
              <a:t>COMPOSICION DE LA SENAL DE PERFORMANCE</a:t>
            </a:r>
            <a:endParaRPr lang="en-US" sz="2200" dirty="0"/>
          </a:p>
        </p:txBody>
      </p:sp>
      <p:sp>
        <p:nvSpPr>
          <p:cNvPr id="18" name="Shape 16"/>
          <p:cNvSpPr/>
          <p:nvPr/>
        </p:nvSpPr>
        <p:spPr>
          <a:xfrm>
            <a:off x="640080" y="713232"/>
            <a:ext cx="2286000" cy="22860"/>
          </a:xfrm>
          <a:prstGeom prst="rect">
            <a:avLst/>
          </a:prstGeom>
          <a:solidFill>
            <a:srgbClr val="FF2D6B"/>
          </a:solidFill>
          <a:ln/>
        </p:spPr>
      </p:sp>
      <p:sp>
        <p:nvSpPr>
          <p:cNvPr id="19" name="Text 17"/>
          <p:cNvSpPr/>
          <p:nvPr/>
        </p:nvSpPr>
        <p:spPr>
          <a:xfrm>
            <a:off x="640080" y="822960"/>
            <a:ext cx="7863840" cy="228600"/>
          </a:xfrm>
          <a:prstGeom prst="rect">
            <a:avLst/>
          </a:prstGeom>
          <a:noFill/>
          <a:ln/>
        </p:spPr>
        <p:txBody>
          <a:bodyPr wrap="square" lIns="0" tIns="0" rIns="0" bIns="0" rtlCol="0" anchor="ctr"/>
          <a:lstStyle/>
          <a:p>
            <a:pPr indent="0" marL="0">
              <a:buNone/>
            </a:pPr>
            <a:r>
              <a:rPr lang="en-US" sz="1000" i="1" dirty="0">
                <a:solidFill>
                  <a:srgbClr val="7A8BA8"/>
                </a:solidFill>
                <a:latin typeface="Trebuchet MS" pitchFamily="34" charset="0"/>
                <a:ea typeface="Trebuchet MS" pitchFamily="34" charset="-122"/>
                <a:cs typeface="Trebuchet MS" pitchFamily="34" charset="-120"/>
              </a:rPr>
              <a:t>Que tan bueno fue el jugador en un evento especifico</a:t>
            </a:r>
            <a:endParaRPr lang="en-US" sz="1000" dirty="0"/>
          </a:p>
        </p:txBody>
      </p:sp>
      <p:graphicFrame>
        <p:nvGraphicFramePr>
          <p:cNvPr id="20" name="Chart 0" descr=""/>
          <p:cNvGraphicFramePr/>
          <p:nvPr/>
        </p:nvGraphicFramePr>
        <p:xfrm>
          <a:off x="457200" y="1097280"/>
          <a:ext cx="4114800" cy="3474720"/>
        </p:xfrm>
        <a:graphic xmlns:a="http://schemas.openxmlformats.org/drawingml/2006/main">
          <a:graphicData uri="http://schemas.openxmlformats.org/drawingml/2006/chart">
            <c:chart xmlns:c="http://schemas.openxmlformats.org/drawingml/2006/chart" r:id="rId1"/>
          </a:graphicData>
        </a:graphic>
      </p:graphicFrame>
      <p:sp>
        <p:nvSpPr>
          <p:cNvPr id="21" name="Shape 18"/>
          <p:cNvSpPr/>
          <p:nvPr/>
        </p:nvSpPr>
        <p:spPr>
          <a:xfrm>
            <a:off x="4754880" y="1188720"/>
            <a:ext cx="54864" cy="960120"/>
          </a:xfrm>
          <a:prstGeom prst="rect">
            <a:avLst/>
          </a:prstGeom>
          <a:solidFill>
            <a:srgbClr val="FF2D6B"/>
          </a:solidFill>
          <a:ln/>
        </p:spPr>
      </p:sp>
      <p:sp>
        <p:nvSpPr>
          <p:cNvPr id="22" name="Text 19"/>
          <p:cNvSpPr/>
          <p:nvPr/>
        </p:nvSpPr>
        <p:spPr>
          <a:xfrm>
            <a:off x="4937760" y="1188720"/>
            <a:ext cx="3657600" cy="274320"/>
          </a:xfrm>
          <a:prstGeom prst="rect">
            <a:avLst/>
          </a:prstGeom>
          <a:noFill/>
          <a:ln/>
        </p:spPr>
        <p:txBody>
          <a:bodyPr wrap="square" lIns="0" tIns="0" rIns="0" bIns="0" rtlCol="0" anchor="ctr"/>
          <a:lstStyle/>
          <a:p>
            <a:pPr indent="0" marL="0">
              <a:buNone/>
            </a:pPr>
            <a:r>
              <a:rPr lang="en-US" sz="1100" b="1" dirty="0">
                <a:solidFill>
                  <a:srgbClr val="E8E8F0"/>
                </a:solidFill>
                <a:latin typeface="Trebuchet MS" pitchFamily="34" charset="0"/>
                <a:ea typeface="Trebuchet MS" pitchFamily="34" charset="-122"/>
                <a:cs typeface="Trebuchet MS" pitchFamily="34" charset="-120"/>
              </a:rPr>
              <a:t>Placement (70%)</a:t>
            </a:r>
            <a:endParaRPr lang="en-US" sz="1100" dirty="0"/>
          </a:p>
        </p:txBody>
      </p:sp>
      <p:sp>
        <p:nvSpPr>
          <p:cNvPr id="23" name="Text 20"/>
          <p:cNvSpPr/>
          <p:nvPr/>
        </p:nvSpPr>
        <p:spPr>
          <a:xfrm>
            <a:off x="4937760" y="1463040"/>
            <a:ext cx="3657600" cy="685800"/>
          </a:xfrm>
          <a:prstGeom prst="rect">
            <a:avLst/>
          </a:prstGeom>
          <a:noFill/>
          <a:ln/>
        </p:spPr>
        <p:txBody>
          <a:bodyPr wrap="square" lIns="0" tIns="0" rIns="0" bIns="0" rtlCol="0" anchor="t"/>
          <a:lstStyle/>
          <a:p>
            <a:pPr indent="0" marL="0">
              <a:buNone/>
            </a:pPr>
            <a:r>
              <a:rPr lang="en-US" sz="900" dirty="0">
                <a:solidFill>
                  <a:srgbClr val="7A8BA8"/>
                </a:solidFill>
                <a:latin typeface="Consolas" pitchFamily="34" charset="0"/>
                <a:ea typeface="Consolas" pitchFamily="34" charset="-122"/>
                <a:cs typeface="Consolas" pitchFamily="34" charset="-120"/>
              </a:rPr>
              <a:t>Posicion final en el torneo. Combina:</a:t>
            </a:r>
            <a:endParaRPr lang="en-US" sz="900" dirty="0"/>
          </a:p>
          <a:p>
            <a:pPr indent="0" marL="0">
              <a:buNone/>
            </a:pPr>
            <a:r>
              <a:rPr lang="en-US" sz="900" dirty="0">
                <a:solidFill>
                  <a:srgbClr val="7A8BA8"/>
                </a:solidFill>
                <a:latin typeface="Consolas" pitchFamily="34" charset="0"/>
                <a:ea typeface="Consolas" pitchFamily="34" charset="-122"/>
                <a:cs typeface="Consolas" pitchFamily="34" charset="-120"/>
              </a:rPr>
              <a:t>0.72 x placement final</a:t>
            </a:r>
            <a:endParaRPr lang="en-US" sz="900" dirty="0"/>
          </a:p>
          <a:p>
            <a:pPr indent="0" marL="0">
              <a:buNone/>
            </a:pPr>
            <a:r>
              <a:rPr lang="en-US" sz="900" dirty="0">
                <a:solidFill>
                  <a:srgbClr val="7A8BA8"/>
                </a:solidFill>
                <a:latin typeface="Consolas" pitchFamily="34" charset="0"/>
                <a:ea typeface="Consolas" pitchFamily="34" charset="-122"/>
                <a:cs typeface="Consolas" pitchFamily="34" charset="-120"/>
              </a:rPr>
              <a:t>0.28 x placement promedio por ronda</a:t>
            </a:r>
            <a:endParaRPr lang="en-US" sz="900" dirty="0"/>
          </a:p>
        </p:txBody>
      </p:sp>
      <p:sp>
        <p:nvSpPr>
          <p:cNvPr id="24" name="Shape 21"/>
          <p:cNvSpPr/>
          <p:nvPr/>
        </p:nvSpPr>
        <p:spPr>
          <a:xfrm>
            <a:off x="4754880" y="2331720"/>
            <a:ext cx="54864" cy="960120"/>
          </a:xfrm>
          <a:prstGeom prst="rect">
            <a:avLst/>
          </a:prstGeom>
          <a:solidFill>
            <a:srgbClr val="00F0FF"/>
          </a:solidFill>
          <a:ln/>
        </p:spPr>
      </p:sp>
      <p:sp>
        <p:nvSpPr>
          <p:cNvPr id="25" name="Text 22"/>
          <p:cNvSpPr/>
          <p:nvPr/>
        </p:nvSpPr>
        <p:spPr>
          <a:xfrm>
            <a:off x="4937760" y="2331720"/>
            <a:ext cx="3657600" cy="274320"/>
          </a:xfrm>
          <a:prstGeom prst="rect">
            <a:avLst/>
          </a:prstGeom>
          <a:noFill/>
          <a:ln/>
        </p:spPr>
        <p:txBody>
          <a:bodyPr wrap="square" lIns="0" tIns="0" rIns="0" bIns="0" rtlCol="0" anchor="ctr"/>
          <a:lstStyle/>
          <a:p>
            <a:pPr indent="0" marL="0">
              <a:buNone/>
            </a:pPr>
            <a:r>
              <a:rPr lang="en-US" sz="1100" b="1" dirty="0">
                <a:solidFill>
                  <a:srgbClr val="E8E8F0"/>
                </a:solidFill>
                <a:latin typeface="Trebuchet MS" pitchFamily="34" charset="0"/>
                <a:ea typeface="Trebuchet MS" pitchFamily="34" charset="-122"/>
                <a:cs typeface="Trebuchet MS" pitchFamily="34" charset="-120"/>
              </a:rPr>
              <a:t>Kills (20%)</a:t>
            </a:r>
            <a:endParaRPr lang="en-US" sz="1100" dirty="0"/>
          </a:p>
        </p:txBody>
      </p:sp>
      <p:sp>
        <p:nvSpPr>
          <p:cNvPr id="26" name="Text 23"/>
          <p:cNvSpPr/>
          <p:nvPr/>
        </p:nvSpPr>
        <p:spPr>
          <a:xfrm>
            <a:off x="4937760" y="2606040"/>
            <a:ext cx="3657600" cy="685800"/>
          </a:xfrm>
          <a:prstGeom prst="rect">
            <a:avLst/>
          </a:prstGeom>
          <a:noFill/>
          <a:ln/>
        </p:spPr>
        <p:txBody>
          <a:bodyPr wrap="square" lIns="0" tIns="0" rIns="0" bIns="0" rtlCol="0" anchor="t"/>
          <a:lstStyle/>
          <a:p>
            <a:pPr indent="0" marL="0">
              <a:buNone/>
            </a:pPr>
            <a:r>
              <a:rPr lang="en-US" sz="900" dirty="0">
                <a:solidFill>
                  <a:srgbClr val="7A8BA8"/>
                </a:solidFill>
                <a:latin typeface="Consolas" pitchFamily="34" charset="0"/>
                <a:ea typeface="Consolas" pitchFamily="34" charset="-122"/>
                <a:cs typeface="Consolas" pitchFamily="34" charset="-120"/>
              </a:rPr>
              <a:t>Kills normalizados con log-transform:</a:t>
            </a:r>
            <a:endParaRPr lang="en-US" sz="900" dirty="0"/>
          </a:p>
          <a:p>
            <a:pPr indent="0" marL="0">
              <a:buNone/>
            </a:pPr>
            <a:r>
              <a:rPr lang="en-US" sz="900" dirty="0">
                <a:solidFill>
                  <a:srgbClr val="7A8BA8"/>
                </a:solidFill>
                <a:latin typeface="Consolas" pitchFamily="34" charset="0"/>
                <a:ea typeface="Consolas" pitchFamily="34" charset="-122"/>
                <a:cs typeface="Consolas" pitchFamily="34" charset="-120"/>
              </a:rPr>
              <a:t>log(1 + avg_kills) / log(1 + max_kills)</a:t>
            </a:r>
            <a:endParaRPr lang="en-US" sz="900" dirty="0"/>
          </a:p>
          <a:p>
            <a:pPr indent="0" marL="0">
              <a:buNone/>
            </a:pPr>
            <a:r>
              <a:rPr lang="en-US" sz="900" dirty="0">
                <a:solidFill>
                  <a:srgbClr val="7A8BA8"/>
                </a:solidFill>
                <a:latin typeface="Consolas" pitchFamily="34" charset="0"/>
                <a:ea typeface="Consolas" pitchFamily="34" charset="-122"/>
                <a:cs typeface="Consolas" pitchFamily="34" charset="-120"/>
              </a:rPr>
              <a:t>Diminishing returns: 10-&gt;11 vale menos que 0-&gt;1</a:t>
            </a:r>
            <a:endParaRPr lang="en-US" sz="900" dirty="0"/>
          </a:p>
        </p:txBody>
      </p:sp>
      <p:sp>
        <p:nvSpPr>
          <p:cNvPr id="27" name="Shape 24"/>
          <p:cNvSpPr/>
          <p:nvPr/>
        </p:nvSpPr>
        <p:spPr>
          <a:xfrm>
            <a:off x="4754880" y="3474720"/>
            <a:ext cx="54864" cy="960120"/>
          </a:xfrm>
          <a:prstGeom prst="rect">
            <a:avLst/>
          </a:prstGeom>
          <a:solidFill>
            <a:srgbClr val="39FF14"/>
          </a:solidFill>
          <a:ln/>
        </p:spPr>
      </p:sp>
      <p:sp>
        <p:nvSpPr>
          <p:cNvPr id="28" name="Text 25"/>
          <p:cNvSpPr/>
          <p:nvPr/>
        </p:nvSpPr>
        <p:spPr>
          <a:xfrm>
            <a:off x="4937760" y="3474720"/>
            <a:ext cx="3657600" cy="274320"/>
          </a:xfrm>
          <a:prstGeom prst="rect">
            <a:avLst/>
          </a:prstGeom>
          <a:noFill/>
          <a:ln/>
        </p:spPr>
        <p:txBody>
          <a:bodyPr wrap="square" lIns="0" tIns="0" rIns="0" bIns="0" rtlCol="0" anchor="ctr"/>
          <a:lstStyle/>
          <a:p>
            <a:pPr indent="0" marL="0">
              <a:buNone/>
            </a:pPr>
            <a:r>
              <a:rPr lang="en-US" sz="1100" b="1" dirty="0">
                <a:solidFill>
                  <a:srgbClr val="E8E8F0"/>
                </a:solidFill>
                <a:latin typeface="Trebuchet MS" pitchFamily="34" charset="0"/>
                <a:ea typeface="Trebuchet MS" pitchFamily="34" charset="-122"/>
                <a:cs typeface="Trebuchet MS" pitchFamily="34" charset="-120"/>
              </a:rPr>
              <a:t>Equipo (10%)</a:t>
            </a:r>
            <a:endParaRPr lang="en-US" sz="1100" dirty="0"/>
          </a:p>
        </p:txBody>
      </p:sp>
      <p:sp>
        <p:nvSpPr>
          <p:cNvPr id="29" name="Text 26"/>
          <p:cNvSpPr/>
          <p:nvPr/>
        </p:nvSpPr>
        <p:spPr>
          <a:xfrm>
            <a:off x="4937760" y="3749040"/>
            <a:ext cx="3657600" cy="685800"/>
          </a:xfrm>
          <a:prstGeom prst="rect">
            <a:avLst/>
          </a:prstGeom>
          <a:noFill/>
          <a:ln/>
        </p:spPr>
        <p:txBody>
          <a:bodyPr wrap="square" lIns="0" tIns="0" rIns="0" bIns="0" rtlCol="0" anchor="t"/>
          <a:lstStyle/>
          <a:p>
            <a:pPr indent="0" marL="0">
              <a:buNone/>
            </a:pPr>
            <a:r>
              <a:rPr lang="en-US" sz="900" dirty="0">
                <a:solidFill>
                  <a:srgbClr val="7A8BA8"/>
                </a:solidFill>
                <a:latin typeface="Consolas" pitchFamily="34" charset="0"/>
                <a:ea typeface="Consolas" pitchFamily="34" charset="-122"/>
                <a:cs typeface="Consolas" pitchFamily="34" charset="-120"/>
              </a:rPr>
              <a:t>Puntos de equipo (skillPoints):</a:t>
            </a:r>
            <a:endParaRPr lang="en-US" sz="900" dirty="0"/>
          </a:p>
          <a:p>
            <a:pPr indent="0" marL="0">
              <a:buNone/>
            </a:pPr>
            <a:r>
              <a:rPr lang="en-US" sz="900" dirty="0">
                <a:solidFill>
                  <a:srgbClr val="7A8BA8"/>
                </a:solidFill>
                <a:latin typeface="Consolas" pitchFamily="34" charset="0"/>
                <a:ea typeface="Consolas" pitchFamily="34" charset="-122"/>
                <a:cs typeface="Consolas" pitchFamily="34" charset="-120"/>
              </a:rPr>
              <a:t>teamKills x placementMultiplier</a:t>
            </a:r>
            <a:endParaRPr lang="en-US" sz="900" dirty="0"/>
          </a:p>
          <a:p>
            <a:pPr indent="0" marL="0">
              <a:buNone/>
            </a:pPr>
            <a:r>
              <a:rPr lang="en-US" sz="900" dirty="0">
                <a:solidFill>
                  <a:srgbClr val="7A8BA8"/>
                </a:solidFill>
                <a:latin typeface="Consolas" pitchFamily="34" charset="0"/>
                <a:ea typeface="Consolas" pitchFamily="34" charset="-122"/>
                <a:cs typeface="Consolas" pitchFamily="34" charset="-120"/>
              </a:rPr>
              <a:t>Normalizado contra el mejor del torneo</a:t>
            </a:r>
            <a:endParaRPr lang="en-US" sz="900" dirty="0"/>
          </a:p>
        </p:txBody>
      </p:sp>
      <p:sp>
        <p:nvSpPr>
          <p:cNvPr id="30" name="Text 27"/>
          <p:cNvSpPr/>
          <p:nvPr/>
        </p:nvSpPr>
        <p:spPr>
          <a:xfrm>
            <a:off x="457200" y="4709160"/>
            <a:ext cx="8229600" cy="274320"/>
          </a:xfrm>
          <a:prstGeom prst="rect">
            <a:avLst/>
          </a:prstGeom>
          <a:noFill/>
          <a:ln/>
        </p:spPr>
        <p:txBody>
          <a:bodyPr wrap="square" rtlCol="0" anchor="ctr"/>
          <a:lstStyle/>
          <a:p>
            <a:pPr indent="0" marL="0">
              <a:buNone/>
            </a:pPr>
            <a:r>
              <a:rPr lang="en-US" sz="700" i="1" dirty="0">
                <a:solidFill>
                  <a:srgbClr val="7A8BA8"/>
                </a:solidFill>
                <a:latin typeface="Consolas" pitchFamily="34" charset="0"/>
                <a:ea typeface="Consolas" pitchFamily="34" charset="-122"/>
                <a:cs typeface="Consolas" pitchFamily="34" charset="-120"/>
              </a:rPr>
              <a:t>Fuente: docs/psr-audit/02-metodologia-matematica.md</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00F0FF"/>
          </a:solidFill>
          <a:ln/>
        </p:spPr>
      </p:sp>
      <p:sp>
        <p:nvSpPr>
          <p:cNvPr id="3" name="Shape 1"/>
          <p:cNvSpPr/>
          <p:nvPr/>
        </p:nvSpPr>
        <p:spPr>
          <a:xfrm>
            <a:off x="0" y="5125212"/>
            <a:ext cx="9144000" cy="18288"/>
          </a:xfrm>
          <a:prstGeom prst="rect">
            <a:avLst/>
          </a:prstGeom>
          <a:solidFill>
            <a:srgbClr val="FF2D6B"/>
          </a:solidFill>
          <a:ln/>
        </p:spPr>
      </p:sp>
      <p:sp>
        <p:nvSpPr>
          <p:cNvPr id="4" name="Shape 2"/>
          <p:cNvSpPr/>
          <p:nvPr/>
        </p:nvSpPr>
        <p:spPr>
          <a:xfrm>
            <a:off x="0" y="0"/>
            <a:ext cx="18288" cy="548640"/>
          </a:xfrm>
          <a:prstGeom prst="rect">
            <a:avLst/>
          </a:prstGeom>
          <a:solidFill>
            <a:srgbClr val="00F0FF"/>
          </a:solidFill>
          <a:ln/>
        </p:spPr>
      </p:sp>
      <p:sp>
        <p:nvSpPr>
          <p:cNvPr id="5" name="Shape 3"/>
          <p:cNvSpPr/>
          <p:nvPr/>
        </p:nvSpPr>
        <p:spPr>
          <a:xfrm>
            <a:off x="0" y="0"/>
            <a:ext cx="548640" cy="18288"/>
          </a:xfrm>
          <a:prstGeom prst="rect">
            <a:avLst/>
          </a:prstGeom>
          <a:solidFill>
            <a:srgbClr val="00F0FF"/>
          </a:solidFill>
          <a:ln/>
        </p:spPr>
      </p:sp>
      <p:sp>
        <p:nvSpPr>
          <p:cNvPr id="6" name="Shape 4"/>
          <p:cNvSpPr/>
          <p:nvPr/>
        </p:nvSpPr>
        <p:spPr>
          <a:xfrm>
            <a:off x="9125712" y="4594860"/>
            <a:ext cx="18288" cy="548640"/>
          </a:xfrm>
          <a:prstGeom prst="rect">
            <a:avLst/>
          </a:prstGeom>
          <a:solidFill>
            <a:srgbClr val="FF2D6B"/>
          </a:solidFill>
          <a:ln/>
        </p:spPr>
      </p:sp>
      <p:sp>
        <p:nvSpPr>
          <p:cNvPr id="7" name="Shape 5"/>
          <p:cNvSpPr/>
          <p:nvPr/>
        </p:nvSpPr>
        <p:spPr>
          <a:xfrm>
            <a:off x="8595360" y="5125212"/>
            <a:ext cx="548640" cy="18288"/>
          </a:xfrm>
          <a:prstGeom prst="rect">
            <a:avLst/>
          </a:prstGeom>
          <a:solidFill>
            <a:srgbClr val="FF2D6B"/>
          </a:solidFill>
          <a:ln/>
        </p:spPr>
      </p:sp>
      <p:sp>
        <p:nvSpPr>
          <p:cNvPr id="8" name="Shape 6"/>
          <p:cNvSpPr/>
          <p:nvPr/>
        </p:nvSpPr>
        <p:spPr>
          <a:xfrm>
            <a:off x="914400" y="0"/>
            <a:ext cx="2743" cy="5143500"/>
          </a:xfrm>
          <a:prstGeom prst="rect">
            <a:avLst/>
          </a:prstGeom>
          <a:solidFill>
            <a:srgbClr val="1E2A3A">
              <a:alpha val="20000"/>
            </a:srgbClr>
          </a:solidFill>
          <a:ln/>
        </p:spPr>
      </p:sp>
      <p:sp>
        <p:nvSpPr>
          <p:cNvPr id="9" name="Shape 7"/>
          <p:cNvSpPr/>
          <p:nvPr/>
        </p:nvSpPr>
        <p:spPr>
          <a:xfrm>
            <a:off x="1828800" y="0"/>
            <a:ext cx="2743" cy="5143500"/>
          </a:xfrm>
          <a:prstGeom prst="rect">
            <a:avLst/>
          </a:prstGeom>
          <a:solidFill>
            <a:srgbClr val="1E2A3A">
              <a:alpha val="20000"/>
            </a:srgbClr>
          </a:solidFill>
          <a:ln/>
        </p:spPr>
      </p:sp>
      <p:sp>
        <p:nvSpPr>
          <p:cNvPr id="10" name="Shape 8"/>
          <p:cNvSpPr/>
          <p:nvPr/>
        </p:nvSpPr>
        <p:spPr>
          <a:xfrm>
            <a:off x="2743200" y="0"/>
            <a:ext cx="2743" cy="5143500"/>
          </a:xfrm>
          <a:prstGeom prst="rect">
            <a:avLst/>
          </a:prstGeom>
          <a:solidFill>
            <a:srgbClr val="1E2A3A">
              <a:alpha val="20000"/>
            </a:srgbClr>
          </a:solidFill>
          <a:ln/>
        </p:spPr>
      </p:sp>
      <p:sp>
        <p:nvSpPr>
          <p:cNvPr id="11" name="Shape 9"/>
          <p:cNvSpPr/>
          <p:nvPr/>
        </p:nvSpPr>
        <p:spPr>
          <a:xfrm>
            <a:off x="3657600" y="0"/>
            <a:ext cx="2743" cy="5143500"/>
          </a:xfrm>
          <a:prstGeom prst="rect">
            <a:avLst/>
          </a:prstGeom>
          <a:solidFill>
            <a:srgbClr val="1E2A3A">
              <a:alpha val="20000"/>
            </a:srgbClr>
          </a:solidFill>
          <a:ln/>
        </p:spPr>
      </p:sp>
      <p:sp>
        <p:nvSpPr>
          <p:cNvPr id="12" name="Shape 10"/>
          <p:cNvSpPr/>
          <p:nvPr/>
        </p:nvSpPr>
        <p:spPr>
          <a:xfrm>
            <a:off x="4572000" y="0"/>
            <a:ext cx="2743" cy="5143500"/>
          </a:xfrm>
          <a:prstGeom prst="rect">
            <a:avLst/>
          </a:prstGeom>
          <a:solidFill>
            <a:srgbClr val="1E2A3A">
              <a:alpha val="20000"/>
            </a:srgbClr>
          </a:solidFill>
          <a:ln/>
        </p:spPr>
      </p:sp>
      <p:sp>
        <p:nvSpPr>
          <p:cNvPr id="13" name="Shape 11"/>
          <p:cNvSpPr/>
          <p:nvPr/>
        </p:nvSpPr>
        <p:spPr>
          <a:xfrm>
            <a:off x="5486400" y="0"/>
            <a:ext cx="2743" cy="5143500"/>
          </a:xfrm>
          <a:prstGeom prst="rect">
            <a:avLst/>
          </a:prstGeom>
          <a:solidFill>
            <a:srgbClr val="1E2A3A">
              <a:alpha val="20000"/>
            </a:srgbClr>
          </a:solidFill>
          <a:ln/>
        </p:spPr>
      </p:sp>
      <p:sp>
        <p:nvSpPr>
          <p:cNvPr id="14" name="Shape 12"/>
          <p:cNvSpPr/>
          <p:nvPr/>
        </p:nvSpPr>
        <p:spPr>
          <a:xfrm>
            <a:off x="6400800" y="0"/>
            <a:ext cx="2743" cy="5143500"/>
          </a:xfrm>
          <a:prstGeom prst="rect">
            <a:avLst/>
          </a:prstGeom>
          <a:solidFill>
            <a:srgbClr val="1E2A3A">
              <a:alpha val="20000"/>
            </a:srgbClr>
          </a:solidFill>
          <a:ln/>
        </p:spPr>
      </p:sp>
      <p:sp>
        <p:nvSpPr>
          <p:cNvPr id="15" name="Shape 13"/>
          <p:cNvSpPr/>
          <p:nvPr/>
        </p:nvSpPr>
        <p:spPr>
          <a:xfrm>
            <a:off x="7315200" y="0"/>
            <a:ext cx="2743" cy="5143500"/>
          </a:xfrm>
          <a:prstGeom prst="rect">
            <a:avLst/>
          </a:prstGeom>
          <a:solidFill>
            <a:srgbClr val="1E2A3A">
              <a:alpha val="20000"/>
            </a:srgbClr>
          </a:solidFill>
          <a:ln/>
        </p:spPr>
      </p:sp>
      <p:sp>
        <p:nvSpPr>
          <p:cNvPr id="16" name="Shape 14"/>
          <p:cNvSpPr/>
          <p:nvPr/>
        </p:nvSpPr>
        <p:spPr>
          <a:xfrm>
            <a:off x="8229600" y="0"/>
            <a:ext cx="2743" cy="5143500"/>
          </a:xfrm>
          <a:prstGeom prst="rect">
            <a:avLst/>
          </a:prstGeom>
          <a:solidFill>
            <a:srgbClr val="1E2A3A">
              <a:alpha val="20000"/>
            </a:srgbClr>
          </a:solidFill>
          <a:ln/>
        </p:spPr>
      </p:sp>
      <p:sp>
        <p:nvSpPr>
          <p:cNvPr id="17" name="Text 15"/>
          <p:cNvSpPr/>
          <p:nvPr/>
        </p:nvSpPr>
        <p:spPr>
          <a:xfrm>
            <a:off x="640080" y="182880"/>
            <a:ext cx="7863840" cy="502920"/>
          </a:xfrm>
          <a:prstGeom prst="rect">
            <a:avLst/>
          </a:prstGeom>
          <a:noFill/>
          <a:ln/>
        </p:spPr>
        <p:txBody>
          <a:bodyPr wrap="square" lIns="0" tIns="0" rIns="0" bIns="0" rtlCol="0" anchor="ctr"/>
          <a:lstStyle/>
          <a:p>
            <a:pPr indent="0" marL="0">
              <a:buNone/>
            </a:pPr>
            <a:r>
              <a:rPr lang="en-US" sz="2200" b="1" spc="300" kern="0" dirty="0">
                <a:solidFill>
                  <a:srgbClr val="00F0FF"/>
                </a:solidFill>
                <a:latin typeface="Impact" pitchFamily="34" charset="0"/>
                <a:ea typeface="Impact" pitchFamily="34" charset="-122"/>
                <a:cs typeface="Impact" pitchFamily="34" charset="-120"/>
              </a:rPr>
              <a:t>EJEMPLO: DE NUEVO A PRO EN 15 EVENTOS</a:t>
            </a:r>
            <a:endParaRPr lang="en-US" sz="2200" dirty="0"/>
          </a:p>
        </p:txBody>
      </p:sp>
      <p:sp>
        <p:nvSpPr>
          <p:cNvPr id="18" name="Shape 16"/>
          <p:cNvSpPr/>
          <p:nvPr/>
        </p:nvSpPr>
        <p:spPr>
          <a:xfrm>
            <a:off x="640080" y="713232"/>
            <a:ext cx="2286000" cy="22860"/>
          </a:xfrm>
          <a:prstGeom prst="rect">
            <a:avLst/>
          </a:prstGeom>
          <a:solidFill>
            <a:srgbClr val="FF2D6B"/>
          </a:solidFill>
          <a:ln/>
        </p:spPr>
      </p:sp>
      <p:sp>
        <p:nvSpPr>
          <p:cNvPr id="19" name="Text 17"/>
          <p:cNvSpPr/>
          <p:nvPr/>
        </p:nvSpPr>
        <p:spPr>
          <a:xfrm>
            <a:off x="640080" y="822960"/>
            <a:ext cx="7863840" cy="228600"/>
          </a:xfrm>
          <a:prstGeom prst="rect">
            <a:avLst/>
          </a:prstGeom>
          <a:noFill/>
          <a:ln/>
        </p:spPr>
        <p:txBody>
          <a:bodyPr wrap="square" lIns="0" tIns="0" rIns="0" bIns="0" rtlCol="0" anchor="ctr"/>
          <a:lstStyle/>
          <a:p>
            <a:pPr indent="0" marL="0">
              <a:buNone/>
            </a:pPr>
            <a:r>
              <a:rPr lang="en-US" sz="1000" i="1" dirty="0">
                <a:solidFill>
                  <a:srgbClr val="7A8BA8"/>
                </a:solidFill>
                <a:latin typeface="Trebuchet MS" pitchFamily="34" charset="0"/>
                <a:ea typeface="Trebuchet MS" pitchFamily="34" charset="-122"/>
                <a:cs typeface="Trebuchet MS" pitchFamily="34" charset="-120"/>
              </a:rPr>
              <a:t>Jugador 'ElFenix' — Evolucion completa de mu, sigma y PSR</a:t>
            </a:r>
            <a:endParaRPr lang="en-US" sz="1000" dirty="0"/>
          </a:p>
        </p:txBody>
      </p:sp>
      <p:graphicFrame>
        <p:nvGraphicFramePr>
          <p:cNvPr id="20" name="Chart 0" descr=""/>
          <p:cNvGraphicFramePr/>
          <p:nvPr/>
        </p:nvGraphicFramePr>
        <p:xfrm>
          <a:off x="274320" y="1005840"/>
          <a:ext cx="5943600" cy="3657600"/>
        </p:xfrm>
        <a:graphic xmlns:a="http://schemas.openxmlformats.org/drawingml/2006/main">
          <a:graphicData uri="http://schemas.openxmlformats.org/drawingml/2006/chart">
            <c:chart xmlns:c="http://schemas.openxmlformats.org/drawingml/2006/chart" r:id="rId1"/>
          </a:graphicData>
        </a:graphic>
      </p:graphicFrame>
      <p:sp>
        <p:nvSpPr>
          <p:cNvPr id="21" name="Shape 18"/>
          <p:cNvSpPr/>
          <p:nvPr/>
        </p:nvSpPr>
        <p:spPr>
          <a:xfrm>
            <a:off x="6400800" y="1005840"/>
            <a:ext cx="2468880" cy="3657600"/>
          </a:xfrm>
          <a:prstGeom prst="rect">
            <a:avLst/>
          </a:prstGeom>
          <a:solidFill>
            <a:srgbClr val="12121E"/>
          </a:solidFill>
          <a:ln w="12700">
            <a:solidFill>
              <a:srgbClr val="1E2A3A"/>
            </a:solidFill>
            <a:prstDash val="solid"/>
          </a:ln>
        </p:spPr>
      </p:sp>
      <p:sp>
        <p:nvSpPr>
          <p:cNvPr id="22" name="Shape 19"/>
          <p:cNvSpPr/>
          <p:nvPr/>
        </p:nvSpPr>
        <p:spPr>
          <a:xfrm>
            <a:off x="6400800" y="1005840"/>
            <a:ext cx="2468880" cy="22860"/>
          </a:xfrm>
          <a:prstGeom prst="rect">
            <a:avLst/>
          </a:prstGeom>
          <a:solidFill>
            <a:srgbClr val="1E2A3A"/>
          </a:solidFill>
          <a:ln/>
        </p:spPr>
      </p:sp>
      <p:sp>
        <p:nvSpPr>
          <p:cNvPr id="23" name="Text 20"/>
          <p:cNvSpPr/>
          <p:nvPr/>
        </p:nvSpPr>
        <p:spPr>
          <a:xfrm>
            <a:off x="6537960" y="1097280"/>
            <a:ext cx="2194560" cy="274320"/>
          </a:xfrm>
          <a:prstGeom prst="rect">
            <a:avLst/>
          </a:prstGeom>
          <a:noFill/>
          <a:ln/>
        </p:spPr>
        <p:txBody>
          <a:bodyPr wrap="square" lIns="0" tIns="0" rIns="0" bIns="0" rtlCol="0" anchor="ctr"/>
          <a:lstStyle/>
          <a:p>
            <a:pPr indent="0" marL="0">
              <a:buNone/>
            </a:pPr>
            <a:r>
              <a:rPr lang="en-US" sz="1000" b="1" dirty="0">
                <a:solidFill>
                  <a:srgbClr val="E8E8F0"/>
                </a:solidFill>
                <a:latin typeface="Trebuchet MS" pitchFamily="34" charset="0"/>
                <a:ea typeface="Trebuchet MS" pitchFamily="34" charset="-122"/>
                <a:cs typeface="Trebuchet MS" pitchFamily="34" charset="-120"/>
              </a:rPr>
              <a:t>Momentos clave</a:t>
            </a:r>
            <a:endParaRPr lang="en-US" sz="1000" dirty="0"/>
          </a:p>
        </p:txBody>
      </p:sp>
      <p:sp>
        <p:nvSpPr>
          <p:cNvPr id="24" name="Text 21"/>
          <p:cNvSpPr/>
          <p:nvPr/>
        </p:nvSpPr>
        <p:spPr>
          <a:xfrm>
            <a:off x="6537960" y="1463040"/>
            <a:ext cx="457200" cy="274320"/>
          </a:xfrm>
          <a:prstGeom prst="rect">
            <a:avLst/>
          </a:prstGeom>
          <a:noFill/>
          <a:ln/>
        </p:spPr>
        <p:txBody>
          <a:bodyPr wrap="square" lIns="0" tIns="0" rIns="0" bIns="0" rtlCol="0" anchor="ctr"/>
          <a:lstStyle/>
          <a:p>
            <a:pPr indent="0" marL="0">
              <a:buNone/>
            </a:pPr>
            <a:r>
              <a:rPr lang="en-US" sz="1000" b="1" dirty="0">
                <a:solidFill>
                  <a:srgbClr val="7A8BA8"/>
                </a:solidFill>
                <a:latin typeface="Consolas" pitchFamily="34" charset="0"/>
                <a:ea typeface="Consolas" pitchFamily="34" charset="-122"/>
                <a:cs typeface="Consolas" pitchFamily="34" charset="-120"/>
              </a:rPr>
              <a:t>E1</a:t>
            </a:r>
            <a:endParaRPr lang="en-US" sz="1000" dirty="0"/>
          </a:p>
        </p:txBody>
      </p:sp>
      <p:sp>
        <p:nvSpPr>
          <p:cNvPr id="25" name="Text 22"/>
          <p:cNvSpPr/>
          <p:nvPr/>
        </p:nvSpPr>
        <p:spPr>
          <a:xfrm>
            <a:off x="7040880" y="1463040"/>
            <a:ext cx="1691640" cy="502920"/>
          </a:xfrm>
          <a:prstGeom prst="rect">
            <a:avLst/>
          </a:prstGeom>
          <a:noFill/>
          <a:ln/>
        </p:spPr>
        <p:txBody>
          <a:bodyPr wrap="square" lIns="0" tIns="0" rIns="0" bIns="0" rtlCol="0" anchor="t"/>
          <a:lstStyle/>
          <a:p>
            <a:pPr indent="0" marL="0">
              <a:buNone/>
            </a:pPr>
            <a:r>
              <a:rPr lang="en-US" sz="800" dirty="0">
                <a:solidFill>
                  <a:srgbClr val="7A8BA8"/>
                </a:solidFill>
                <a:latin typeface="Trebuchet MS" pitchFamily="34" charset="0"/>
                <a:ea typeface="Trebuchet MS" pitchFamily="34" charset="-122"/>
                <a:cs typeface="Trebuchet MS" pitchFamily="34" charset="-120"/>
              </a:rPr>
              <a:t>Inicio: PSR=0.01</a:t>
            </a:r>
            <a:endParaRPr lang="en-US" sz="800" dirty="0"/>
          </a:p>
          <a:p>
            <a:pPr indent="0" marL="0">
              <a:buNone/>
            </a:pPr>
            <a:r>
              <a:rPr lang="en-US" sz="800" dirty="0">
                <a:solidFill>
                  <a:srgbClr val="7A8BA8"/>
                </a:solidFill>
                <a:latin typeface="Trebuchet MS" pitchFamily="34" charset="0"/>
                <a:ea typeface="Trebuchet MS" pitchFamily="34" charset="-122"/>
                <a:cs typeface="Trebuchet MS" pitchFamily="34" charset="-120"/>
              </a:rPr>
              <a:t>Alta incertidumbre</a:t>
            </a:r>
            <a:endParaRPr lang="en-US" sz="800" dirty="0"/>
          </a:p>
        </p:txBody>
      </p:sp>
      <p:sp>
        <p:nvSpPr>
          <p:cNvPr id="26" name="Text 23"/>
          <p:cNvSpPr/>
          <p:nvPr/>
        </p:nvSpPr>
        <p:spPr>
          <a:xfrm>
            <a:off x="6537960" y="2103120"/>
            <a:ext cx="457200" cy="274320"/>
          </a:xfrm>
          <a:prstGeom prst="rect">
            <a:avLst/>
          </a:prstGeom>
          <a:noFill/>
          <a:ln/>
        </p:spPr>
        <p:txBody>
          <a:bodyPr wrap="square" lIns="0" tIns="0" rIns="0" bIns="0" rtlCol="0" anchor="ctr"/>
          <a:lstStyle/>
          <a:p>
            <a:pPr indent="0" marL="0">
              <a:buNone/>
            </a:pPr>
            <a:r>
              <a:rPr lang="en-US" sz="1000" b="1" dirty="0">
                <a:solidFill>
                  <a:srgbClr val="00F0FF"/>
                </a:solidFill>
                <a:latin typeface="Consolas" pitchFamily="34" charset="0"/>
                <a:ea typeface="Consolas" pitchFamily="34" charset="-122"/>
                <a:cs typeface="Consolas" pitchFamily="34" charset="-120"/>
              </a:rPr>
              <a:t>E4</a:t>
            </a:r>
            <a:endParaRPr lang="en-US" sz="1000" dirty="0"/>
          </a:p>
        </p:txBody>
      </p:sp>
      <p:sp>
        <p:nvSpPr>
          <p:cNvPr id="27" name="Text 24"/>
          <p:cNvSpPr/>
          <p:nvPr/>
        </p:nvSpPr>
        <p:spPr>
          <a:xfrm>
            <a:off x="7040880" y="2103120"/>
            <a:ext cx="1691640" cy="502920"/>
          </a:xfrm>
          <a:prstGeom prst="rect">
            <a:avLst/>
          </a:prstGeom>
          <a:noFill/>
          <a:ln/>
        </p:spPr>
        <p:txBody>
          <a:bodyPr wrap="square" lIns="0" tIns="0" rIns="0" bIns="0" rtlCol="0" anchor="t"/>
          <a:lstStyle/>
          <a:p>
            <a:pPr indent="0" marL="0">
              <a:buNone/>
            </a:pPr>
            <a:r>
              <a:rPr lang="en-US" sz="800" dirty="0">
                <a:solidFill>
                  <a:srgbClr val="7A8BA8"/>
                </a:solidFill>
                <a:latin typeface="Trebuchet MS" pitchFamily="34" charset="0"/>
                <a:ea typeface="Trebuchet MS" pitchFamily="34" charset="-122"/>
                <a:cs typeface="Trebuchet MS" pitchFamily="34" charset="-120"/>
              </a:rPr>
              <a:t>Calibrando (4 min)</a:t>
            </a:r>
            <a:endParaRPr lang="en-US" sz="800" dirty="0"/>
          </a:p>
          <a:p>
            <a:pPr indent="0" marL="0">
              <a:buNone/>
            </a:pPr>
            <a:r>
              <a:rPr lang="en-US" sz="800" dirty="0">
                <a:solidFill>
                  <a:srgbClr val="7A8BA8"/>
                </a:solidFill>
                <a:latin typeface="Trebuchet MS" pitchFamily="34" charset="0"/>
                <a:ea typeface="Trebuchet MS" pitchFamily="34" charset="-122"/>
                <a:cs typeface="Trebuchet MS" pitchFamily="34" charset="-120"/>
              </a:rPr>
              <a:t>PSR=8.7, elegible</a:t>
            </a:r>
            <a:endParaRPr lang="en-US" sz="800" dirty="0"/>
          </a:p>
        </p:txBody>
      </p:sp>
      <p:sp>
        <p:nvSpPr>
          <p:cNvPr id="28" name="Text 25"/>
          <p:cNvSpPr/>
          <p:nvPr/>
        </p:nvSpPr>
        <p:spPr>
          <a:xfrm>
            <a:off x="6537960" y="2743200"/>
            <a:ext cx="457200" cy="274320"/>
          </a:xfrm>
          <a:prstGeom prst="rect">
            <a:avLst/>
          </a:prstGeom>
          <a:noFill/>
          <a:ln/>
        </p:spPr>
        <p:txBody>
          <a:bodyPr wrap="square" lIns="0" tIns="0" rIns="0" bIns="0" rtlCol="0" anchor="ctr"/>
          <a:lstStyle/>
          <a:p>
            <a:pPr indent="0" marL="0">
              <a:buNone/>
            </a:pPr>
            <a:r>
              <a:rPr lang="en-US" sz="1000" b="1" dirty="0">
                <a:solidFill>
                  <a:srgbClr val="00F0FF"/>
                </a:solidFill>
                <a:latin typeface="Consolas" pitchFamily="34" charset="0"/>
                <a:ea typeface="Consolas" pitchFamily="34" charset="-122"/>
                <a:cs typeface="Consolas" pitchFamily="34" charset="-120"/>
              </a:rPr>
              <a:t>E8</a:t>
            </a:r>
            <a:endParaRPr lang="en-US" sz="1000" dirty="0"/>
          </a:p>
        </p:txBody>
      </p:sp>
      <p:sp>
        <p:nvSpPr>
          <p:cNvPr id="29" name="Text 26"/>
          <p:cNvSpPr/>
          <p:nvPr/>
        </p:nvSpPr>
        <p:spPr>
          <a:xfrm>
            <a:off x="7040880" y="2743200"/>
            <a:ext cx="1691640" cy="502920"/>
          </a:xfrm>
          <a:prstGeom prst="rect">
            <a:avLst/>
          </a:prstGeom>
          <a:noFill/>
          <a:ln/>
        </p:spPr>
        <p:txBody>
          <a:bodyPr wrap="square" lIns="0" tIns="0" rIns="0" bIns="0" rtlCol="0" anchor="t"/>
          <a:lstStyle/>
          <a:p>
            <a:pPr indent="0" marL="0">
              <a:buNone/>
            </a:pPr>
            <a:r>
              <a:rPr lang="en-US" sz="800" dirty="0">
                <a:solidFill>
                  <a:srgbClr val="7A8BA8"/>
                </a:solidFill>
                <a:latin typeface="Trebuchet MS" pitchFamily="34" charset="0"/>
                <a:ea typeface="Trebuchet MS" pitchFamily="34" charset="-122"/>
                <a:cs typeface="Trebuchet MS" pitchFamily="34" charset="-120"/>
              </a:rPr>
              <a:t>AM tier</a:t>
            </a:r>
            <a:endParaRPr lang="en-US" sz="800" dirty="0"/>
          </a:p>
          <a:p>
            <a:pPr indent="0" marL="0">
              <a:buNone/>
            </a:pPr>
            <a:r>
              <a:rPr lang="en-US" sz="800" dirty="0">
                <a:solidFill>
                  <a:srgbClr val="7A8BA8"/>
                </a:solidFill>
                <a:latin typeface="Trebuchet MS" pitchFamily="34" charset="0"/>
                <a:ea typeface="Trebuchet MS" pitchFamily="34" charset="-122"/>
                <a:cs typeface="Trebuchet MS" pitchFamily="34" charset="-120"/>
              </a:rPr>
              <a:t>PSR=18.6, sigma baja</a:t>
            </a:r>
            <a:endParaRPr lang="en-US" sz="800" dirty="0"/>
          </a:p>
        </p:txBody>
      </p:sp>
      <p:sp>
        <p:nvSpPr>
          <p:cNvPr id="30" name="Text 27"/>
          <p:cNvSpPr/>
          <p:nvPr/>
        </p:nvSpPr>
        <p:spPr>
          <a:xfrm>
            <a:off x="6537960" y="3383280"/>
            <a:ext cx="457200" cy="274320"/>
          </a:xfrm>
          <a:prstGeom prst="rect">
            <a:avLst/>
          </a:prstGeom>
          <a:noFill/>
          <a:ln/>
        </p:spPr>
        <p:txBody>
          <a:bodyPr wrap="square" lIns="0" tIns="0" rIns="0" bIns="0" rtlCol="0" anchor="ctr"/>
          <a:lstStyle/>
          <a:p>
            <a:pPr indent="0" marL="0">
              <a:buNone/>
            </a:pPr>
            <a:r>
              <a:rPr lang="en-US" sz="1000" b="1" dirty="0">
                <a:solidFill>
                  <a:srgbClr val="FF2D6B"/>
                </a:solidFill>
                <a:latin typeface="Consolas" pitchFamily="34" charset="0"/>
                <a:ea typeface="Consolas" pitchFamily="34" charset="-122"/>
                <a:cs typeface="Consolas" pitchFamily="34" charset="-120"/>
              </a:rPr>
              <a:t>E12</a:t>
            </a:r>
            <a:endParaRPr lang="en-US" sz="1000" dirty="0"/>
          </a:p>
        </p:txBody>
      </p:sp>
      <p:sp>
        <p:nvSpPr>
          <p:cNvPr id="31" name="Text 28"/>
          <p:cNvSpPr/>
          <p:nvPr/>
        </p:nvSpPr>
        <p:spPr>
          <a:xfrm>
            <a:off x="7040880" y="3383280"/>
            <a:ext cx="1691640" cy="502920"/>
          </a:xfrm>
          <a:prstGeom prst="rect">
            <a:avLst/>
          </a:prstGeom>
          <a:noFill/>
          <a:ln/>
        </p:spPr>
        <p:txBody>
          <a:bodyPr wrap="square" lIns="0" tIns="0" rIns="0" bIns="0" rtlCol="0" anchor="t"/>
          <a:lstStyle/>
          <a:p>
            <a:pPr indent="0" marL="0">
              <a:buNone/>
            </a:pPr>
            <a:r>
              <a:rPr lang="en-US" sz="800" dirty="0">
                <a:solidFill>
                  <a:srgbClr val="7A8BA8"/>
                </a:solidFill>
                <a:latin typeface="Trebuchet MS" pitchFamily="34" charset="0"/>
                <a:ea typeface="Trebuchet MS" pitchFamily="34" charset="-122"/>
                <a:cs typeface="Trebuchet MS" pitchFamily="34" charset="-120"/>
              </a:rPr>
              <a:t>PRO tier</a:t>
            </a:r>
            <a:endParaRPr lang="en-US" sz="800" dirty="0"/>
          </a:p>
          <a:p>
            <a:pPr indent="0" marL="0">
              <a:buNone/>
            </a:pPr>
            <a:r>
              <a:rPr lang="en-US" sz="800" dirty="0">
                <a:solidFill>
                  <a:srgbClr val="7A8BA8"/>
                </a:solidFill>
                <a:latin typeface="Trebuchet MS" pitchFamily="34" charset="0"/>
                <a:ea typeface="Trebuchet MS" pitchFamily="34" charset="-122"/>
                <a:cs typeface="Trebuchet MS" pitchFamily="34" charset="-120"/>
              </a:rPr>
              <a:t>PSR=25.0, consistente</a:t>
            </a:r>
            <a:endParaRPr lang="en-US" sz="800" dirty="0"/>
          </a:p>
        </p:txBody>
      </p:sp>
      <p:sp>
        <p:nvSpPr>
          <p:cNvPr id="32" name="Text 29"/>
          <p:cNvSpPr/>
          <p:nvPr/>
        </p:nvSpPr>
        <p:spPr>
          <a:xfrm>
            <a:off x="6537960" y="4023360"/>
            <a:ext cx="457200" cy="274320"/>
          </a:xfrm>
          <a:prstGeom prst="rect">
            <a:avLst/>
          </a:prstGeom>
          <a:noFill/>
          <a:ln/>
        </p:spPr>
        <p:txBody>
          <a:bodyPr wrap="square" lIns="0" tIns="0" rIns="0" bIns="0" rtlCol="0" anchor="ctr"/>
          <a:lstStyle/>
          <a:p>
            <a:pPr indent="0" marL="0">
              <a:buNone/>
            </a:pPr>
            <a:r>
              <a:rPr lang="en-US" sz="1000" b="1" dirty="0">
                <a:solidFill>
                  <a:srgbClr val="39FF14"/>
                </a:solidFill>
                <a:latin typeface="Consolas" pitchFamily="34" charset="0"/>
                <a:ea typeface="Consolas" pitchFamily="34" charset="-122"/>
                <a:cs typeface="Consolas" pitchFamily="34" charset="-120"/>
              </a:rPr>
              <a:t>E15</a:t>
            </a:r>
            <a:endParaRPr lang="en-US" sz="1000" dirty="0"/>
          </a:p>
        </p:txBody>
      </p:sp>
      <p:sp>
        <p:nvSpPr>
          <p:cNvPr id="33" name="Text 30"/>
          <p:cNvSpPr/>
          <p:nvPr/>
        </p:nvSpPr>
        <p:spPr>
          <a:xfrm>
            <a:off x="7040880" y="4023360"/>
            <a:ext cx="1691640" cy="502920"/>
          </a:xfrm>
          <a:prstGeom prst="rect">
            <a:avLst/>
          </a:prstGeom>
          <a:noFill/>
          <a:ln/>
        </p:spPr>
        <p:txBody>
          <a:bodyPr wrap="square" lIns="0" tIns="0" rIns="0" bIns="0" rtlCol="0" anchor="t"/>
          <a:lstStyle/>
          <a:p>
            <a:pPr indent="0" marL="0">
              <a:buNone/>
            </a:pPr>
            <a:r>
              <a:rPr lang="en-US" sz="800" dirty="0">
                <a:solidFill>
                  <a:srgbClr val="7A8BA8"/>
                </a:solidFill>
                <a:latin typeface="Trebuchet MS" pitchFamily="34" charset="0"/>
                <a:ea typeface="Trebuchet MS" pitchFamily="34" charset="-122"/>
                <a:cs typeface="Trebuchet MS" pitchFamily="34" charset="-120"/>
              </a:rPr>
              <a:t>Elite</a:t>
            </a:r>
            <a:endParaRPr lang="en-US" sz="800" dirty="0"/>
          </a:p>
          <a:p>
            <a:pPr indent="0" marL="0">
              <a:buNone/>
            </a:pPr>
            <a:r>
              <a:rPr lang="en-US" sz="800" dirty="0">
                <a:solidFill>
                  <a:srgbClr val="7A8BA8"/>
                </a:solidFill>
                <a:latin typeface="Trebuchet MS" pitchFamily="34" charset="0"/>
                <a:ea typeface="Trebuchet MS" pitchFamily="34" charset="-122"/>
                <a:cs typeface="Trebuchet MS" pitchFamily="34" charset="-120"/>
              </a:rPr>
              <a:t>PSR=28.3, sigma=2.4</a:t>
            </a:r>
            <a:endParaRPr lang="en-US" sz="800" dirty="0"/>
          </a:p>
        </p:txBody>
      </p:sp>
      <p:sp>
        <p:nvSpPr>
          <p:cNvPr id="34" name="Text 31"/>
          <p:cNvSpPr/>
          <p:nvPr/>
        </p:nvSpPr>
        <p:spPr>
          <a:xfrm>
            <a:off x="457200" y="4709160"/>
            <a:ext cx="8229600" cy="274320"/>
          </a:xfrm>
          <a:prstGeom prst="rect">
            <a:avLst/>
          </a:prstGeom>
          <a:noFill/>
          <a:ln/>
        </p:spPr>
        <p:txBody>
          <a:bodyPr wrap="square" rtlCol="0" anchor="ctr"/>
          <a:lstStyle/>
          <a:p>
            <a:pPr indent="0" marL="0">
              <a:buNone/>
            </a:pPr>
            <a:r>
              <a:rPr lang="en-US" sz="700" i="1" dirty="0">
                <a:solidFill>
                  <a:srgbClr val="7A8BA8"/>
                </a:solidFill>
                <a:latin typeface="Consolas" pitchFamily="34" charset="0"/>
                <a:ea typeface="Consolas" pitchFamily="34" charset="-122"/>
                <a:cs typeface="Consolas" pitchFamily="34" charset="-120"/>
              </a:rPr>
              <a:t>Datos pedagogicos basados en docs/psr-audit/06-ejemplos-evolucion.md</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00F0FF"/>
          </a:solidFill>
          <a:ln/>
        </p:spPr>
      </p:sp>
      <p:sp>
        <p:nvSpPr>
          <p:cNvPr id="3" name="Shape 1"/>
          <p:cNvSpPr/>
          <p:nvPr/>
        </p:nvSpPr>
        <p:spPr>
          <a:xfrm>
            <a:off x="0" y="5125212"/>
            <a:ext cx="9144000" cy="18288"/>
          </a:xfrm>
          <a:prstGeom prst="rect">
            <a:avLst/>
          </a:prstGeom>
          <a:solidFill>
            <a:srgbClr val="FF2D6B"/>
          </a:solidFill>
          <a:ln/>
        </p:spPr>
      </p:sp>
      <p:sp>
        <p:nvSpPr>
          <p:cNvPr id="4" name="Shape 2"/>
          <p:cNvSpPr/>
          <p:nvPr/>
        </p:nvSpPr>
        <p:spPr>
          <a:xfrm>
            <a:off x="0" y="0"/>
            <a:ext cx="18288" cy="548640"/>
          </a:xfrm>
          <a:prstGeom prst="rect">
            <a:avLst/>
          </a:prstGeom>
          <a:solidFill>
            <a:srgbClr val="00F0FF"/>
          </a:solidFill>
          <a:ln/>
        </p:spPr>
      </p:sp>
      <p:sp>
        <p:nvSpPr>
          <p:cNvPr id="5" name="Shape 3"/>
          <p:cNvSpPr/>
          <p:nvPr/>
        </p:nvSpPr>
        <p:spPr>
          <a:xfrm>
            <a:off x="0" y="0"/>
            <a:ext cx="548640" cy="18288"/>
          </a:xfrm>
          <a:prstGeom prst="rect">
            <a:avLst/>
          </a:prstGeom>
          <a:solidFill>
            <a:srgbClr val="00F0FF"/>
          </a:solidFill>
          <a:ln/>
        </p:spPr>
      </p:sp>
      <p:sp>
        <p:nvSpPr>
          <p:cNvPr id="6" name="Shape 4"/>
          <p:cNvSpPr/>
          <p:nvPr/>
        </p:nvSpPr>
        <p:spPr>
          <a:xfrm>
            <a:off x="9125712" y="4594860"/>
            <a:ext cx="18288" cy="548640"/>
          </a:xfrm>
          <a:prstGeom prst="rect">
            <a:avLst/>
          </a:prstGeom>
          <a:solidFill>
            <a:srgbClr val="FF2D6B"/>
          </a:solidFill>
          <a:ln/>
        </p:spPr>
      </p:sp>
      <p:sp>
        <p:nvSpPr>
          <p:cNvPr id="7" name="Shape 5"/>
          <p:cNvSpPr/>
          <p:nvPr/>
        </p:nvSpPr>
        <p:spPr>
          <a:xfrm>
            <a:off x="8595360" y="5125212"/>
            <a:ext cx="548640" cy="18288"/>
          </a:xfrm>
          <a:prstGeom prst="rect">
            <a:avLst/>
          </a:prstGeom>
          <a:solidFill>
            <a:srgbClr val="FF2D6B"/>
          </a:solidFill>
          <a:ln/>
        </p:spPr>
      </p:sp>
      <p:sp>
        <p:nvSpPr>
          <p:cNvPr id="8" name="Shape 6"/>
          <p:cNvSpPr/>
          <p:nvPr/>
        </p:nvSpPr>
        <p:spPr>
          <a:xfrm>
            <a:off x="914400" y="0"/>
            <a:ext cx="2743" cy="5143500"/>
          </a:xfrm>
          <a:prstGeom prst="rect">
            <a:avLst/>
          </a:prstGeom>
          <a:solidFill>
            <a:srgbClr val="1E2A3A">
              <a:alpha val="20000"/>
            </a:srgbClr>
          </a:solidFill>
          <a:ln/>
        </p:spPr>
      </p:sp>
      <p:sp>
        <p:nvSpPr>
          <p:cNvPr id="9" name="Shape 7"/>
          <p:cNvSpPr/>
          <p:nvPr/>
        </p:nvSpPr>
        <p:spPr>
          <a:xfrm>
            <a:off x="1828800" y="0"/>
            <a:ext cx="2743" cy="5143500"/>
          </a:xfrm>
          <a:prstGeom prst="rect">
            <a:avLst/>
          </a:prstGeom>
          <a:solidFill>
            <a:srgbClr val="1E2A3A">
              <a:alpha val="20000"/>
            </a:srgbClr>
          </a:solidFill>
          <a:ln/>
        </p:spPr>
      </p:sp>
      <p:sp>
        <p:nvSpPr>
          <p:cNvPr id="10" name="Shape 8"/>
          <p:cNvSpPr/>
          <p:nvPr/>
        </p:nvSpPr>
        <p:spPr>
          <a:xfrm>
            <a:off x="2743200" y="0"/>
            <a:ext cx="2743" cy="5143500"/>
          </a:xfrm>
          <a:prstGeom prst="rect">
            <a:avLst/>
          </a:prstGeom>
          <a:solidFill>
            <a:srgbClr val="1E2A3A">
              <a:alpha val="20000"/>
            </a:srgbClr>
          </a:solidFill>
          <a:ln/>
        </p:spPr>
      </p:sp>
      <p:sp>
        <p:nvSpPr>
          <p:cNvPr id="11" name="Shape 9"/>
          <p:cNvSpPr/>
          <p:nvPr/>
        </p:nvSpPr>
        <p:spPr>
          <a:xfrm>
            <a:off x="3657600" y="0"/>
            <a:ext cx="2743" cy="5143500"/>
          </a:xfrm>
          <a:prstGeom prst="rect">
            <a:avLst/>
          </a:prstGeom>
          <a:solidFill>
            <a:srgbClr val="1E2A3A">
              <a:alpha val="20000"/>
            </a:srgbClr>
          </a:solidFill>
          <a:ln/>
        </p:spPr>
      </p:sp>
      <p:sp>
        <p:nvSpPr>
          <p:cNvPr id="12" name="Shape 10"/>
          <p:cNvSpPr/>
          <p:nvPr/>
        </p:nvSpPr>
        <p:spPr>
          <a:xfrm>
            <a:off x="4572000" y="0"/>
            <a:ext cx="2743" cy="5143500"/>
          </a:xfrm>
          <a:prstGeom prst="rect">
            <a:avLst/>
          </a:prstGeom>
          <a:solidFill>
            <a:srgbClr val="1E2A3A">
              <a:alpha val="20000"/>
            </a:srgbClr>
          </a:solidFill>
          <a:ln/>
        </p:spPr>
      </p:sp>
      <p:sp>
        <p:nvSpPr>
          <p:cNvPr id="13" name="Shape 11"/>
          <p:cNvSpPr/>
          <p:nvPr/>
        </p:nvSpPr>
        <p:spPr>
          <a:xfrm>
            <a:off x="5486400" y="0"/>
            <a:ext cx="2743" cy="5143500"/>
          </a:xfrm>
          <a:prstGeom prst="rect">
            <a:avLst/>
          </a:prstGeom>
          <a:solidFill>
            <a:srgbClr val="1E2A3A">
              <a:alpha val="20000"/>
            </a:srgbClr>
          </a:solidFill>
          <a:ln/>
        </p:spPr>
      </p:sp>
      <p:sp>
        <p:nvSpPr>
          <p:cNvPr id="14" name="Shape 12"/>
          <p:cNvSpPr/>
          <p:nvPr/>
        </p:nvSpPr>
        <p:spPr>
          <a:xfrm>
            <a:off x="6400800" y="0"/>
            <a:ext cx="2743" cy="5143500"/>
          </a:xfrm>
          <a:prstGeom prst="rect">
            <a:avLst/>
          </a:prstGeom>
          <a:solidFill>
            <a:srgbClr val="1E2A3A">
              <a:alpha val="20000"/>
            </a:srgbClr>
          </a:solidFill>
          <a:ln/>
        </p:spPr>
      </p:sp>
      <p:sp>
        <p:nvSpPr>
          <p:cNvPr id="15" name="Shape 13"/>
          <p:cNvSpPr/>
          <p:nvPr/>
        </p:nvSpPr>
        <p:spPr>
          <a:xfrm>
            <a:off x="7315200" y="0"/>
            <a:ext cx="2743" cy="5143500"/>
          </a:xfrm>
          <a:prstGeom prst="rect">
            <a:avLst/>
          </a:prstGeom>
          <a:solidFill>
            <a:srgbClr val="1E2A3A">
              <a:alpha val="20000"/>
            </a:srgbClr>
          </a:solidFill>
          <a:ln/>
        </p:spPr>
      </p:sp>
      <p:sp>
        <p:nvSpPr>
          <p:cNvPr id="16" name="Shape 14"/>
          <p:cNvSpPr/>
          <p:nvPr/>
        </p:nvSpPr>
        <p:spPr>
          <a:xfrm>
            <a:off x="8229600" y="0"/>
            <a:ext cx="2743" cy="5143500"/>
          </a:xfrm>
          <a:prstGeom prst="rect">
            <a:avLst/>
          </a:prstGeom>
          <a:solidFill>
            <a:srgbClr val="1E2A3A">
              <a:alpha val="20000"/>
            </a:srgbClr>
          </a:solidFill>
          <a:ln/>
        </p:spPr>
      </p:sp>
      <p:sp>
        <p:nvSpPr>
          <p:cNvPr id="17" name="Text 15"/>
          <p:cNvSpPr/>
          <p:nvPr/>
        </p:nvSpPr>
        <p:spPr>
          <a:xfrm>
            <a:off x="640080" y="182880"/>
            <a:ext cx="7863840" cy="502920"/>
          </a:xfrm>
          <a:prstGeom prst="rect">
            <a:avLst/>
          </a:prstGeom>
          <a:noFill/>
          <a:ln/>
        </p:spPr>
        <p:txBody>
          <a:bodyPr wrap="square" lIns="0" tIns="0" rIns="0" bIns="0" rtlCol="0" anchor="ctr"/>
          <a:lstStyle/>
          <a:p>
            <a:pPr indent="0" marL="0">
              <a:buNone/>
            </a:pPr>
            <a:r>
              <a:rPr lang="en-US" sz="2200" b="1" spc="300" kern="0" dirty="0">
                <a:solidFill>
                  <a:srgbClr val="00F0FF"/>
                </a:solidFill>
                <a:latin typeface="Impact" pitchFamily="34" charset="0"/>
                <a:ea typeface="Impact" pitchFamily="34" charset="-122"/>
                <a:cs typeface="Impact" pitchFamily="34" charset="-120"/>
              </a:rPr>
              <a:t>COMPARACION: FRAGGER VS ANCHOR</a:t>
            </a:r>
            <a:endParaRPr lang="en-US" sz="2200" dirty="0"/>
          </a:p>
        </p:txBody>
      </p:sp>
      <p:sp>
        <p:nvSpPr>
          <p:cNvPr id="18" name="Shape 16"/>
          <p:cNvSpPr/>
          <p:nvPr/>
        </p:nvSpPr>
        <p:spPr>
          <a:xfrm>
            <a:off x="640080" y="713232"/>
            <a:ext cx="2286000" cy="22860"/>
          </a:xfrm>
          <a:prstGeom prst="rect">
            <a:avLst/>
          </a:prstGeom>
          <a:solidFill>
            <a:srgbClr val="FF2D6B"/>
          </a:solidFill>
          <a:ln/>
        </p:spPr>
      </p:sp>
      <p:sp>
        <p:nvSpPr>
          <p:cNvPr id="19" name="Text 17"/>
          <p:cNvSpPr/>
          <p:nvPr/>
        </p:nvSpPr>
        <p:spPr>
          <a:xfrm>
            <a:off x="640080" y="822960"/>
            <a:ext cx="7863840" cy="228600"/>
          </a:xfrm>
          <a:prstGeom prst="rect">
            <a:avLst/>
          </a:prstGeom>
          <a:noFill/>
          <a:ln/>
        </p:spPr>
        <p:txBody>
          <a:bodyPr wrap="square" lIns="0" tIns="0" rIns="0" bIns="0" rtlCol="0" anchor="ctr"/>
          <a:lstStyle/>
          <a:p>
            <a:pPr indent="0" marL="0">
              <a:buNone/>
            </a:pPr>
            <a:r>
              <a:rPr lang="en-US" sz="1000" i="1" dirty="0">
                <a:solidFill>
                  <a:srgbClr val="7A8BA8"/>
                </a:solidFill>
                <a:latin typeface="Trebuchet MS" pitchFamily="34" charset="0"/>
                <a:ea typeface="Trebuchet MS" pitchFamily="34" charset="-122"/>
                <a:cs typeface="Trebuchet MS" pitchFamily="34" charset="-120"/>
              </a:rPr>
              <a:t>Mismo numero de eventos, estilos opuestos, PSR justo para ambos</a:t>
            </a:r>
            <a:endParaRPr lang="en-US" sz="1000" dirty="0"/>
          </a:p>
        </p:txBody>
      </p:sp>
      <p:graphicFrame>
        <p:nvGraphicFramePr>
          <p:cNvPr id="20" name="Chart 0" descr=""/>
          <p:cNvGraphicFramePr/>
          <p:nvPr/>
        </p:nvGraphicFramePr>
        <p:xfrm>
          <a:off x="274320" y="1280160"/>
          <a:ext cx="411480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21" name="Chart 1" descr=""/>
          <p:cNvGraphicFramePr/>
          <p:nvPr/>
        </p:nvGraphicFramePr>
        <p:xfrm>
          <a:off x="4754880" y="1280160"/>
          <a:ext cx="4114800" cy="2286000"/>
        </p:xfrm>
        <a:graphic xmlns:a="http://schemas.openxmlformats.org/drawingml/2006/main">
          <a:graphicData uri="http://schemas.openxmlformats.org/drawingml/2006/chart">
            <c:chart xmlns:c="http://schemas.openxmlformats.org/drawingml/2006/chart" r:id="rId2"/>
          </a:graphicData>
        </a:graphic>
      </p:graphicFrame>
      <p:sp>
        <p:nvSpPr>
          <p:cNvPr id="22" name="Shape 18"/>
          <p:cNvSpPr/>
          <p:nvPr/>
        </p:nvSpPr>
        <p:spPr>
          <a:xfrm>
            <a:off x="457200" y="3749040"/>
            <a:ext cx="3931920" cy="1005840"/>
          </a:xfrm>
          <a:prstGeom prst="rect">
            <a:avLst/>
          </a:prstGeom>
          <a:solidFill>
            <a:srgbClr val="12121E"/>
          </a:solidFill>
          <a:ln w="12700">
            <a:solidFill>
              <a:srgbClr val="FF2D6B"/>
            </a:solidFill>
            <a:prstDash val="solid"/>
          </a:ln>
        </p:spPr>
      </p:sp>
      <p:sp>
        <p:nvSpPr>
          <p:cNvPr id="23" name="Shape 19"/>
          <p:cNvSpPr/>
          <p:nvPr/>
        </p:nvSpPr>
        <p:spPr>
          <a:xfrm>
            <a:off x="457200" y="3749040"/>
            <a:ext cx="3931920" cy="22860"/>
          </a:xfrm>
          <a:prstGeom prst="rect">
            <a:avLst/>
          </a:prstGeom>
          <a:solidFill>
            <a:srgbClr val="FF2D6B"/>
          </a:solidFill>
          <a:ln/>
        </p:spPr>
      </p:sp>
      <p:sp>
        <p:nvSpPr>
          <p:cNvPr id="24" name="Text 20"/>
          <p:cNvSpPr/>
          <p:nvPr/>
        </p:nvSpPr>
        <p:spPr>
          <a:xfrm>
            <a:off x="594360" y="3840480"/>
            <a:ext cx="3566160" cy="822960"/>
          </a:xfrm>
          <a:prstGeom prst="rect">
            <a:avLst/>
          </a:prstGeom>
          <a:noFill/>
          <a:ln/>
        </p:spPr>
        <p:txBody>
          <a:bodyPr wrap="square" rtlCol="0" anchor="t"/>
          <a:lstStyle/>
          <a:p>
            <a:pPr indent="0" marL="0">
              <a:buNone/>
            </a:pPr>
            <a:r>
              <a:rPr lang="en-US" sz="1100" b="1" dirty="0">
                <a:solidFill>
                  <a:srgbClr val="FF2D6B"/>
                </a:solidFill>
                <a:latin typeface="Trebuchet MS" pitchFamily="34" charset="0"/>
                <a:ea typeface="Trebuchet MS" pitchFamily="34" charset="-122"/>
                <a:cs typeface="Trebuchet MS" pitchFamily="34" charset="-120"/>
              </a:rPr>
              <a:t>xDarkSniper (Fragger)</a:t>
            </a:r>
            <a:endParaRPr lang="en-US" sz="1100" dirty="0"/>
          </a:p>
          <a:p>
            <a:pPr indent="0" marL="0">
              <a:buNone/>
            </a:pPr>
            <a:r>
              <a:rPr lang="en-US" sz="1000" dirty="0">
                <a:solidFill>
                  <a:srgbClr val="E8E8F0"/>
                </a:solidFill>
                <a:latin typeface="Consolas" pitchFamily="34" charset="0"/>
                <a:ea typeface="Consolas" pitchFamily="34" charset="-122"/>
                <a:cs typeface="Consolas" pitchFamily="34" charset="-120"/>
              </a:rPr>
              <a:t>mu=29.5  sigma=5.1  PSR=14.2</a:t>
            </a:r>
            <a:endParaRPr lang="en-US" sz="1100" dirty="0"/>
          </a:p>
          <a:p>
            <a:pPr indent="0" marL="0">
              <a:buNone/>
            </a:pPr>
            <a:r>
              <a:rPr lang="en-US" sz="900" i="1" dirty="0">
                <a:solidFill>
                  <a:srgbClr val="7A8BA8"/>
                </a:solidFill>
                <a:latin typeface="Trebuchet MS" pitchFamily="34" charset="0"/>
                <a:ea typeface="Trebuchet MS" pitchFamily="34" charset="-122"/>
                <a:cs typeface="Trebuchet MS" pitchFamily="34" charset="-120"/>
              </a:rPr>
              <a:t>Alta varianza → sigma no baja rapido</a:t>
            </a:r>
            <a:endParaRPr lang="en-US" sz="1100" dirty="0"/>
          </a:p>
        </p:txBody>
      </p:sp>
      <p:sp>
        <p:nvSpPr>
          <p:cNvPr id="25" name="Shape 21"/>
          <p:cNvSpPr/>
          <p:nvPr/>
        </p:nvSpPr>
        <p:spPr>
          <a:xfrm>
            <a:off x="4754880" y="3749040"/>
            <a:ext cx="3931920" cy="1005840"/>
          </a:xfrm>
          <a:prstGeom prst="rect">
            <a:avLst/>
          </a:prstGeom>
          <a:solidFill>
            <a:srgbClr val="12121E"/>
          </a:solidFill>
          <a:ln w="12700">
            <a:solidFill>
              <a:srgbClr val="00F0FF"/>
            </a:solidFill>
            <a:prstDash val="solid"/>
          </a:ln>
        </p:spPr>
      </p:sp>
      <p:sp>
        <p:nvSpPr>
          <p:cNvPr id="26" name="Shape 22"/>
          <p:cNvSpPr/>
          <p:nvPr/>
        </p:nvSpPr>
        <p:spPr>
          <a:xfrm>
            <a:off x="4754880" y="3749040"/>
            <a:ext cx="3931920" cy="22860"/>
          </a:xfrm>
          <a:prstGeom prst="rect">
            <a:avLst/>
          </a:prstGeom>
          <a:solidFill>
            <a:srgbClr val="00F0FF"/>
          </a:solidFill>
          <a:ln/>
        </p:spPr>
      </p:sp>
      <p:sp>
        <p:nvSpPr>
          <p:cNvPr id="27" name="Text 23"/>
          <p:cNvSpPr/>
          <p:nvPr/>
        </p:nvSpPr>
        <p:spPr>
          <a:xfrm>
            <a:off x="4892040" y="3840480"/>
            <a:ext cx="3566160" cy="822960"/>
          </a:xfrm>
          <a:prstGeom prst="rect">
            <a:avLst/>
          </a:prstGeom>
          <a:noFill/>
          <a:ln/>
        </p:spPr>
        <p:txBody>
          <a:bodyPr wrap="square" rtlCol="0" anchor="t"/>
          <a:lstStyle/>
          <a:p>
            <a:pPr indent="0" marL="0">
              <a:buNone/>
            </a:pPr>
            <a:r>
              <a:rPr lang="en-US" sz="1100" b="1" dirty="0">
                <a:solidFill>
                  <a:srgbClr val="00F0FF"/>
                </a:solidFill>
                <a:latin typeface="Trebuchet MS" pitchFamily="34" charset="0"/>
                <a:ea typeface="Trebuchet MS" pitchFamily="34" charset="-122"/>
                <a:cs typeface="Trebuchet MS" pitchFamily="34" charset="-120"/>
              </a:rPr>
              <a:t>SteadyHand (Anchor)</a:t>
            </a:r>
            <a:endParaRPr lang="en-US" sz="1100" dirty="0"/>
          </a:p>
          <a:p>
            <a:pPr indent="0" marL="0">
              <a:buNone/>
            </a:pPr>
            <a:r>
              <a:rPr lang="en-US" sz="1000" dirty="0">
                <a:solidFill>
                  <a:srgbClr val="E8E8F0"/>
                </a:solidFill>
                <a:latin typeface="Consolas" pitchFamily="34" charset="0"/>
                <a:ea typeface="Consolas" pitchFamily="34" charset="-122"/>
                <a:cs typeface="Consolas" pitchFamily="34" charset="-120"/>
              </a:rPr>
              <a:t>mu=28.0  sigma=3.2  PSR=18.4</a:t>
            </a:r>
            <a:endParaRPr lang="en-US" sz="1100" dirty="0"/>
          </a:p>
          <a:p>
            <a:pPr indent="0" marL="0">
              <a:buNone/>
            </a:pPr>
            <a:r>
              <a:rPr lang="en-US" sz="900" i="1" dirty="0">
                <a:solidFill>
                  <a:srgbClr val="7A8BA8"/>
                </a:solidFill>
                <a:latin typeface="Trebuchet MS" pitchFamily="34" charset="0"/>
                <a:ea typeface="Trebuchet MS" pitchFamily="34" charset="-122"/>
                <a:cs typeface="Trebuchet MS" pitchFamily="34" charset="-120"/>
              </a:rPr>
              <a:t>Consistente → sigma baja rapido → PSR mas alto</a:t>
            </a:r>
            <a:endParaRPr lang="en-US" sz="1100" dirty="0"/>
          </a:p>
        </p:txBody>
      </p:sp>
      <p:sp>
        <p:nvSpPr>
          <p:cNvPr id="28" name="Text 24"/>
          <p:cNvSpPr/>
          <p:nvPr/>
        </p:nvSpPr>
        <p:spPr>
          <a:xfrm>
            <a:off x="457200" y="4709160"/>
            <a:ext cx="8229600" cy="274320"/>
          </a:xfrm>
          <a:prstGeom prst="rect">
            <a:avLst/>
          </a:prstGeom>
          <a:noFill/>
          <a:ln/>
        </p:spPr>
        <p:txBody>
          <a:bodyPr wrap="square" rtlCol="0" anchor="ctr"/>
          <a:lstStyle/>
          <a:p>
            <a:pPr indent="0" marL="0">
              <a:buNone/>
            </a:pPr>
            <a:r>
              <a:rPr lang="en-US" sz="700" i="1" dirty="0">
                <a:solidFill>
                  <a:srgbClr val="7A8BA8"/>
                </a:solidFill>
                <a:latin typeface="Consolas" pitchFamily="34" charset="0"/>
                <a:ea typeface="Consolas" pitchFamily="34" charset="-122"/>
                <a:cs typeface="Consolas" pitchFamily="34" charset="-120"/>
              </a:rPr>
              <a:t>Datos pedagogicos — docs/psr-audit/06-ejemplos-evolucion.md, 07-ventajas-limitaciones.md</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00F0FF"/>
          </a:solidFill>
          <a:ln/>
        </p:spPr>
      </p:sp>
      <p:sp>
        <p:nvSpPr>
          <p:cNvPr id="3" name="Shape 1"/>
          <p:cNvSpPr/>
          <p:nvPr/>
        </p:nvSpPr>
        <p:spPr>
          <a:xfrm>
            <a:off x="0" y="5125212"/>
            <a:ext cx="9144000" cy="18288"/>
          </a:xfrm>
          <a:prstGeom prst="rect">
            <a:avLst/>
          </a:prstGeom>
          <a:solidFill>
            <a:srgbClr val="FF2D6B"/>
          </a:solidFill>
          <a:ln/>
        </p:spPr>
      </p:sp>
      <p:sp>
        <p:nvSpPr>
          <p:cNvPr id="4" name="Shape 2"/>
          <p:cNvSpPr/>
          <p:nvPr/>
        </p:nvSpPr>
        <p:spPr>
          <a:xfrm>
            <a:off x="0" y="0"/>
            <a:ext cx="18288" cy="548640"/>
          </a:xfrm>
          <a:prstGeom prst="rect">
            <a:avLst/>
          </a:prstGeom>
          <a:solidFill>
            <a:srgbClr val="00F0FF"/>
          </a:solidFill>
          <a:ln/>
        </p:spPr>
      </p:sp>
      <p:sp>
        <p:nvSpPr>
          <p:cNvPr id="5" name="Shape 3"/>
          <p:cNvSpPr/>
          <p:nvPr/>
        </p:nvSpPr>
        <p:spPr>
          <a:xfrm>
            <a:off x="0" y="0"/>
            <a:ext cx="548640" cy="18288"/>
          </a:xfrm>
          <a:prstGeom prst="rect">
            <a:avLst/>
          </a:prstGeom>
          <a:solidFill>
            <a:srgbClr val="00F0FF"/>
          </a:solidFill>
          <a:ln/>
        </p:spPr>
      </p:sp>
      <p:sp>
        <p:nvSpPr>
          <p:cNvPr id="6" name="Shape 4"/>
          <p:cNvSpPr/>
          <p:nvPr/>
        </p:nvSpPr>
        <p:spPr>
          <a:xfrm>
            <a:off x="9125712" y="4594860"/>
            <a:ext cx="18288" cy="548640"/>
          </a:xfrm>
          <a:prstGeom prst="rect">
            <a:avLst/>
          </a:prstGeom>
          <a:solidFill>
            <a:srgbClr val="FF2D6B"/>
          </a:solidFill>
          <a:ln/>
        </p:spPr>
      </p:sp>
      <p:sp>
        <p:nvSpPr>
          <p:cNvPr id="7" name="Shape 5"/>
          <p:cNvSpPr/>
          <p:nvPr/>
        </p:nvSpPr>
        <p:spPr>
          <a:xfrm>
            <a:off x="8595360" y="5125212"/>
            <a:ext cx="548640" cy="18288"/>
          </a:xfrm>
          <a:prstGeom prst="rect">
            <a:avLst/>
          </a:prstGeom>
          <a:solidFill>
            <a:srgbClr val="FF2D6B"/>
          </a:solidFill>
          <a:ln/>
        </p:spPr>
      </p:sp>
      <p:sp>
        <p:nvSpPr>
          <p:cNvPr id="8" name="Shape 6"/>
          <p:cNvSpPr/>
          <p:nvPr/>
        </p:nvSpPr>
        <p:spPr>
          <a:xfrm>
            <a:off x="914400" y="0"/>
            <a:ext cx="2743" cy="5143500"/>
          </a:xfrm>
          <a:prstGeom prst="rect">
            <a:avLst/>
          </a:prstGeom>
          <a:solidFill>
            <a:srgbClr val="1E2A3A">
              <a:alpha val="20000"/>
            </a:srgbClr>
          </a:solidFill>
          <a:ln/>
        </p:spPr>
      </p:sp>
      <p:sp>
        <p:nvSpPr>
          <p:cNvPr id="9" name="Shape 7"/>
          <p:cNvSpPr/>
          <p:nvPr/>
        </p:nvSpPr>
        <p:spPr>
          <a:xfrm>
            <a:off x="1828800" y="0"/>
            <a:ext cx="2743" cy="5143500"/>
          </a:xfrm>
          <a:prstGeom prst="rect">
            <a:avLst/>
          </a:prstGeom>
          <a:solidFill>
            <a:srgbClr val="1E2A3A">
              <a:alpha val="20000"/>
            </a:srgbClr>
          </a:solidFill>
          <a:ln/>
        </p:spPr>
      </p:sp>
      <p:sp>
        <p:nvSpPr>
          <p:cNvPr id="10" name="Shape 8"/>
          <p:cNvSpPr/>
          <p:nvPr/>
        </p:nvSpPr>
        <p:spPr>
          <a:xfrm>
            <a:off x="2743200" y="0"/>
            <a:ext cx="2743" cy="5143500"/>
          </a:xfrm>
          <a:prstGeom prst="rect">
            <a:avLst/>
          </a:prstGeom>
          <a:solidFill>
            <a:srgbClr val="1E2A3A">
              <a:alpha val="20000"/>
            </a:srgbClr>
          </a:solidFill>
          <a:ln/>
        </p:spPr>
      </p:sp>
      <p:sp>
        <p:nvSpPr>
          <p:cNvPr id="11" name="Shape 9"/>
          <p:cNvSpPr/>
          <p:nvPr/>
        </p:nvSpPr>
        <p:spPr>
          <a:xfrm>
            <a:off x="3657600" y="0"/>
            <a:ext cx="2743" cy="5143500"/>
          </a:xfrm>
          <a:prstGeom prst="rect">
            <a:avLst/>
          </a:prstGeom>
          <a:solidFill>
            <a:srgbClr val="1E2A3A">
              <a:alpha val="20000"/>
            </a:srgbClr>
          </a:solidFill>
          <a:ln/>
        </p:spPr>
      </p:sp>
      <p:sp>
        <p:nvSpPr>
          <p:cNvPr id="12" name="Shape 10"/>
          <p:cNvSpPr/>
          <p:nvPr/>
        </p:nvSpPr>
        <p:spPr>
          <a:xfrm>
            <a:off x="4572000" y="0"/>
            <a:ext cx="2743" cy="5143500"/>
          </a:xfrm>
          <a:prstGeom prst="rect">
            <a:avLst/>
          </a:prstGeom>
          <a:solidFill>
            <a:srgbClr val="1E2A3A">
              <a:alpha val="20000"/>
            </a:srgbClr>
          </a:solidFill>
          <a:ln/>
        </p:spPr>
      </p:sp>
      <p:sp>
        <p:nvSpPr>
          <p:cNvPr id="13" name="Shape 11"/>
          <p:cNvSpPr/>
          <p:nvPr/>
        </p:nvSpPr>
        <p:spPr>
          <a:xfrm>
            <a:off x="5486400" y="0"/>
            <a:ext cx="2743" cy="5143500"/>
          </a:xfrm>
          <a:prstGeom prst="rect">
            <a:avLst/>
          </a:prstGeom>
          <a:solidFill>
            <a:srgbClr val="1E2A3A">
              <a:alpha val="20000"/>
            </a:srgbClr>
          </a:solidFill>
          <a:ln/>
        </p:spPr>
      </p:sp>
      <p:sp>
        <p:nvSpPr>
          <p:cNvPr id="14" name="Shape 12"/>
          <p:cNvSpPr/>
          <p:nvPr/>
        </p:nvSpPr>
        <p:spPr>
          <a:xfrm>
            <a:off x="6400800" y="0"/>
            <a:ext cx="2743" cy="5143500"/>
          </a:xfrm>
          <a:prstGeom prst="rect">
            <a:avLst/>
          </a:prstGeom>
          <a:solidFill>
            <a:srgbClr val="1E2A3A">
              <a:alpha val="20000"/>
            </a:srgbClr>
          </a:solidFill>
          <a:ln/>
        </p:spPr>
      </p:sp>
      <p:sp>
        <p:nvSpPr>
          <p:cNvPr id="15" name="Shape 13"/>
          <p:cNvSpPr/>
          <p:nvPr/>
        </p:nvSpPr>
        <p:spPr>
          <a:xfrm>
            <a:off x="7315200" y="0"/>
            <a:ext cx="2743" cy="5143500"/>
          </a:xfrm>
          <a:prstGeom prst="rect">
            <a:avLst/>
          </a:prstGeom>
          <a:solidFill>
            <a:srgbClr val="1E2A3A">
              <a:alpha val="20000"/>
            </a:srgbClr>
          </a:solidFill>
          <a:ln/>
        </p:spPr>
      </p:sp>
      <p:sp>
        <p:nvSpPr>
          <p:cNvPr id="16" name="Shape 14"/>
          <p:cNvSpPr/>
          <p:nvPr/>
        </p:nvSpPr>
        <p:spPr>
          <a:xfrm>
            <a:off x="8229600" y="0"/>
            <a:ext cx="2743" cy="5143500"/>
          </a:xfrm>
          <a:prstGeom prst="rect">
            <a:avLst/>
          </a:prstGeom>
          <a:solidFill>
            <a:srgbClr val="1E2A3A">
              <a:alpha val="20000"/>
            </a:srgbClr>
          </a:solidFill>
          <a:ln/>
        </p:spPr>
      </p:sp>
      <p:sp>
        <p:nvSpPr>
          <p:cNvPr id="17" name="Text 15"/>
          <p:cNvSpPr/>
          <p:nvPr/>
        </p:nvSpPr>
        <p:spPr>
          <a:xfrm>
            <a:off x="640080" y="182880"/>
            <a:ext cx="7863840" cy="502920"/>
          </a:xfrm>
          <a:prstGeom prst="rect">
            <a:avLst/>
          </a:prstGeom>
          <a:noFill/>
          <a:ln/>
        </p:spPr>
        <p:txBody>
          <a:bodyPr wrap="square" lIns="0" tIns="0" rIns="0" bIns="0" rtlCol="0" anchor="ctr"/>
          <a:lstStyle/>
          <a:p>
            <a:pPr indent="0" marL="0">
              <a:buNone/>
            </a:pPr>
            <a:r>
              <a:rPr lang="en-US" sz="2200" b="1" spc="300" kern="0" dirty="0">
                <a:solidFill>
                  <a:srgbClr val="00F0FF"/>
                </a:solidFill>
                <a:latin typeface="Impact" pitchFamily="34" charset="0"/>
                <a:ea typeface="Impact" pitchFamily="34" charset="-122"/>
                <a:cs typeface="Impact" pitchFamily="34" charset="-120"/>
              </a:rPr>
              <a:t>EL PODER DE SIGMA: POR QUE LA INCERTIDUMBRE IMPORTA</a:t>
            </a:r>
            <a:endParaRPr lang="en-US" sz="2200" dirty="0"/>
          </a:p>
        </p:txBody>
      </p:sp>
      <p:sp>
        <p:nvSpPr>
          <p:cNvPr id="18" name="Shape 16"/>
          <p:cNvSpPr/>
          <p:nvPr/>
        </p:nvSpPr>
        <p:spPr>
          <a:xfrm>
            <a:off x="640080" y="713232"/>
            <a:ext cx="2286000" cy="22860"/>
          </a:xfrm>
          <a:prstGeom prst="rect">
            <a:avLst/>
          </a:prstGeom>
          <a:solidFill>
            <a:srgbClr val="FF2D6B"/>
          </a:solidFill>
          <a:ln/>
        </p:spPr>
      </p:sp>
      <p:sp>
        <p:nvSpPr>
          <p:cNvPr id="19" name="Shape 17"/>
          <p:cNvSpPr/>
          <p:nvPr/>
        </p:nvSpPr>
        <p:spPr>
          <a:xfrm>
            <a:off x="457200" y="1051560"/>
            <a:ext cx="2651760" cy="3474720"/>
          </a:xfrm>
          <a:prstGeom prst="rect">
            <a:avLst/>
          </a:prstGeom>
          <a:solidFill>
            <a:srgbClr val="12121E"/>
          </a:solidFill>
          <a:ln w="12700">
            <a:solidFill>
              <a:srgbClr val="7A8BA8"/>
            </a:solidFill>
            <a:prstDash val="solid"/>
          </a:ln>
        </p:spPr>
      </p:sp>
      <p:sp>
        <p:nvSpPr>
          <p:cNvPr id="20" name="Shape 18"/>
          <p:cNvSpPr/>
          <p:nvPr/>
        </p:nvSpPr>
        <p:spPr>
          <a:xfrm>
            <a:off x="457200" y="1051560"/>
            <a:ext cx="2651760" cy="22860"/>
          </a:xfrm>
          <a:prstGeom prst="rect">
            <a:avLst/>
          </a:prstGeom>
          <a:solidFill>
            <a:srgbClr val="7A8BA8"/>
          </a:solidFill>
          <a:ln/>
        </p:spPr>
      </p:sp>
      <p:sp>
        <p:nvSpPr>
          <p:cNvPr id="21" name="Shape 19"/>
          <p:cNvSpPr/>
          <p:nvPr/>
        </p:nvSpPr>
        <p:spPr>
          <a:xfrm>
            <a:off x="457200" y="1051560"/>
            <a:ext cx="2651760" cy="45720"/>
          </a:xfrm>
          <a:prstGeom prst="rect">
            <a:avLst/>
          </a:prstGeom>
          <a:solidFill>
            <a:srgbClr val="7A8BA8"/>
          </a:solidFill>
          <a:ln/>
        </p:spPr>
      </p:sp>
      <p:sp>
        <p:nvSpPr>
          <p:cNvPr id="22" name="Text 20"/>
          <p:cNvSpPr/>
          <p:nvPr/>
        </p:nvSpPr>
        <p:spPr>
          <a:xfrm>
            <a:off x="594360" y="1188720"/>
            <a:ext cx="2377440" cy="320040"/>
          </a:xfrm>
          <a:prstGeom prst="rect">
            <a:avLst/>
          </a:prstGeom>
          <a:noFill/>
          <a:ln/>
        </p:spPr>
        <p:txBody>
          <a:bodyPr wrap="square" lIns="0" tIns="0" rIns="0" bIns="0" rtlCol="0" anchor="ctr"/>
          <a:lstStyle/>
          <a:p>
            <a:pPr algn="ctr" indent="0" marL="0">
              <a:buNone/>
            </a:pPr>
            <a:r>
              <a:rPr lang="en-US" sz="1600" b="1" dirty="0">
                <a:solidFill>
                  <a:srgbClr val="E8E8F0"/>
                </a:solidFill>
                <a:latin typeface="Trebuchet MS" pitchFamily="34" charset="0"/>
                <a:ea typeface="Trebuchet MS" pitchFamily="34" charset="-122"/>
                <a:cs typeface="Trebuchet MS" pitchFamily="34" charset="-120"/>
              </a:rPr>
              <a:t>Nuevo</a:t>
            </a:r>
            <a:endParaRPr lang="en-US" sz="1600" dirty="0"/>
          </a:p>
        </p:txBody>
      </p:sp>
      <p:sp>
        <p:nvSpPr>
          <p:cNvPr id="23" name="Text 21"/>
          <p:cNvSpPr/>
          <p:nvPr/>
        </p:nvSpPr>
        <p:spPr>
          <a:xfrm>
            <a:off x="594360" y="1600200"/>
            <a:ext cx="2377440" cy="548640"/>
          </a:xfrm>
          <a:prstGeom prst="rect">
            <a:avLst/>
          </a:prstGeom>
          <a:noFill/>
          <a:ln/>
        </p:spPr>
        <p:txBody>
          <a:bodyPr wrap="square" lIns="0" tIns="0" rIns="0" bIns="0" rtlCol="0" anchor="ctr"/>
          <a:lstStyle/>
          <a:p>
            <a:pPr algn="ctr" indent="0" marL="0">
              <a:buNone/>
            </a:pPr>
            <a:r>
              <a:rPr lang="en-US" sz="3600" b="1" dirty="0">
                <a:solidFill>
                  <a:srgbClr val="7A8BA8"/>
                </a:solidFill>
                <a:latin typeface="Impact" pitchFamily="34" charset="0"/>
                <a:ea typeface="Impact" pitchFamily="34" charset="-122"/>
                <a:cs typeface="Impact" pitchFamily="34" charset="-120"/>
              </a:rPr>
              <a:t>0.0</a:t>
            </a:r>
            <a:endParaRPr lang="en-US" sz="3600" dirty="0"/>
          </a:p>
        </p:txBody>
      </p:sp>
      <p:sp>
        <p:nvSpPr>
          <p:cNvPr id="24" name="Text 22"/>
          <p:cNvSpPr/>
          <p:nvPr/>
        </p:nvSpPr>
        <p:spPr>
          <a:xfrm>
            <a:off x="594360" y="2103120"/>
            <a:ext cx="2377440" cy="228600"/>
          </a:xfrm>
          <a:prstGeom prst="rect">
            <a:avLst/>
          </a:prstGeom>
          <a:noFill/>
          <a:ln/>
        </p:spPr>
        <p:txBody>
          <a:bodyPr wrap="square" lIns="0" tIns="0" rIns="0" bIns="0" rtlCol="0" anchor="ctr"/>
          <a:lstStyle/>
          <a:p>
            <a:pPr algn="ctr" indent="0" marL="0">
              <a:buNone/>
            </a:pPr>
            <a:r>
              <a:rPr lang="en-US" sz="900" dirty="0">
                <a:solidFill>
                  <a:srgbClr val="7A8BA8"/>
                </a:solidFill>
                <a:latin typeface="Trebuchet MS" pitchFamily="34" charset="0"/>
                <a:ea typeface="Trebuchet MS" pitchFamily="34" charset="-122"/>
                <a:cs typeface="Trebuchet MS" pitchFamily="34" charset="-120"/>
              </a:rPr>
              <a:t>PSR</a:t>
            </a:r>
            <a:endParaRPr lang="en-US" sz="900" dirty="0"/>
          </a:p>
        </p:txBody>
      </p:sp>
      <p:sp>
        <p:nvSpPr>
          <p:cNvPr id="25" name="Text 23"/>
          <p:cNvSpPr/>
          <p:nvPr/>
        </p:nvSpPr>
        <p:spPr>
          <a:xfrm>
            <a:off x="594360" y="2468880"/>
            <a:ext cx="457200" cy="228600"/>
          </a:xfrm>
          <a:prstGeom prst="rect">
            <a:avLst/>
          </a:prstGeom>
          <a:noFill/>
          <a:ln/>
        </p:spPr>
        <p:txBody>
          <a:bodyPr wrap="square" lIns="0" tIns="0" rIns="0" bIns="0" rtlCol="0" anchor="ctr"/>
          <a:lstStyle/>
          <a:p>
            <a:pPr indent="0" marL="0">
              <a:buNone/>
            </a:pPr>
            <a:r>
              <a:rPr lang="en-US" sz="900" dirty="0">
                <a:solidFill>
                  <a:srgbClr val="00F0FF"/>
                </a:solidFill>
                <a:latin typeface="Consolas" pitchFamily="34" charset="0"/>
                <a:ea typeface="Consolas" pitchFamily="34" charset="-122"/>
                <a:cs typeface="Consolas" pitchFamily="34" charset="-120"/>
              </a:rPr>
              <a:t>mu</a:t>
            </a:r>
            <a:endParaRPr lang="en-US" sz="900" dirty="0"/>
          </a:p>
        </p:txBody>
      </p:sp>
      <p:sp>
        <p:nvSpPr>
          <p:cNvPr id="26" name="Shape 24"/>
          <p:cNvSpPr/>
          <p:nvPr/>
        </p:nvSpPr>
        <p:spPr>
          <a:xfrm>
            <a:off x="1005840" y="2514600"/>
            <a:ext cx="1143000" cy="137160"/>
          </a:xfrm>
          <a:prstGeom prst="rect">
            <a:avLst/>
          </a:prstGeom>
          <a:solidFill>
            <a:srgbClr val="00F0FF"/>
          </a:solidFill>
          <a:ln/>
        </p:spPr>
      </p:sp>
      <p:sp>
        <p:nvSpPr>
          <p:cNvPr id="27" name="Text 25"/>
          <p:cNvSpPr/>
          <p:nvPr/>
        </p:nvSpPr>
        <p:spPr>
          <a:xfrm>
            <a:off x="2194560" y="2468880"/>
            <a:ext cx="457200" cy="228600"/>
          </a:xfrm>
          <a:prstGeom prst="rect">
            <a:avLst/>
          </a:prstGeom>
          <a:noFill/>
          <a:ln/>
        </p:spPr>
        <p:txBody>
          <a:bodyPr wrap="square" lIns="0" tIns="0" rIns="0" bIns="0" rtlCol="0" anchor="ctr"/>
          <a:lstStyle/>
          <a:p>
            <a:pPr indent="0" marL="0">
              <a:buNone/>
            </a:pPr>
            <a:r>
              <a:rPr lang="en-US" sz="800" dirty="0">
                <a:solidFill>
                  <a:srgbClr val="E8E8F0"/>
                </a:solidFill>
                <a:latin typeface="Consolas" pitchFamily="34" charset="0"/>
                <a:ea typeface="Consolas" pitchFamily="34" charset="-122"/>
                <a:cs typeface="Consolas" pitchFamily="34" charset="-120"/>
              </a:rPr>
              <a:t>25</a:t>
            </a:r>
            <a:endParaRPr lang="en-US" sz="800" dirty="0"/>
          </a:p>
        </p:txBody>
      </p:sp>
      <p:sp>
        <p:nvSpPr>
          <p:cNvPr id="28" name="Text 26"/>
          <p:cNvSpPr/>
          <p:nvPr/>
        </p:nvSpPr>
        <p:spPr>
          <a:xfrm>
            <a:off x="594360" y="2788920"/>
            <a:ext cx="457200" cy="228600"/>
          </a:xfrm>
          <a:prstGeom prst="rect">
            <a:avLst/>
          </a:prstGeom>
          <a:noFill/>
          <a:ln/>
        </p:spPr>
        <p:txBody>
          <a:bodyPr wrap="square" lIns="0" tIns="0" rIns="0" bIns="0" rtlCol="0" anchor="ctr"/>
          <a:lstStyle/>
          <a:p>
            <a:pPr indent="0" marL="0">
              <a:buNone/>
            </a:pPr>
            <a:r>
              <a:rPr lang="en-US" sz="900" dirty="0">
                <a:solidFill>
                  <a:srgbClr val="FF6B35"/>
                </a:solidFill>
                <a:latin typeface="Consolas" pitchFamily="34" charset="0"/>
                <a:ea typeface="Consolas" pitchFamily="34" charset="-122"/>
                <a:cs typeface="Consolas" pitchFamily="34" charset="-120"/>
              </a:rPr>
              <a:t>sigma</a:t>
            </a:r>
            <a:endParaRPr lang="en-US" sz="900" dirty="0"/>
          </a:p>
        </p:txBody>
      </p:sp>
      <p:sp>
        <p:nvSpPr>
          <p:cNvPr id="29" name="Shape 27"/>
          <p:cNvSpPr/>
          <p:nvPr/>
        </p:nvSpPr>
        <p:spPr>
          <a:xfrm>
            <a:off x="1188720" y="2834640"/>
            <a:ext cx="1371051" cy="137160"/>
          </a:xfrm>
          <a:prstGeom prst="rect">
            <a:avLst/>
          </a:prstGeom>
          <a:solidFill>
            <a:srgbClr val="FF6B35"/>
          </a:solidFill>
          <a:ln/>
        </p:spPr>
      </p:sp>
      <p:sp>
        <p:nvSpPr>
          <p:cNvPr id="30" name="Text 28"/>
          <p:cNvSpPr/>
          <p:nvPr/>
        </p:nvSpPr>
        <p:spPr>
          <a:xfrm>
            <a:off x="2605491" y="2788920"/>
            <a:ext cx="457200" cy="228600"/>
          </a:xfrm>
          <a:prstGeom prst="rect">
            <a:avLst/>
          </a:prstGeom>
          <a:noFill/>
          <a:ln/>
        </p:spPr>
        <p:txBody>
          <a:bodyPr wrap="square" lIns="0" tIns="0" rIns="0" bIns="0" rtlCol="0" anchor="ctr"/>
          <a:lstStyle/>
          <a:p>
            <a:pPr indent="0" marL="0">
              <a:buNone/>
            </a:pPr>
            <a:r>
              <a:rPr lang="en-US" sz="800" dirty="0">
                <a:solidFill>
                  <a:srgbClr val="E8E8F0"/>
                </a:solidFill>
                <a:latin typeface="Consolas" pitchFamily="34" charset="0"/>
                <a:ea typeface="Consolas" pitchFamily="34" charset="-122"/>
                <a:cs typeface="Consolas" pitchFamily="34" charset="-120"/>
              </a:rPr>
              <a:t>8.3</a:t>
            </a:r>
            <a:endParaRPr lang="en-US" sz="800" dirty="0"/>
          </a:p>
        </p:txBody>
      </p:sp>
      <p:sp>
        <p:nvSpPr>
          <p:cNvPr id="31" name="Text 29"/>
          <p:cNvSpPr/>
          <p:nvPr/>
        </p:nvSpPr>
        <p:spPr>
          <a:xfrm>
            <a:off x="594360" y="3200400"/>
            <a:ext cx="2377440" cy="274320"/>
          </a:xfrm>
          <a:prstGeom prst="rect">
            <a:avLst/>
          </a:prstGeom>
          <a:noFill/>
          <a:ln/>
        </p:spPr>
        <p:txBody>
          <a:bodyPr wrap="square" lIns="0" tIns="0" rIns="0" bIns="0" rtlCol="0" anchor="ctr"/>
          <a:lstStyle/>
          <a:p>
            <a:pPr algn="ctr" indent="0" marL="0">
              <a:buNone/>
            </a:pPr>
            <a:r>
              <a:rPr lang="en-US" sz="1000" dirty="0">
                <a:solidFill>
                  <a:srgbClr val="E8E8F0"/>
                </a:solidFill>
                <a:latin typeface="Consolas" pitchFamily="34" charset="0"/>
                <a:ea typeface="Consolas" pitchFamily="34" charset="-122"/>
                <a:cs typeface="Consolas" pitchFamily="34" charset="-120"/>
              </a:rPr>
              <a:t>25 - 3x8.3 = 0.0</a:t>
            </a:r>
            <a:endParaRPr lang="en-US" sz="1000" dirty="0"/>
          </a:p>
        </p:txBody>
      </p:sp>
      <p:sp>
        <p:nvSpPr>
          <p:cNvPr id="32" name="Text 30"/>
          <p:cNvSpPr/>
          <p:nvPr/>
        </p:nvSpPr>
        <p:spPr>
          <a:xfrm>
            <a:off x="594360" y="3520440"/>
            <a:ext cx="2377440" cy="822960"/>
          </a:xfrm>
          <a:prstGeom prst="rect">
            <a:avLst/>
          </a:prstGeom>
          <a:noFill/>
          <a:ln/>
        </p:spPr>
        <p:txBody>
          <a:bodyPr wrap="square" lIns="0" tIns="0" rIns="0" bIns="0" rtlCol="0" anchor="t"/>
          <a:lstStyle/>
          <a:p>
            <a:pPr algn="ctr" indent="0" marL="0">
              <a:buNone/>
            </a:pPr>
            <a:r>
              <a:rPr lang="en-US" sz="900" dirty="0">
                <a:solidFill>
                  <a:srgbClr val="7A8BA8"/>
                </a:solidFill>
                <a:latin typeface="Trebuchet MS" pitchFamily="34" charset="0"/>
                <a:ea typeface="Trebuchet MS" pitchFamily="34" charset="-122"/>
                <a:cs typeface="Trebuchet MS" pitchFamily="34" charset="-120"/>
              </a:rPr>
              <a:t>1 partida</a:t>
            </a:r>
            <a:endParaRPr lang="en-US" sz="900" dirty="0"/>
          </a:p>
          <a:p>
            <a:pPr algn="ctr" indent="0" marL="0">
              <a:buNone/>
            </a:pPr>
            <a:r>
              <a:rPr lang="en-US" sz="900" dirty="0">
                <a:solidFill>
                  <a:srgbClr val="7A8BA8"/>
                </a:solidFill>
                <a:latin typeface="Trebuchet MS" pitchFamily="34" charset="0"/>
                <a:ea typeface="Trebuchet MS" pitchFamily="34" charset="-122"/>
                <a:cs typeface="Trebuchet MS" pitchFamily="34" charset="-120"/>
              </a:rPr>
              <a:t>No sabemos nada</a:t>
            </a:r>
            <a:endParaRPr lang="en-US" sz="900" dirty="0"/>
          </a:p>
        </p:txBody>
      </p:sp>
      <p:sp>
        <p:nvSpPr>
          <p:cNvPr id="33" name="Shape 31"/>
          <p:cNvSpPr/>
          <p:nvPr/>
        </p:nvSpPr>
        <p:spPr>
          <a:xfrm>
            <a:off x="3383280" y="1051560"/>
            <a:ext cx="2651760" cy="3474720"/>
          </a:xfrm>
          <a:prstGeom prst="rect">
            <a:avLst/>
          </a:prstGeom>
          <a:solidFill>
            <a:srgbClr val="12121E"/>
          </a:solidFill>
          <a:ln w="12700">
            <a:solidFill>
              <a:srgbClr val="FF6B35"/>
            </a:solidFill>
            <a:prstDash val="solid"/>
          </a:ln>
        </p:spPr>
      </p:sp>
      <p:sp>
        <p:nvSpPr>
          <p:cNvPr id="34" name="Shape 32"/>
          <p:cNvSpPr/>
          <p:nvPr/>
        </p:nvSpPr>
        <p:spPr>
          <a:xfrm>
            <a:off x="3383280" y="1051560"/>
            <a:ext cx="2651760" cy="22860"/>
          </a:xfrm>
          <a:prstGeom prst="rect">
            <a:avLst/>
          </a:prstGeom>
          <a:solidFill>
            <a:srgbClr val="FF6B35"/>
          </a:solidFill>
          <a:ln/>
        </p:spPr>
      </p:sp>
      <p:sp>
        <p:nvSpPr>
          <p:cNvPr id="35" name="Shape 33"/>
          <p:cNvSpPr/>
          <p:nvPr/>
        </p:nvSpPr>
        <p:spPr>
          <a:xfrm>
            <a:off x="3383280" y="1051560"/>
            <a:ext cx="2651760" cy="45720"/>
          </a:xfrm>
          <a:prstGeom prst="rect">
            <a:avLst/>
          </a:prstGeom>
          <a:solidFill>
            <a:srgbClr val="FF6B35"/>
          </a:solidFill>
          <a:ln/>
        </p:spPr>
      </p:sp>
      <p:sp>
        <p:nvSpPr>
          <p:cNvPr id="36" name="Text 34"/>
          <p:cNvSpPr/>
          <p:nvPr/>
        </p:nvSpPr>
        <p:spPr>
          <a:xfrm>
            <a:off x="3520440" y="1188720"/>
            <a:ext cx="2377440" cy="320040"/>
          </a:xfrm>
          <a:prstGeom prst="rect">
            <a:avLst/>
          </a:prstGeom>
          <a:noFill/>
          <a:ln/>
        </p:spPr>
        <p:txBody>
          <a:bodyPr wrap="square" lIns="0" tIns="0" rIns="0" bIns="0" rtlCol="0" anchor="ctr"/>
          <a:lstStyle/>
          <a:p>
            <a:pPr algn="ctr" indent="0" marL="0">
              <a:buNone/>
            </a:pPr>
            <a:r>
              <a:rPr lang="en-US" sz="1600" b="1" dirty="0">
                <a:solidFill>
                  <a:srgbClr val="E8E8F0"/>
                </a:solidFill>
                <a:latin typeface="Trebuchet MS" pitchFamily="34" charset="0"/>
                <a:ea typeface="Trebuchet MS" pitchFamily="34" charset="-122"/>
                <a:cs typeface="Trebuchet MS" pitchFamily="34" charset="-120"/>
              </a:rPr>
              <a:t>Erratico</a:t>
            </a:r>
            <a:endParaRPr lang="en-US" sz="1600" dirty="0"/>
          </a:p>
        </p:txBody>
      </p:sp>
      <p:sp>
        <p:nvSpPr>
          <p:cNvPr id="37" name="Text 35"/>
          <p:cNvSpPr/>
          <p:nvPr/>
        </p:nvSpPr>
        <p:spPr>
          <a:xfrm>
            <a:off x="3520440" y="1600200"/>
            <a:ext cx="2377440" cy="548640"/>
          </a:xfrm>
          <a:prstGeom prst="rect">
            <a:avLst/>
          </a:prstGeom>
          <a:noFill/>
          <a:ln/>
        </p:spPr>
        <p:txBody>
          <a:bodyPr wrap="square" lIns="0" tIns="0" rIns="0" bIns="0" rtlCol="0" anchor="ctr"/>
          <a:lstStyle/>
          <a:p>
            <a:pPr algn="ctr" indent="0" marL="0">
              <a:buNone/>
            </a:pPr>
            <a:r>
              <a:rPr lang="en-US" sz="3600" b="1" dirty="0">
                <a:solidFill>
                  <a:srgbClr val="FF6B35"/>
                </a:solidFill>
                <a:latin typeface="Impact" pitchFamily="34" charset="0"/>
                <a:ea typeface="Impact" pitchFamily="34" charset="-122"/>
                <a:cs typeface="Impact" pitchFamily="34" charset="-120"/>
              </a:rPr>
              <a:t>14.0</a:t>
            </a:r>
            <a:endParaRPr lang="en-US" sz="3600" dirty="0"/>
          </a:p>
        </p:txBody>
      </p:sp>
      <p:sp>
        <p:nvSpPr>
          <p:cNvPr id="38" name="Text 36"/>
          <p:cNvSpPr/>
          <p:nvPr/>
        </p:nvSpPr>
        <p:spPr>
          <a:xfrm>
            <a:off x="3520440" y="2103120"/>
            <a:ext cx="2377440" cy="228600"/>
          </a:xfrm>
          <a:prstGeom prst="rect">
            <a:avLst/>
          </a:prstGeom>
          <a:noFill/>
          <a:ln/>
        </p:spPr>
        <p:txBody>
          <a:bodyPr wrap="square" lIns="0" tIns="0" rIns="0" bIns="0" rtlCol="0" anchor="ctr"/>
          <a:lstStyle/>
          <a:p>
            <a:pPr algn="ctr" indent="0" marL="0">
              <a:buNone/>
            </a:pPr>
            <a:r>
              <a:rPr lang="en-US" sz="900" dirty="0">
                <a:solidFill>
                  <a:srgbClr val="7A8BA8"/>
                </a:solidFill>
                <a:latin typeface="Trebuchet MS" pitchFamily="34" charset="0"/>
                <a:ea typeface="Trebuchet MS" pitchFamily="34" charset="-122"/>
                <a:cs typeface="Trebuchet MS" pitchFamily="34" charset="-120"/>
              </a:rPr>
              <a:t>PSR</a:t>
            </a:r>
            <a:endParaRPr lang="en-US" sz="900" dirty="0"/>
          </a:p>
        </p:txBody>
      </p:sp>
      <p:sp>
        <p:nvSpPr>
          <p:cNvPr id="39" name="Text 37"/>
          <p:cNvSpPr/>
          <p:nvPr/>
        </p:nvSpPr>
        <p:spPr>
          <a:xfrm>
            <a:off x="3520440" y="2468880"/>
            <a:ext cx="457200" cy="228600"/>
          </a:xfrm>
          <a:prstGeom prst="rect">
            <a:avLst/>
          </a:prstGeom>
          <a:noFill/>
          <a:ln/>
        </p:spPr>
        <p:txBody>
          <a:bodyPr wrap="square" lIns="0" tIns="0" rIns="0" bIns="0" rtlCol="0" anchor="ctr"/>
          <a:lstStyle/>
          <a:p>
            <a:pPr indent="0" marL="0">
              <a:buNone/>
            </a:pPr>
            <a:r>
              <a:rPr lang="en-US" sz="900" dirty="0">
                <a:solidFill>
                  <a:srgbClr val="00F0FF"/>
                </a:solidFill>
                <a:latin typeface="Consolas" pitchFamily="34" charset="0"/>
                <a:ea typeface="Consolas" pitchFamily="34" charset="-122"/>
                <a:cs typeface="Consolas" pitchFamily="34" charset="-120"/>
              </a:rPr>
              <a:t>mu</a:t>
            </a:r>
            <a:endParaRPr lang="en-US" sz="900" dirty="0"/>
          </a:p>
        </p:txBody>
      </p:sp>
      <p:sp>
        <p:nvSpPr>
          <p:cNvPr id="40" name="Shape 38"/>
          <p:cNvSpPr/>
          <p:nvPr/>
        </p:nvSpPr>
        <p:spPr>
          <a:xfrm>
            <a:off x="3931920" y="2514600"/>
            <a:ext cx="1463040" cy="137160"/>
          </a:xfrm>
          <a:prstGeom prst="rect">
            <a:avLst/>
          </a:prstGeom>
          <a:solidFill>
            <a:srgbClr val="00F0FF"/>
          </a:solidFill>
          <a:ln/>
        </p:spPr>
      </p:sp>
      <p:sp>
        <p:nvSpPr>
          <p:cNvPr id="41" name="Text 39"/>
          <p:cNvSpPr/>
          <p:nvPr/>
        </p:nvSpPr>
        <p:spPr>
          <a:xfrm>
            <a:off x="5440680" y="2468880"/>
            <a:ext cx="457200" cy="228600"/>
          </a:xfrm>
          <a:prstGeom prst="rect">
            <a:avLst/>
          </a:prstGeom>
          <a:noFill/>
          <a:ln/>
        </p:spPr>
        <p:txBody>
          <a:bodyPr wrap="square" lIns="0" tIns="0" rIns="0" bIns="0" rtlCol="0" anchor="ctr"/>
          <a:lstStyle/>
          <a:p>
            <a:pPr indent="0" marL="0">
              <a:buNone/>
            </a:pPr>
            <a:r>
              <a:rPr lang="en-US" sz="800" dirty="0">
                <a:solidFill>
                  <a:srgbClr val="E8E8F0"/>
                </a:solidFill>
                <a:latin typeface="Consolas" pitchFamily="34" charset="0"/>
                <a:ea typeface="Consolas" pitchFamily="34" charset="-122"/>
                <a:cs typeface="Consolas" pitchFamily="34" charset="-120"/>
              </a:rPr>
              <a:t>32</a:t>
            </a:r>
            <a:endParaRPr lang="en-US" sz="800" dirty="0"/>
          </a:p>
        </p:txBody>
      </p:sp>
      <p:sp>
        <p:nvSpPr>
          <p:cNvPr id="42" name="Text 40"/>
          <p:cNvSpPr/>
          <p:nvPr/>
        </p:nvSpPr>
        <p:spPr>
          <a:xfrm>
            <a:off x="3520440" y="2788920"/>
            <a:ext cx="457200" cy="228600"/>
          </a:xfrm>
          <a:prstGeom prst="rect">
            <a:avLst/>
          </a:prstGeom>
          <a:noFill/>
          <a:ln/>
        </p:spPr>
        <p:txBody>
          <a:bodyPr wrap="square" lIns="0" tIns="0" rIns="0" bIns="0" rtlCol="0" anchor="ctr"/>
          <a:lstStyle/>
          <a:p>
            <a:pPr indent="0" marL="0">
              <a:buNone/>
            </a:pPr>
            <a:r>
              <a:rPr lang="en-US" sz="900" dirty="0">
                <a:solidFill>
                  <a:srgbClr val="FF6B35"/>
                </a:solidFill>
                <a:latin typeface="Consolas" pitchFamily="34" charset="0"/>
                <a:ea typeface="Consolas" pitchFamily="34" charset="-122"/>
                <a:cs typeface="Consolas" pitchFamily="34" charset="-120"/>
              </a:rPr>
              <a:t>sigma</a:t>
            </a:r>
            <a:endParaRPr lang="en-US" sz="900" dirty="0"/>
          </a:p>
        </p:txBody>
      </p:sp>
      <p:sp>
        <p:nvSpPr>
          <p:cNvPr id="43" name="Shape 41"/>
          <p:cNvSpPr/>
          <p:nvPr/>
        </p:nvSpPr>
        <p:spPr>
          <a:xfrm>
            <a:off x="4114800" y="2834640"/>
            <a:ext cx="987552" cy="137160"/>
          </a:xfrm>
          <a:prstGeom prst="rect">
            <a:avLst/>
          </a:prstGeom>
          <a:solidFill>
            <a:srgbClr val="FF6B35"/>
          </a:solidFill>
          <a:ln/>
        </p:spPr>
      </p:sp>
      <p:sp>
        <p:nvSpPr>
          <p:cNvPr id="44" name="Text 42"/>
          <p:cNvSpPr/>
          <p:nvPr/>
        </p:nvSpPr>
        <p:spPr>
          <a:xfrm>
            <a:off x="5148072" y="2788920"/>
            <a:ext cx="457200" cy="228600"/>
          </a:xfrm>
          <a:prstGeom prst="rect">
            <a:avLst/>
          </a:prstGeom>
          <a:noFill/>
          <a:ln/>
        </p:spPr>
        <p:txBody>
          <a:bodyPr wrap="square" lIns="0" tIns="0" rIns="0" bIns="0" rtlCol="0" anchor="ctr"/>
          <a:lstStyle/>
          <a:p>
            <a:pPr indent="0" marL="0">
              <a:buNone/>
            </a:pPr>
            <a:r>
              <a:rPr lang="en-US" sz="800" dirty="0">
                <a:solidFill>
                  <a:srgbClr val="E8E8F0"/>
                </a:solidFill>
                <a:latin typeface="Consolas" pitchFamily="34" charset="0"/>
                <a:ea typeface="Consolas" pitchFamily="34" charset="-122"/>
                <a:cs typeface="Consolas" pitchFamily="34" charset="-120"/>
              </a:rPr>
              <a:t>6.0</a:t>
            </a:r>
            <a:endParaRPr lang="en-US" sz="800" dirty="0"/>
          </a:p>
        </p:txBody>
      </p:sp>
      <p:sp>
        <p:nvSpPr>
          <p:cNvPr id="45" name="Text 43"/>
          <p:cNvSpPr/>
          <p:nvPr/>
        </p:nvSpPr>
        <p:spPr>
          <a:xfrm>
            <a:off x="3520440" y="3200400"/>
            <a:ext cx="2377440" cy="274320"/>
          </a:xfrm>
          <a:prstGeom prst="rect">
            <a:avLst/>
          </a:prstGeom>
          <a:noFill/>
          <a:ln/>
        </p:spPr>
        <p:txBody>
          <a:bodyPr wrap="square" lIns="0" tIns="0" rIns="0" bIns="0" rtlCol="0" anchor="ctr"/>
          <a:lstStyle/>
          <a:p>
            <a:pPr algn="ctr" indent="0" marL="0">
              <a:buNone/>
            </a:pPr>
            <a:r>
              <a:rPr lang="en-US" sz="1000" dirty="0">
                <a:solidFill>
                  <a:srgbClr val="E8E8F0"/>
                </a:solidFill>
                <a:latin typeface="Consolas" pitchFamily="34" charset="0"/>
                <a:ea typeface="Consolas" pitchFamily="34" charset="-122"/>
                <a:cs typeface="Consolas" pitchFamily="34" charset="-120"/>
              </a:rPr>
              <a:t>32 - 3x6.0 = 14.0</a:t>
            </a:r>
            <a:endParaRPr lang="en-US" sz="1000" dirty="0"/>
          </a:p>
        </p:txBody>
      </p:sp>
      <p:sp>
        <p:nvSpPr>
          <p:cNvPr id="46" name="Text 44"/>
          <p:cNvSpPr/>
          <p:nvPr/>
        </p:nvSpPr>
        <p:spPr>
          <a:xfrm>
            <a:off x="3520440" y="3520440"/>
            <a:ext cx="2377440" cy="822960"/>
          </a:xfrm>
          <a:prstGeom prst="rect">
            <a:avLst/>
          </a:prstGeom>
          <a:noFill/>
          <a:ln/>
        </p:spPr>
        <p:txBody>
          <a:bodyPr wrap="square" lIns="0" tIns="0" rIns="0" bIns="0" rtlCol="0" anchor="t"/>
          <a:lstStyle/>
          <a:p>
            <a:pPr algn="ctr" indent="0" marL="0">
              <a:buNone/>
            </a:pPr>
            <a:r>
              <a:rPr lang="en-US" sz="900" dirty="0">
                <a:solidFill>
                  <a:srgbClr val="7A8BA8"/>
                </a:solidFill>
                <a:latin typeface="Trebuchet MS" pitchFamily="34" charset="0"/>
                <a:ea typeface="Trebuchet MS" pitchFamily="34" charset="-122"/>
                <a:cs typeface="Trebuchet MS" pitchFamily="34" charset="-120"/>
              </a:rPr>
              <a:t>6 partidas</a:t>
            </a:r>
            <a:endParaRPr lang="en-US" sz="900" dirty="0"/>
          </a:p>
          <a:p>
            <a:pPr algn="ctr" indent="0" marL="0">
              <a:buNone/>
            </a:pPr>
            <a:r>
              <a:rPr lang="en-US" sz="900" dirty="0">
                <a:solidFill>
                  <a:srgbClr val="7A8BA8"/>
                </a:solidFill>
                <a:latin typeface="Trebuchet MS" pitchFamily="34" charset="0"/>
                <a:ea typeface="Trebuchet MS" pitchFamily="34" charset="-122"/>
                <a:cs typeface="Trebuchet MS" pitchFamily="34" charset="-120"/>
              </a:rPr>
              <a:t>Rendimiento variable</a:t>
            </a:r>
            <a:endParaRPr lang="en-US" sz="900" dirty="0"/>
          </a:p>
        </p:txBody>
      </p:sp>
      <p:sp>
        <p:nvSpPr>
          <p:cNvPr id="47" name="Shape 45"/>
          <p:cNvSpPr/>
          <p:nvPr/>
        </p:nvSpPr>
        <p:spPr>
          <a:xfrm>
            <a:off x="6309360" y="1051560"/>
            <a:ext cx="2651760" cy="3474720"/>
          </a:xfrm>
          <a:prstGeom prst="rect">
            <a:avLst/>
          </a:prstGeom>
          <a:solidFill>
            <a:srgbClr val="12121E"/>
          </a:solidFill>
          <a:ln w="12700">
            <a:solidFill>
              <a:srgbClr val="39FF14"/>
            </a:solidFill>
            <a:prstDash val="solid"/>
          </a:ln>
        </p:spPr>
      </p:sp>
      <p:sp>
        <p:nvSpPr>
          <p:cNvPr id="48" name="Shape 46"/>
          <p:cNvSpPr/>
          <p:nvPr/>
        </p:nvSpPr>
        <p:spPr>
          <a:xfrm>
            <a:off x="6309360" y="1051560"/>
            <a:ext cx="2651760" cy="22860"/>
          </a:xfrm>
          <a:prstGeom prst="rect">
            <a:avLst/>
          </a:prstGeom>
          <a:solidFill>
            <a:srgbClr val="39FF14"/>
          </a:solidFill>
          <a:ln/>
        </p:spPr>
      </p:sp>
      <p:sp>
        <p:nvSpPr>
          <p:cNvPr id="49" name="Shape 47"/>
          <p:cNvSpPr/>
          <p:nvPr/>
        </p:nvSpPr>
        <p:spPr>
          <a:xfrm>
            <a:off x="6309360" y="1051560"/>
            <a:ext cx="2651760" cy="45720"/>
          </a:xfrm>
          <a:prstGeom prst="rect">
            <a:avLst/>
          </a:prstGeom>
          <a:solidFill>
            <a:srgbClr val="39FF14"/>
          </a:solidFill>
          <a:ln/>
        </p:spPr>
      </p:sp>
      <p:sp>
        <p:nvSpPr>
          <p:cNvPr id="50" name="Text 48"/>
          <p:cNvSpPr/>
          <p:nvPr/>
        </p:nvSpPr>
        <p:spPr>
          <a:xfrm>
            <a:off x="6446520" y="1188720"/>
            <a:ext cx="2377440" cy="320040"/>
          </a:xfrm>
          <a:prstGeom prst="rect">
            <a:avLst/>
          </a:prstGeom>
          <a:noFill/>
          <a:ln/>
        </p:spPr>
        <p:txBody>
          <a:bodyPr wrap="square" lIns="0" tIns="0" rIns="0" bIns="0" rtlCol="0" anchor="ctr"/>
          <a:lstStyle/>
          <a:p>
            <a:pPr algn="ctr" indent="0" marL="0">
              <a:buNone/>
            </a:pPr>
            <a:r>
              <a:rPr lang="en-US" sz="1600" b="1" dirty="0">
                <a:solidFill>
                  <a:srgbClr val="E8E8F0"/>
                </a:solidFill>
                <a:latin typeface="Trebuchet MS" pitchFamily="34" charset="0"/>
                <a:ea typeface="Trebuchet MS" pitchFamily="34" charset="-122"/>
                <a:cs typeface="Trebuchet MS" pitchFamily="34" charset="-120"/>
              </a:rPr>
              <a:t>Consistente</a:t>
            </a:r>
            <a:endParaRPr lang="en-US" sz="1600" dirty="0"/>
          </a:p>
        </p:txBody>
      </p:sp>
      <p:sp>
        <p:nvSpPr>
          <p:cNvPr id="51" name="Text 49"/>
          <p:cNvSpPr/>
          <p:nvPr/>
        </p:nvSpPr>
        <p:spPr>
          <a:xfrm>
            <a:off x="6446520" y="1600200"/>
            <a:ext cx="2377440" cy="548640"/>
          </a:xfrm>
          <a:prstGeom prst="rect">
            <a:avLst/>
          </a:prstGeom>
          <a:noFill/>
          <a:ln/>
        </p:spPr>
        <p:txBody>
          <a:bodyPr wrap="square" lIns="0" tIns="0" rIns="0" bIns="0" rtlCol="0" anchor="ctr"/>
          <a:lstStyle/>
          <a:p>
            <a:pPr algn="ctr" indent="0" marL="0">
              <a:buNone/>
            </a:pPr>
            <a:r>
              <a:rPr lang="en-US" sz="3600" b="1" dirty="0">
                <a:solidFill>
                  <a:srgbClr val="39FF14"/>
                </a:solidFill>
                <a:latin typeface="Impact" pitchFamily="34" charset="0"/>
                <a:ea typeface="Impact" pitchFamily="34" charset="-122"/>
                <a:cs typeface="Impact" pitchFamily="34" charset="-120"/>
              </a:rPr>
              <a:t>22.5</a:t>
            </a:r>
            <a:endParaRPr lang="en-US" sz="3600" dirty="0"/>
          </a:p>
        </p:txBody>
      </p:sp>
      <p:sp>
        <p:nvSpPr>
          <p:cNvPr id="52" name="Text 50"/>
          <p:cNvSpPr/>
          <p:nvPr/>
        </p:nvSpPr>
        <p:spPr>
          <a:xfrm>
            <a:off x="6446520" y="2103120"/>
            <a:ext cx="2377440" cy="228600"/>
          </a:xfrm>
          <a:prstGeom prst="rect">
            <a:avLst/>
          </a:prstGeom>
          <a:noFill/>
          <a:ln/>
        </p:spPr>
        <p:txBody>
          <a:bodyPr wrap="square" lIns="0" tIns="0" rIns="0" bIns="0" rtlCol="0" anchor="ctr"/>
          <a:lstStyle/>
          <a:p>
            <a:pPr algn="ctr" indent="0" marL="0">
              <a:buNone/>
            </a:pPr>
            <a:r>
              <a:rPr lang="en-US" sz="900" dirty="0">
                <a:solidFill>
                  <a:srgbClr val="7A8BA8"/>
                </a:solidFill>
                <a:latin typeface="Trebuchet MS" pitchFamily="34" charset="0"/>
                <a:ea typeface="Trebuchet MS" pitchFamily="34" charset="-122"/>
                <a:cs typeface="Trebuchet MS" pitchFamily="34" charset="-120"/>
              </a:rPr>
              <a:t>PSR</a:t>
            </a:r>
            <a:endParaRPr lang="en-US" sz="900" dirty="0"/>
          </a:p>
        </p:txBody>
      </p:sp>
      <p:sp>
        <p:nvSpPr>
          <p:cNvPr id="53" name="Text 51"/>
          <p:cNvSpPr/>
          <p:nvPr/>
        </p:nvSpPr>
        <p:spPr>
          <a:xfrm>
            <a:off x="6446520" y="2468880"/>
            <a:ext cx="457200" cy="228600"/>
          </a:xfrm>
          <a:prstGeom prst="rect">
            <a:avLst/>
          </a:prstGeom>
          <a:noFill/>
          <a:ln/>
        </p:spPr>
        <p:txBody>
          <a:bodyPr wrap="square" lIns="0" tIns="0" rIns="0" bIns="0" rtlCol="0" anchor="ctr"/>
          <a:lstStyle/>
          <a:p>
            <a:pPr indent="0" marL="0">
              <a:buNone/>
            </a:pPr>
            <a:r>
              <a:rPr lang="en-US" sz="900" dirty="0">
                <a:solidFill>
                  <a:srgbClr val="00F0FF"/>
                </a:solidFill>
                <a:latin typeface="Consolas" pitchFamily="34" charset="0"/>
                <a:ea typeface="Consolas" pitchFamily="34" charset="-122"/>
                <a:cs typeface="Consolas" pitchFamily="34" charset="-120"/>
              </a:rPr>
              <a:t>mu</a:t>
            </a:r>
            <a:endParaRPr lang="en-US" sz="900" dirty="0"/>
          </a:p>
        </p:txBody>
      </p:sp>
      <p:sp>
        <p:nvSpPr>
          <p:cNvPr id="54" name="Shape 52"/>
          <p:cNvSpPr/>
          <p:nvPr/>
        </p:nvSpPr>
        <p:spPr>
          <a:xfrm>
            <a:off x="6858000" y="2514600"/>
            <a:ext cx="1371600" cy="137160"/>
          </a:xfrm>
          <a:prstGeom prst="rect">
            <a:avLst/>
          </a:prstGeom>
          <a:solidFill>
            <a:srgbClr val="00F0FF"/>
          </a:solidFill>
          <a:ln/>
        </p:spPr>
      </p:sp>
      <p:sp>
        <p:nvSpPr>
          <p:cNvPr id="55" name="Text 53"/>
          <p:cNvSpPr/>
          <p:nvPr/>
        </p:nvSpPr>
        <p:spPr>
          <a:xfrm>
            <a:off x="8275320" y="2468880"/>
            <a:ext cx="457200" cy="228600"/>
          </a:xfrm>
          <a:prstGeom prst="rect">
            <a:avLst/>
          </a:prstGeom>
          <a:noFill/>
          <a:ln/>
        </p:spPr>
        <p:txBody>
          <a:bodyPr wrap="square" lIns="0" tIns="0" rIns="0" bIns="0" rtlCol="0" anchor="ctr"/>
          <a:lstStyle/>
          <a:p>
            <a:pPr indent="0" marL="0">
              <a:buNone/>
            </a:pPr>
            <a:r>
              <a:rPr lang="en-US" sz="800" dirty="0">
                <a:solidFill>
                  <a:srgbClr val="E8E8F0"/>
                </a:solidFill>
                <a:latin typeface="Consolas" pitchFamily="34" charset="0"/>
                <a:ea typeface="Consolas" pitchFamily="34" charset="-122"/>
                <a:cs typeface="Consolas" pitchFamily="34" charset="-120"/>
              </a:rPr>
              <a:t>30</a:t>
            </a:r>
            <a:endParaRPr lang="en-US" sz="800" dirty="0"/>
          </a:p>
        </p:txBody>
      </p:sp>
      <p:sp>
        <p:nvSpPr>
          <p:cNvPr id="56" name="Text 54"/>
          <p:cNvSpPr/>
          <p:nvPr/>
        </p:nvSpPr>
        <p:spPr>
          <a:xfrm>
            <a:off x="6446520" y="2788920"/>
            <a:ext cx="457200" cy="228600"/>
          </a:xfrm>
          <a:prstGeom prst="rect">
            <a:avLst/>
          </a:prstGeom>
          <a:noFill/>
          <a:ln/>
        </p:spPr>
        <p:txBody>
          <a:bodyPr wrap="square" lIns="0" tIns="0" rIns="0" bIns="0" rtlCol="0" anchor="ctr"/>
          <a:lstStyle/>
          <a:p>
            <a:pPr indent="0" marL="0">
              <a:buNone/>
            </a:pPr>
            <a:r>
              <a:rPr lang="en-US" sz="900" dirty="0">
                <a:solidFill>
                  <a:srgbClr val="FF6B35"/>
                </a:solidFill>
                <a:latin typeface="Consolas" pitchFamily="34" charset="0"/>
                <a:ea typeface="Consolas" pitchFamily="34" charset="-122"/>
                <a:cs typeface="Consolas" pitchFamily="34" charset="-120"/>
              </a:rPr>
              <a:t>sigma</a:t>
            </a:r>
            <a:endParaRPr lang="en-US" sz="900" dirty="0"/>
          </a:p>
        </p:txBody>
      </p:sp>
      <p:sp>
        <p:nvSpPr>
          <p:cNvPr id="57" name="Shape 55"/>
          <p:cNvSpPr/>
          <p:nvPr/>
        </p:nvSpPr>
        <p:spPr>
          <a:xfrm>
            <a:off x="7040880" y="2834640"/>
            <a:ext cx="411480" cy="137160"/>
          </a:xfrm>
          <a:prstGeom prst="rect">
            <a:avLst/>
          </a:prstGeom>
          <a:solidFill>
            <a:srgbClr val="FF6B35"/>
          </a:solidFill>
          <a:ln/>
        </p:spPr>
      </p:sp>
      <p:sp>
        <p:nvSpPr>
          <p:cNvPr id="58" name="Text 56"/>
          <p:cNvSpPr/>
          <p:nvPr/>
        </p:nvSpPr>
        <p:spPr>
          <a:xfrm>
            <a:off x="7498080" y="2788920"/>
            <a:ext cx="457200" cy="228600"/>
          </a:xfrm>
          <a:prstGeom prst="rect">
            <a:avLst/>
          </a:prstGeom>
          <a:noFill/>
          <a:ln/>
        </p:spPr>
        <p:txBody>
          <a:bodyPr wrap="square" lIns="0" tIns="0" rIns="0" bIns="0" rtlCol="0" anchor="ctr"/>
          <a:lstStyle/>
          <a:p>
            <a:pPr indent="0" marL="0">
              <a:buNone/>
            </a:pPr>
            <a:r>
              <a:rPr lang="en-US" sz="800" dirty="0">
                <a:solidFill>
                  <a:srgbClr val="E8E8F0"/>
                </a:solidFill>
                <a:latin typeface="Consolas" pitchFamily="34" charset="0"/>
                <a:ea typeface="Consolas" pitchFamily="34" charset="-122"/>
                <a:cs typeface="Consolas" pitchFamily="34" charset="-120"/>
              </a:rPr>
              <a:t>2.5</a:t>
            </a:r>
            <a:endParaRPr lang="en-US" sz="800" dirty="0"/>
          </a:p>
        </p:txBody>
      </p:sp>
      <p:sp>
        <p:nvSpPr>
          <p:cNvPr id="59" name="Text 57"/>
          <p:cNvSpPr/>
          <p:nvPr/>
        </p:nvSpPr>
        <p:spPr>
          <a:xfrm>
            <a:off x="6446520" y="3200400"/>
            <a:ext cx="2377440" cy="274320"/>
          </a:xfrm>
          <a:prstGeom prst="rect">
            <a:avLst/>
          </a:prstGeom>
          <a:noFill/>
          <a:ln/>
        </p:spPr>
        <p:txBody>
          <a:bodyPr wrap="square" lIns="0" tIns="0" rIns="0" bIns="0" rtlCol="0" anchor="ctr"/>
          <a:lstStyle/>
          <a:p>
            <a:pPr algn="ctr" indent="0" marL="0">
              <a:buNone/>
            </a:pPr>
            <a:r>
              <a:rPr lang="en-US" sz="1000" dirty="0">
                <a:solidFill>
                  <a:srgbClr val="E8E8F0"/>
                </a:solidFill>
                <a:latin typeface="Consolas" pitchFamily="34" charset="0"/>
                <a:ea typeface="Consolas" pitchFamily="34" charset="-122"/>
                <a:cs typeface="Consolas" pitchFamily="34" charset="-120"/>
              </a:rPr>
              <a:t>30 - 3x2.5 = 22.5</a:t>
            </a:r>
            <a:endParaRPr lang="en-US" sz="1000" dirty="0"/>
          </a:p>
        </p:txBody>
      </p:sp>
      <p:sp>
        <p:nvSpPr>
          <p:cNvPr id="60" name="Text 58"/>
          <p:cNvSpPr/>
          <p:nvPr/>
        </p:nvSpPr>
        <p:spPr>
          <a:xfrm>
            <a:off x="6446520" y="3520440"/>
            <a:ext cx="2377440" cy="822960"/>
          </a:xfrm>
          <a:prstGeom prst="rect">
            <a:avLst/>
          </a:prstGeom>
          <a:noFill/>
          <a:ln/>
        </p:spPr>
        <p:txBody>
          <a:bodyPr wrap="square" lIns="0" tIns="0" rIns="0" bIns="0" rtlCol="0" anchor="t"/>
          <a:lstStyle/>
          <a:p>
            <a:pPr algn="ctr" indent="0" marL="0">
              <a:buNone/>
            </a:pPr>
            <a:r>
              <a:rPr lang="en-US" sz="900" dirty="0">
                <a:solidFill>
                  <a:srgbClr val="7A8BA8"/>
                </a:solidFill>
                <a:latin typeface="Trebuchet MS" pitchFamily="34" charset="0"/>
                <a:ea typeface="Trebuchet MS" pitchFamily="34" charset="-122"/>
                <a:cs typeface="Trebuchet MS" pitchFamily="34" charset="-120"/>
              </a:rPr>
              <a:t>12 partidas</a:t>
            </a:r>
            <a:endParaRPr lang="en-US" sz="900" dirty="0"/>
          </a:p>
          <a:p>
            <a:pPr algn="ctr" indent="0" marL="0">
              <a:buNone/>
            </a:pPr>
            <a:r>
              <a:rPr lang="en-US" sz="900" dirty="0">
                <a:solidFill>
                  <a:srgbClr val="7A8BA8"/>
                </a:solidFill>
                <a:latin typeface="Trebuchet MS" pitchFamily="34" charset="0"/>
                <a:ea typeface="Trebuchet MS" pitchFamily="34" charset="-122"/>
                <a:cs typeface="Trebuchet MS" pitchFamily="34" charset="-120"/>
              </a:rPr>
              <a:t>Rendimiento estable</a:t>
            </a:r>
            <a:endParaRPr lang="en-US" sz="900" dirty="0"/>
          </a:p>
        </p:txBody>
      </p:sp>
      <p:sp>
        <p:nvSpPr>
          <p:cNvPr id="61" name="Text 59"/>
          <p:cNvSpPr/>
          <p:nvPr/>
        </p:nvSpPr>
        <p:spPr>
          <a:xfrm>
            <a:off x="457200" y="4709160"/>
            <a:ext cx="8229600" cy="274320"/>
          </a:xfrm>
          <a:prstGeom prst="rect">
            <a:avLst/>
          </a:prstGeom>
          <a:noFill/>
          <a:ln/>
        </p:spPr>
        <p:txBody>
          <a:bodyPr wrap="square" rtlCol="0" anchor="ctr"/>
          <a:lstStyle/>
          <a:p>
            <a:pPr indent="0" marL="0">
              <a:buNone/>
            </a:pPr>
            <a:r>
              <a:rPr lang="en-US" sz="700" i="1" dirty="0">
                <a:solidFill>
                  <a:srgbClr val="7A8BA8"/>
                </a:solidFill>
                <a:latin typeface="Consolas" pitchFamily="34" charset="0"/>
                <a:ea typeface="Consolas" pitchFamily="34" charset="-122"/>
                <a:cs typeface="Consolas" pitchFamily="34" charset="-120"/>
              </a:rPr>
              <a:t>Fuente: docs/psr-audit/02-metodologia-matematica.md, 06-ejemplos-evolucion.md</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00F0FF"/>
          </a:solidFill>
          <a:ln/>
        </p:spPr>
      </p:sp>
      <p:sp>
        <p:nvSpPr>
          <p:cNvPr id="3" name="Shape 1"/>
          <p:cNvSpPr/>
          <p:nvPr/>
        </p:nvSpPr>
        <p:spPr>
          <a:xfrm>
            <a:off x="0" y="5125212"/>
            <a:ext cx="9144000" cy="18288"/>
          </a:xfrm>
          <a:prstGeom prst="rect">
            <a:avLst/>
          </a:prstGeom>
          <a:solidFill>
            <a:srgbClr val="FF2D6B"/>
          </a:solidFill>
          <a:ln/>
        </p:spPr>
      </p:sp>
      <p:sp>
        <p:nvSpPr>
          <p:cNvPr id="4" name="Shape 2"/>
          <p:cNvSpPr/>
          <p:nvPr/>
        </p:nvSpPr>
        <p:spPr>
          <a:xfrm>
            <a:off x="0" y="0"/>
            <a:ext cx="18288" cy="548640"/>
          </a:xfrm>
          <a:prstGeom prst="rect">
            <a:avLst/>
          </a:prstGeom>
          <a:solidFill>
            <a:srgbClr val="00F0FF"/>
          </a:solidFill>
          <a:ln/>
        </p:spPr>
      </p:sp>
      <p:sp>
        <p:nvSpPr>
          <p:cNvPr id="5" name="Shape 3"/>
          <p:cNvSpPr/>
          <p:nvPr/>
        </p:nvSpPr>
        <p:spPr>
          <a:xfrm>
            <a:off x="0" y="0"/>
            <a:ext cx="548640" cy="18288"/>
          </a:xfrm>
          <a:prstGeom prst="rect">
            <a:avLst/>
          </a:prstGeom>
          <a:solidFill>
            <a:srgbClr val="00F0FF"/>
          </a:solidFill>
          <a:ln/>
        </p:spPr>
      </p:sp>
      <p:sp>
        <p:nvSpPr>
          <p:cNvPr id="6" name="Shape 4"/>
          <p:cNvSpPr/>
          <p:nvPr/>
        </p:nvSpPr>
        <p:spPr>
          <a:xfrm>
            <a:off x="9125712" y="4594860"/>
            <a:ext cx="18288" cy="548640"/>
          </a:xfrm>
          <a:prstGeom prst="rect">
            <a:avLst/>
          </a:prstGeom>
          <a:solidFill>
            <a:srgbClr val="FF2D6B"/>
          </a:solidFill>
          <a:ln/>
        </p:spPr>
      </p:sp>
      <p:sp>
        <p:nvSpPr>
          <p:cNvPr id="7" name="Shape 5"/>
          <p:cNvSpPr/>
          <p:nvPr/>
        </p:nvSpPr>
        <p:spPr>
          <a:xfrm>
            <a:off x="8595360" y="5125212"/>
            <a:ext cx="548640" cy="18288"/>
          </a:xfrm>
          <a:prstGeom prst="rect">
            <a:avLst/>
          </a:prstGeom>
          <a:solidFill>
            <a:srgbClr val="FF2D6B"/>
          </a:solidFill>
          <a:ln/>
        </p:spPr>
      </p:sp>
      <p:sp>
        <p:nvSpPr>
          <p:cNvPr id="8" name="Shape 6"/>
          <p:cNvSpPr/>
          <p:nvPr/>
        </p:nvSpPr>
        <p:spPr>
          <a:xfrm>
            <a:off x="914400" y="0"/>
            <a:ext cx="2743" cy="5143500"/>
          </a:xfrm>
          <a:prstGeom prst="rect">
            <a:avLst/>
          </a:prstGeom>
          <a:solidFill>
            <a:srgbClr val="1E2A3A">
              <a:alpha val="20000"/>
            </a:srgbClr>
          </a:solidFill>
          <a:ln/>
        </p:spPr>
      </p:sp>
      <p:sp>
        <p:nvSpPr>
          <p:cNvPr id="9" name="Shape 7"/>
          <p:cNvSpPr/>
          <p:nvPr/>
        </p:nvSpPr>
        <p:spPr>
          <a:xfrm>
            <a:off x="1828800" y="0"/>
            <a:ext cx="2743" cy="5143500"/>
          </a:xfrm>
          <a:prstGeom prst="rect">
            <a:avLst/>
          </a:prstGeom>
          <a:solidFill>
            <a:srgbClr val="1E2A3A">
              <a:alpha val="20000"/>
            </a:srgbClr>
          </a:solidFill>
          <a:ln/>
        </p:spPr>
      </p:sp>
      <p:sp>
        <p:nvSpPr>
          <p:cNvPr id="10" name="Shape 8"/>
          <p:cNvSpPr/>
          <p:nvPr/>
        </p:nvSpPr>
        <p:spPr>
          <a:xfrm>
            <a:off x="2743200" y="0"/>
            <a:ext cx="2743" cy="5143500"/>
          </a:xfrm>
          <a:prstGeom prst="rect">
            <a:avLst/>
          </a:prstGeom>
          <a:solidFill>
            <a:srgbClr val="1E2A3A">
              <a:alpha val="20000"/>
            </a:srgbClr>
          </a:solidFill>
          <a:ln/>
        </p:spPr>
      </p:sp>
      <p:sp>
        <p:nvSpPr>
          <p:cNvPr id="11" name="Shape 9"/>
          <p:cNvSpPr/>
          <p:nvPr/>
        </p:nvSpPr>
        <p:spPr>
          <a:xfrm>
            <a:off x="3657600" y="0"/>
            <a:ext cx="2743" cy="5143500"/>
          </a:xfrm>
          <a:prstGeom prst="rect">
            <a:avLst/>
          </a:prstGeom>
          <a:solidFill>
            <a:srgbClr val="1E2A3A">
              <a:alpha val="20000"/>
            </a:srgbClr>
          </a:solidFill>
          <a:ln/>
        </p:spPr>
      </p:sp>
      <p:sp>
        <p:nvSpPr>
          <p:cNvPr id="12" name="Shape 10"/>
          <p:cNvSpPr/>
          <p:nvPr/>
        </p:nvSpPr>
        <p:spPr>
          <a:xfrm>
            <a:off x="4572000" y="0"/>
            <a:ext cx="2743" cy="5143500"/>
          </a:xfrm>
          <a:prstGeom prst="rect">
            <a:avLst/>
          </a:prstGeom>
          <a:solidFill>
            <a:srgbClr val="1E2A3A">
              <a:alpha val="20000"/>
            </a:srgbClr>
          </a:solidFill>
          <a:ln/>
        </p:spPr>
      </p:sp>
      <p:sp>
        <p:nvSpPr>
          <p:cNvPr id="13" name="Shape 11"/>
          <p:cNvSpPr/>
          <p:nvPr/>
        </p:nvSpPr>
        <p:spPr>
          <a:xfrm>
            <a:off x="5486400" y="0"/>
            <a:ext cx="2743" cy="5143500"/>
          </a:xfrm>
          <a:prstGeom prst="rect">
            <a:avLst/>
          </a:prstGeom>
          <a:solidFill>
            <a:srgbClr val="1E2A3A">
              <a:alpha val="20000"/>
            </a:srgbClr>
          </a:solidFill>
          <a:ln/>
        </p:spPr>
      </p:sp>
      <p:sp>
        <p:nvSpPr>
          <p:cNvPr id="14" name="Shape 12"/>
          <p:cNvSpPr/>
          <p:nvPr/>
        </p:nvSpPr>
        <p:spPr>
          <a:xfrm>
            <a:off x="6400800" y="0"/>
            <a:ext cx="2743" cy="5143500"/>
          </a:xfrm>
          <a:prstGeom prst="rect">
            <a:avLst/>
          </a:prstGeom>
          <a:solidFill>
            <a:srgbClr val="1E2A3A">
              <a:alpha val="20000"/>
            </a:srgbClr>
          </a:solidFill>
          <a:ln/>
        </p:spPr>
      </p:sp>
      <p:sp>
        <p:nvSpPr>
          <p:cNvPr id="15" name="Shape 13"/>
          <p:cNvSpPr/>
          <p:nvPr/>
        </p:nvSpPr>
        <p:spPr>
          <a:xfrm>
            <a:off x="7315200" y="0"/>
            <a:ext cx="2743" cy="5143500"/>
          </a:xfrm>
          <a:prstGeom prst="rect">
            <a:avLst/>
          </a:prstGeom>
          <a:solidFill>
            <a:srgbClr val="1E2A3A">
              <a:alpha val="20000"/>
            </a:srgbClr>
          </a:solidFill>
          <a:ln/>
        </p:spPr>
      </p:sp>
      <p:sp>
        <p:nvSpPr>
          <p:cNvPr id="16" name="Shape 14"/>
          <p:cNvSpPr/>
          <p:nvPr/>
        </p:nvSpPr>
        <p:spPr>
          <a:xfrm>
            <a:off x="8229600" y="0"/>
            <a:ext cx="2743" cy="5143500"/>
          </a:xfrm>
          <a:prstGeom prst="rect">
            <a:avLst/>
          </a:prstGeom>
          <a:solidFill>
            <a:srgbClr val="1E2A3A">
              <a:alpha val="20000"/>
            </a:srgbClr>
          </a:solidFill>
          <a:ln/>
        </p:spPr>
      </p:sp>
      <p:sp>
        <p:nvSpPr>
          <p:cNvPr id="17" name="Text 15"/>
          <p:cNvSpPr/>
          <p:nvPr/>
        </p:nvSpPr>
        <p:spPr>
          <a:xfrm>
            <a:off x="640080" y="182880"/>
            <a:ext cx="7863840" cy="502920"/>
          </a:xfrm>
          <a:prstGeom prst="rect">
            <a:avLst/>
          </a:prstGeom>
          <a:noFill/>
          <a:ln/>
        </p:spPr>
        <p:txBody>
          <a:bodyPr wrap="square" lIns="0" tIns="0" rIns="0" bIns="0" rtlCol="0" anchor="ctr"/>
          <a:lstStyle/>
          <a:p>
            <a:pPr indent="0" marL="0">
              <a:buNone/>
            </a:pPr>
            <a:r>
              <a:rPr lang="en-US" sz="2200" b="1" spc="300" kern="0" dirty="0">
                <a:solidFill>
                  <a:srgbClr val="00F0FF"/>
                </a:solidFill>
                <a:latin typeface="Impact" pitchFamily="34" charset="0"/>
                <a:ea typeface="Impact" pitchFamily="34" charset="-122"/>
                <a:cs typeface="Impact" pitchFamily="34" charset="-120"/>
              </a:rPr>
              <a:t>INACTIVIDAD: EL SISTEMA NO OLVIDA, PERO DUDA</a:t>
            </a:r>
            <a:endParaRPr lang="en-US" sz="2200" dirty="0"/>
          </a:p>
        </p:txBody>
      </p:sp>
      <p:sp>
        <p:nvSpPr>
          <p:cNvPr id="18" name="Shape 16"/>
          <p:cNvSpPr/>
          <p:nvPr/>
        </p:nvSpPr>
        <p:spPr>
          <a:xfrm>
            <a:off x="640080" y="713232"/>
            <a:ext cx="2286000" cy="22860"/>
          </a:xfrm>
          <a:prstGeom prst="rect">
            <a:avLst/>
          </a:prstGeom>
          <a:solidFill>
            <a:srgbClr val="FF2D6B"/>
          </a:solidFill>
          <a:ln/>
        </p:spPr>
      </p:sp>
      <p:sp>
        <p:nvSpPr>
          <p:cNvPr id="19" name="Text 17"/>
          <p:cNvSpPr/>
          <p:nvPr/>
        </p:nvSpPr>
        <p:spPr>
          <a:xfrm>
            <a:off x="640080" y="822960"/>
            <a:ext cx="7863840" cy="228600"/>
          </a:xfrm>
          <a:prstGeom prst="rect">
            <a:avLst/>
          </a:prstGeom>
          <a:noFill/>
          <a:ln/>
        </p:spPr>
        <p:txBody>
          <a:bodyPr wrap="square" lIns="0" tIns="0" rIns="0" bIns="0" rtlCol="0" anchor="ctr"/>
          <a:lstStyle/>
          <a:p>
            <a:pPr indent="0" marL="0">
              <a:buNone/>
            </a:pPr>
            <a:r>
              <a:rPr lang="en-US" sz="1000" i="1" dirty="0">
                <a:solidFill>
                  <a:srgbClr val="7A8BA8"/>
                </a:solidFill>
                <a:latin typeface="Trebuchet MS" pitchFamily="34" charset="0"/>
                <a:ea typeface="Trebuchet MS" pitchFamily="34" charset="-122"/>
                <a:cs typeface="Trebuchet MS" pitchFamily="34" charset="-120"/>
              </a:rPr>
              <a:t>Un jugador PRO que deja de jugar no pierde habilidad — pierde certeza</a:t>
            </a:r>
            <a:endParaRPr lang="en-US" sz="1000" dirty="0"/>
          </a:p>
        </p:txBody>
      </p:sp>
      <p:graphicFrame>
        <p:nvGraphicFramePr>
          <p:cNvPr id="20" name="Chart 0" descr=""/>
          <p:cNvGraphicFramePr/>
          <p:nvPr/>
        </p:nvGraphicFramePr>
        <p:xfrm>
          <a:off x="274320" y="1005840"/>
          <a:ext cx="5943600" cy="3200400"/>
        </p:xfrm>
        <a:graphic xmlns:a="http://schemas.openxmlformats.org/drawingml/2006/main">
          <a:graphicData uri="http://schemas.openxmlformats.org/drawingml/2006/chart">
            <c:chart xmlns:c="http://schemas.openxmlformats.org/drawingml/2006/chart" r:id="rId1"/>
          </a:graphicData>
        </a:graphic>
      </p:graphicFrame>
      <p:sp>
        <p:nvSpPr>
          <p:cNvPr id="21" name="Shape 18"/>
          <p:cNvSpPr/>
          <p:nvPr/>
        </p:nvSpPr>
        <p:spPr>
          <a:xfrm>
            <a:off x="6400800" y="1005840"/>
            <a:ext cx="2468880" cy="3200400"/>
          </a:xfrm>
          <a:prstGeom prst="rect">
            <a:avLst/>
          </a:prstGeom>
          <a:solidFill>
            <a:srgbClr val="12121E"/>
          </a:solidFill>
          <a:ln w="12700">
            <a:solidFill>
              <a:srgbClr val="FF6B35"/>
            </a:solidFill>
            <a:prstDash val="solid"/>
          </a:ln>
        </p:spPr>
      </p:sp>
      <p:sp>
        <p:nvSpPr>
          <p:cNvPr id="22" name="Shape 19"/>
          <p:cNvSpPr/>
          <p:nvPr/>
        </p:nvSpPr>
        <p:spPr>
          <a:xfrm>
            <a:off x="6400800" y="1005840"/>
            <a:ext cx="2468880" cy="22860"/>
          </a:xfrm>
          <a:prstGeom prst="rect">
            <a:avLst/>
          </a:prstGeom>
          <a:solidFill>
            <a:srgbClr val="FF6B35"/>
          </a:solidFill>
          <a:ln/>
        </p:spPr>
      </p:sp>
      <p:sp>
        <p:nvSpPr>
          <p:cNvPr id="23" name="Text 20"/>
          <p:cNvSpPr/>
          <p:nvPr/>
        </p:nvSpPr>
        <p:spPr>
          <a:xfrm>
            <a:off x="6537960" y="1097280"/>
            <a:ext cx="2194560" cy="274320"/>
          </a:xfrm>
          <a:prstGeom prst="rect">
            <a:avLst/>
          </a:prstGeom>
          <a:noFill/>
          <a:ln/>
        </p:spPr>
        <p:txBody>
          <a:bodyPr wrap="square" lIns="0" tIns="0" rIns="0" bIns="0" rtlCol="0" anchor="ctr"/>
          <a:lstStyle/>
          <a:p>
            <a:pPr indent="0" marL="0">
              <a:buNone/>
            </a:pPr>
            <a:r>
              <a:rPr lang="en-US" sz="1100" b="1" dirty="0">
                <a:solidFill>
                  <a:srgbClr val="FF6B35"/>
                </a:solidFill>
                <a:latin typeface="Trebuchet MS" pitchFamily="34" charset="0"/>
                <a:ea typeface="Trebuchet MS" pitchFamily="34" charset="-122"/>
                <a:cs typeface="Trebuchet MS" pitchFamily="34" charset="-120"/>
              </a:rPr>
              <a:t>Que pasa?</a:t>
            </a:r>
            <a:endParaRPr lang="en-US" sz="1100" dirty="0"/>
          </a:p>
        </p:txBody>
      </p:sp>
      <p:sp>
        <p:nvSpPr>
          <p:cNvPr id="24" name="Text 21"/>
          <p:cNvSpPr/>
          <p:nvPr/>
        </p:nvSpPr>
        <p:spPr>
          <a:xfrm>
            <a:off x="6537960" y="1463040"/>
            <a:ext cx="2194560" cy="2560320"/>
          </a:xfrm>
          <a:prstGeom prst="rect">
            <a:avLst/>
          </a:prstGeom>
          <a:noFill/>
          <a:ln/>
        </p:spPr>
        <p:txBody>
          <a:bodyPr wrap="square" rtlCol="0" anchor="t"/>
          <a:lstStyle/>
          <a:p>
            <a:pPr indent="0" marL="0">
              <a:buNone/>
            </a:pPr>
            <a:r>
              <a:rPr lang="en-US" sz="1000" b="1" dirty="0">
                <a:solidFill>
                  <a:srgbClr val="00F0FF"/>
                </a:solidFill>
                <a:latin typeface="Trebuchet MS" pitchFamily="34" charset="0"/>
                <a:ea typeface="Trebuchet MS" pitchFamily="34" charset="-122"/>
                <a:cs typeface="Trebuchet MS" pitchFamily="34" charset="-120"/>
              </a:rPr>
              <a:t>mu no cambia</a:t>
            </a:r>
            <a:endParaRPr lang="en-US" sz="1000" dirty="0"/>
          </a:p>
          <a:p>
            <a:pPr indent="0" marL="0">
              <a:buNone/>
            </a:pPr>
            <a:r>
              <a:rPr lang="en-US" sz="800" dirty="0">
                <a:solidFill>
                  <a:srgbClr val="7A8BA8"/>
                </a:solidFill>
                <a:latin typeface="Trebuchet MS" pitchFamily="34" charset="0"/>
                <a:ea typeface="Trebuchet MS" pitchFamily="34" charset="-122"/>
                <a:cs typeface="Trebuchet MS" pitchFamily="34" charset="-120"/>
              </a:rPr>
              <a:t>No decimos que empeoro</a:t>
            </a:r>
            <a:endParaRPr lang="en-US" sz="1000" dirty="0"/>
          </a:p>
          <a:p>
            <a:pPr indent="0" marL="0">
              <a:buNone/>
            </a:pPr>
            <a:endParaRPr lang="en-US" sz="1000" dirty="0"/>
          </a:p>
          <a:p>
            <a:pPr indent="0" marL="0">
              <a:buNone/>
            </a:pPr>
            <a:r>
              <a:rPr lang="en-US" sz="1000" b="1" dirty="0">
                <a:solidFill>
                  <a:srgbClr val="FF6B35"/>
                </a:solidFill>
                <a:latin typeface="Trebuchet MS" pitchFamily="34" charset="0"/>
                <a:ea typeface="Trebuchet MS" pitchFamily="34" charset="-122"/>
                <a:cs typeface="Trebuchet MS" pitchFamily="34" charset="-120"/>
              </a:rPr>
              <a:t>sigma sube</a:t>
            </a:r>
            <a:endParaRPr lang="en-US" sz="1000" dirty="0"/>
          </a:p>
          <a:p>
            <a:pPr indent="0" marL="0">
              <a:buNone/>
            </a:pPr>
            <a:r>
              <a:rPr lang="en-US" sz="800" dirty="0">
                <a:solidFill>
                  <a:srgbClr val="7A8BA8"/>
                </a:solidFill>
                <a:latin typeface="Trebuchet MS" pitchFamily="34" charset="0"/>
                <a:ea typeface="Trebuchet MS" pitchFamily="34" charset="-122"/>
                <a:cs typeface="Trebuchet MS" pitchFamily="34" charset="-120"/>
              </a:rPr>
              <a:t>Cada mes sin jugar +tau de incertidumbre</a:t>
            </a:r>
            <a:endParaRPr lang="en-US" sz="1000" dirty="0"/>
          </a:p>
          <a:p>
            <a:pPr indent="0" marL="0">
              <a:buNone/>
            </a:pPr>
            <a:endParaRPr lang="en-US" sz="1000" dirty="0"/>
          </a:p>
          <a:p>
            <a:pPr indent="0" marL="0">
              <a:buNone/>
            </a:pPr>
            <a:r>
              <a:rPr lang="en-US" sz="1000" b="1" dirty="0">
                <a:solidFill>
                  <a:srgbClr val="FF2D6B"/>
                </a:solidFill>
                <a:latin typeface="Trebuchet MS" pitchFamily="34" charset="0"/>
                <a:ea typeface="Trebuchet MS" pitchFamily="34" charset="-122"/>
                <a:cs typeface="Trebuchet MS" pitchFamily="34" charset="-120"/>
              </a:rPr>
              <a:t>PSR baja</a:t>
            </a:r>
            <a:endParaRPr lang="en-US" sz="1000" dirty="0"/>
          </a:p>
          <a:p>
            <a:pPr indent="0" marL="0">
              <a:buNone/>
            </a:pPr>
            <a:r>
              <a:rPr lang="en-US" sz="800" dirty="0">
                <a:solidFill>
                  <a:srgbClr val="7A8BA8"/>
                </a:solidFill>
                <a:latin typeface="Trebuchet MS" pitchFamily="34" charset="0"/>
                <a:ea typeface="Trebuchet MS" pitchFamily="34" charset="-122"/>
                <a:cs typeface="Trebuchet MS" pitchFamily="34" charset="-120"/>
              </a:rPr>
              <a:t>PSR = mu - 3*sigma, si sigma sube, PSR baja</a:t>
            </a:r>
            <a:endParaRPr lang="en-US" sz="1000" dirty="0"/>
          </a:p>
          <a:p>
            <a:pPr indent="0" marL="0">
              <a:buNone/>
            </a:pPr>
            <a:endParaRPr lang="en-US" sz="1000" dirty="0"/>
          </a:p>
          <a:p>
            <a:pPr indent="0" marL="0">
              <a:buNone/>
            </a:pPr>
            <a:r>
              <a:rPr lang="en-US" sz="1000" b="1" dirty="0">
                <a:solidFill>
                  <a:srgbClr val="39FF14"/>
                </a:solidFill>
                <a:latin typeface="Trebuchet MS" pitchFamily="34" charset="0"/>
                <a:ea typeface="Trebuchet MS" pitchFamily="34" charset="-122"/>
                <a:cs typeface="Trebuchet MS" pitchFamily="34" charset="-120"/>
              </a:rPr>
              <a:t>Solucion:</a:t>
            </a:r>
            <a:endParaRPr lang="en-US" sz="1000" dirty="0"/>
          </a:p>
          <a:p>
            <a:pPr indent="0" marL="0">
              <a:buNone/>
            </a:pPr>
            <a:r>
              <a:rPr lang="en-US" sz="800" dirty="0">
                <a:solidFill>
                  <a:srgbClr val="7A8BA8"/>
                </a:solidFill>
                <a:latin typeface="Trebuchet MS" pitchFamily="34" charset="0"/>
                <a:ea typeface="Trebuchet MS" pitchFamily="34" charset="-122"/>
                <a:cs typeface="Trebuchet MS" pitchFamily="34" charset="-120"/>
              </a:rPr>
              <a:t>Jugar 1-2 eventos recupera la certeza rapidamente</a:t>
            </a:r>
            <a:endParaRPr lang="en-US" sz="1000" dirty="0"/>
          </a:p>
        </p:txBody>
      </p:sp>
      <p:sp>
        <p:nvSpPr>
          <p:cNvPr id="25" name="Text 22"/>
          <p:cNvSpPr/>
          <p:nvPr/>
        </p:nvSpPr>
        <p:spPr>
          <a:xfrm>
            <a:off x="457200" y="4709160"/>
            <a:ext cx="8229600" cy="274320"/>
          </a:xfrm>
          <a:prstGeom prst="rect">
            <a:avLst/>
          </a:prstGeom>
          <a:noFill/>
          <a:ln/>
        </p:spPr>
        <p:txBody>
          <a:bodyPr wrap="square" rtlCol="0" anchor="ctr"/>
          <a:lstStyle/>
          <a:p>
            <a:pPr indent="0" marL="0">
              <a:buNone/>
            </a:pPr>
            <a:r>
              <a:rPr lang="en-US" sz="700" i="1" dirty="0">
                <a:solidFill>
                  <a:srgbClr val="7A8BA8"/>
                </a:solidFill>
                <a:latin typeface="Consolas" pitchFamily="34" charset="0"/>
                <a:ea typeface="Consolas" pitchFamily="34" charset="-122"/>
                <a:cs typeface="Consolas" pitchFamily="34" charset="-120"/>
              </a:rPr>
              <a:t>Fuente: docs/psr-audit/06-ejemplos-evolucion.md (Ejemplo 5)</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00F0FF"/>
          </a:solidFill>
          <a:ln/>
        </p:spPr>
      </p:sp>
      <p:sp>
        <p:nvSpPr>
          <p:cNvPr id="3" name="Shape 1"/>
          <p:cNvSpPr/>
          <p:nvPr/>
        </p:nvSpPr>
        <p:spPr>
          <a:xfrm>
            <a:off x="0" y="5125212"/>
            <a:ext cx="9144000" cy="18288"/>
          </a:xfrm>
          <a:prstGeom prst="rect">
            <a:avLst/>
          </a:prstGeom>
          <a:solidFill>
            <a:srgbClr val="FF2D6B"/>
          </a:solidFill>
          <a:ln/>
        </p:spPr>
      </p:sp>
      <p:sp>
        <p:nvSpPr>
          <p:cNvPr id="4" name="Shape 2"/>
          <p:cNvSpPr/>
          <p:nvPr/>
        </p:nvSpPr>
        <p:spPr>
          <a:xfrm>
            <a:off x="0" y="0"/>
            <a:ext cx="18288" cy="548640"/>
          </a:xfrm>
          <a:prstGeom prst="rect">
            <a:avLst/>
          </a:prstGeom>
          <a:solidFill>
            <a:srgbClr val="00F0FF"/>
          </a:solidFill>
          <a:ln/>
        </p:spPr>
      </p:sp>
      <p:sp>
        <p:nvSpPr>
          <p:cNvPr id="5" name="Shape 3"/>
          <p:cNvSpPr/>
          <p:nvPr/>
        </p:nvSpPr>
        <p:spPr>
          <a:xfrm>
            <a:off x="0" y="0"/>
            <a:ext cx="548640" cy="18288"/>
          </a:xfrm>
          <a:prstGeom prst="rect">
            <a:avLst/>
          </a:prstGeom>
          <a:solidFill>
            <a:srgbClr val="00F0FF"/>
          </a:solidFill>
          <a:ln/>
        </p:spPr>
      </p:sp>
      <p:sp>
        <p:nvSpPr>
          <p:cNvPr id="6" name="Shape 4"/>
          <p:cNvSpPr/>
          <p:nvPr/>
        </p:nvSpPr>
        <p:spPr>
          <a:xfrm>
            <a:off x="9125712" y="4594860"/>
            <a:ext cx="18288" cy="548640"/>
          </a:xfrm>
          <a:prstGeom prst="rect">
            <a:avLst/>
          </a:prstGeom>
          <a:solidFill>
            <a:srgbClr val="FF2D6B"/>
          </a:solidFill>
          <a:ln/>
        </p:spPr>
      </p:sp>
      <p:sp>
        <p:nvSpPr>
          <p:cNvPr id="7" name="Shape 5"/>
          <p:cNvSpPr/>
          <p:nvPr/>
        </p:nvSpPr>
        <p:spPr>
          <a:xfrm>
            <a:off x="8595360" y="5125212"/>
            <a:ext cx="548640" cy="18288"/>
          </a:xfrm>
          <a:prstGeom prst="rect">
            <a:avLst/>
          </a:prstGeom>
          <a:solidFill>
            <a:srgbClr val="FF2D6B"/>
          </a:solidFill>
          <a:ln/>
        </p:spPr>
      </p:sp>
      <p:sp>
        <p:nvSpPr>
          <p:cNvPr id="8" name="Shape 6"/>
          <p:cNvSpPr/>
          <p:nvPr/>
        </p:nvSpPr>
        <p:spPr>
          <a:xfrm>
            <a:off x="914400" y="0"/>
            <a:ext cx="2743" cy="5143500"/>
          </a:xfrm>
          <a:prstGeom prst="rect">
            <a:avLst/>
          </a:prstGeom>
          <a:solidFill>
            <a:srgbClr val="1E2A3A">
              <a:alpha val="20000"/>
            </a:srgbClr>
          </a:solidFill>
          <a:ln/>
        </p:spPr>
      </p:sp>
      <p:sp>
        <p:nvSpPr>
          <p:cNvPr id="9" name="Shape 7"/>
          <p:cNvSpPr/>
          <p:nvPr/>
        </p:nvSpPr>
        <p:spPr>
          <a:xfrm>
            <a:off x="1828800" y="0"/>
            <a:ext cx="2743" cy="5143500"/>
          </a:xfrm>
          <a:prstGeom prst="rect">
            <a:avLst/>
          </a:prstGeom>
          <a:solidFill>
            <a:srgbClr val="1E2A3A">
              <a:alpha val="20000"/>
            </a:srgbClr>
          </a:solidFill>
          <a:ln/>
        </p:spPr>
      </p:sp>
      <p:sp>
        <p:nvSpPr>
          <p:cNvPr id="10" name="Shape 8"/>
          <p:cNvSpPr/>
          <p:nvPr/>
        </p:nvSpPr>
        <p:spPr>
          <a:xfrm>
            <a:off x="2743200" y="0"/>
            <a:ext cx="2743" cy="5143500"/>
          </a:xfrm>
          <a:prstGeom prst="rect">
            <a:avLst/>
          </a:prstGeom>
          <a:solidFill>
            <a:srgbClr val="1E2A3A">
              <a:alpha val="20000"/>
            </a:srgbClr>
          </a:solidFill>
          <a:ln/>
        </p:spPr>
      </p:sp>
      <p:sp>
        <p:nvSpPr>
          <p:cNvPr id="11" name="Shape 9"/>
          <p:cNvSpPr/>
          <p:nvPr/>
        </p:nvSpPr>
        <p:spPr>
          <a:xfrm>
            <a:off x="3657600" y="0"/>
            <a:ext cx="2743" cy="5143500"/>
          </a:xfrm>
          <a:prstGeom prst="rect">
            <a:avLst/>
          </a:prstGeom>
          <a:solidFill>
            <a:srgbClr val="1E2A3A">
              <a:alpha val="20000"/>
            </a:srgbClr>
          </a:solidFill>
          <a:ln/>
        </p:spPr>
      </p:sp>
      <p:sp>
        <p:nvSpPr>
          <p:cNvPr id="12" name="Shape 10"/>
          <p:cNvSpPr/>
          <p:nvPr/>
        </p:nvSpPr>
        <p:spPr>
          <a:xfrm>
            <a:off x="4572000" y="0"/>
            <a:ext cx="2743" cy="5143500"/>
          </a:xfrm>
          <a:prstGeom prst="rect">
            <a:avLst/>
          </a:prstGeom>
          <a:solidFill>
            <a:srgbClr val="1E2A3A">
              <a:alpha val="20000"/>
            </a:srgbClr>
          </a:solidFill>
          <a:ln/>
        </p:spPr>
      </p:sp>
      <p:sp>
        <p:nvSpPr>
          <p:cNvPr id="13" name="Shape 11"/>
          <p:cNvSpPr/>
          <p:nvPr/>
        </p:nvSpPr>
        <p:spPr>
          <a:xfrm>
            <a:off x="5486400" y="0"/>
            <a:ext cx="2743" cy="5143500"/>
          </a:xfrm>
          <a:prstGeom prst="rect">
            <a:avLst/>
          </a:prstGeom>
          <a:solidFill>
            <a:srgbClr val="1E2A3A">
              <a:alpha val="20000"/>
            </a:srgbClr>
          </a:solidFill>
          <a:ln/>
        </p:spPr>
      </p:sp>
      <p:sp>
        <p:nvSpPr>
          <p:cNvPr id="14" name="Shape 12"/>
          <p:cNvSpPr/>
          <p:nvPr/>
        </p:nvSpPr>
        <p:spPr>
          <a:xfrm>
            <a:off x="6400800" y="0"/>
            <a:ext cx="2743" cy="5143500"/>
          </a:xfrm>
          <a:prstGeom prst="rect">
            <a:avLst/>
          </a:prstGeom>
          <a:solidFill>
            <a:srgbClr val="1E2A3A">
              <a:alpha val="20000"/>
            </a:srgbClr>
          </a:solidFill>
          <a:ln/>
        </p:spPr>
      </p:sp>
      <p:sp>
        <p:nvSpPr>
          <p:cNvPr id="15" name="Shape 13"/>
          <p:cNvSpPr/>
          <p:nvPr/>
        </p:nvSpPr>
        <p:spPr>
          <a:xfrm>
            <a:off x="7315200" y="0"/>
            <a:ext cx="2743" cy="5143500"/>
          </a:xfrm>
          <a:prstGeom prst="rect">
            <a:avLst/>
          </a:prstGeom>
          <a:solidFill>
            <a:srgbClr val="1E2A3A">
              <a:alpha val="20000"/>
            </a:srgbClr>
          </a:solidFill>
          <a:ln/>
        </p:spPr>
      </p:sp>
      <p:sp>
        <p:nvSpPr>
          <p:cNvPr id="16" name="Shape 14"/>
          <p:cNvSpPr/>
          <p:nvPr/>
        </p:nvSpPr>
        <p:spPr>
          <a:xfrm>
            <a:off x="8229600" y="0"/>
            <a:ext cx="2743" cy="5143500"/>
          </a:xfrm>
          <a:prstGeom prst="rect">
            <a:avLst/>
          </a:prstGeom>
          <a:solidFill>
            <a:srgbClr val="1E2A3A">
              <a:alpha val="20000"/>
            </a:srgbClr>
          </a:solidFill>
          <a:ln/>
        </p:spPr>
      </p:sp>
      <p:sp>
        <p:nvSpPr>
          <p:cNvPr id="17" name="Text 15"/>
          <p:cNvSpPr/>
          <p:nvPr/>
        </p:nvSpPr>
        <p:spPr>
          <a:xfrm>
            <a:off x="640080" y="182880"/>
            <a:ext cx="7863840" cy="502920"/>
          </a:xfrm>
          <a:prstGeom prst="rect">
            <a:avLst/>
          </a:prstGeom>
          <a:noFill/>
          <a:ln/>
        </p:spPr>
        <p:txBody>
          <a:bodyPr wrap="square" lIns="0" tIns="0" rIns="0" bIns="0" rtlCol="0" anchor="ctr"/>
          <a:lstStyle/>
          <a:p>
            <a:pPr indent="0" marL="0">
              <a:buNone/>
            </a:pPr>
            <a:r>
              <a:rPr lang="en-US" sz="2200" b="1" spc="300" kern="0" dirty="0">
                <a:solidFill>
                  <a:srgbClr val="00F0FF"/>
                </a:solidFill>
                <a:latin typeface="Impact" pitchFamily="34" charset="0"/>
                <a:ea typeface="Impact" pitchFamily="34" charset="-122"/>
                <a:cs typeface="Impact" pitchFamily="34" charset="-120"/>
              </a:rPr>
              <a:t>LOBBY STRENGTH: NO TODOS LOS RIVALES VALEN IGUAL</a:t>
            </a:r>
            <a:endParaRPr lang="en-US" sz="2200" dirty="0"/>
          </a:p>
        </p:txBody>
      </p:sp>
      <p:sp>
        <p:nvSpPr>
          <p:cNvPr id="18" name="Shape 16"/>
          <p:cNvSpPr/>
          <p:nvPr/>
        </p:nvSpPr>
        <p:spPr>
          <a:xfrm>
            <a:off x="640080" y="713232"/>
            <a:ext cx="2286000" cy="22860"/>
          </a:xfrm>
          <a:prstGeom prst="rect">
            <a:avLst/>
          </a:prstGeom>
          <a:solidFill>
            <a:srgbClr val="FF2D6B"/>
          </a:solidFill>
          <a:ln/>
        </p:spPr>
      </p:sp>
      <p:sp>
        <p:nvSpPr>
          <p:cNvPr id="19" name="Shape 17"/>
          <p:cNvSpPr/>
          <p:nvPr/>
        </p:nvSpPr>
        <p:spPr>
          <a:xfrm>
            <a:off x="457200" y="1051560"/>
            <a:ext cx="3931920" cy="3200400"/>
          </a:xfrm>
          <a:prstGeom prst="rect">
            <a:avLst/>
          </a:prstGeom>
          <a:solidFill>
            <a:srgbClr val="12121E"/>
          </a:solidFill>
          <a:ln w="12700">
            <a:solidFill>
              <a:srgbClr val="FF2D6B"/>
            </a:solidFill>
            <a:prstDash val="solid"/>
          </a:ln>
        </p:spPr>
      </p:sp>
      <p:sp>
        <p:nvSpPr>
          <p:cNvPr id="20" name="Shape 18"/>
          <p:cNvSpPr/>
          <p:nvPr/>
        </p:nvSpPr>
        <p:spPr>
          <a:xfrm>
            <a:off x="457200" y="1051560"/>
            <a:ext cx="3931920" cy="22860"/>
          </a:xfrm>
          <a:prstGeom prst="rect">
            <a:avLst/>
          </a:prstGeom>
          <a:solidFill>
            <a:srgbClr val="FF2D6B"/>
          </a:solidFill>
          <a:ln/>
        </p:spPr>
      </p:sp>
      <p:sp>
        <p:nvSpPr>
          <p:cNvPr id="21" name="Text 19"/>
          <p:cNvSpPr/>
          <p:nvPr/>
        </p:nvSpPr>
        <p:spPr>
          <a:xfrm>
            <a:off x="594360" y="1143000"/>
            <a:ext cx="3657600" cy="274320"/>
          </a:xfrm>
          <a:prstGeom prst="rect">
            <a:avLst/>
          </a:prstGeom>
          <a:noFill/>
          <a:ln/>
        </p:spPr>
        <p:txBody>
          <a:bodyPr wrap="square" lIns="0" tIns="0" rIns="0" bIns="0" rtlCol="0" anchor="ctr"/>
          <a:lstStyle/>
          <a:p>
            <a:pPr indent="0" marL="0">
              <a:buNone/>
            </a:pPr>
            <a:r>
              <a:rPr lang="en-US" sz="1300" b="1" dirty="0">
                <a:solidFill>
                  <a:srgbClr val="FF2D6B"/>
                </a:solidFill>
                <a:latin typeface="Trebuchet MS" pitchFamily="34" charset="0"/>
                <a:ea typeface="Trebuchet MS" pitchFamily="34" charset="-122"/>
                <a:cs typeface="Trebuchet MS" pitchFamily="34" charset="-120"/>
              </a:rPr>
              <a:t>Lobby FUERTE</a:t>
            </a:r>
            <a:endParaRPr lang="en-US" sz="1300" dirty="0"/>
          </a:p>
        </p:txBody>
      </p:sp>
      <p:sp>
        <p:nvSpPr>
          <p:cNvPr id="22" name="Text 20"/>
          <p:cNvSpPr/>
          <p:nvPr/>
        </p:nvSpPr>
        <p:spPr>
          <a:xfrm>
            <a:off x="594360" y="1417320"/>
            <a:ext cx="3657600" cy="228600"/>
          </a:xfrm>
          <a:prstGeom prst="rect">
            <a:avLst/>
          </a:prstGeom>
          <a:noFill/>
          <a:ln/>
        </p:spPr>
        <p:txBody>
          <a:bodyPr wrap="square" lIns="0" tIns="0" rIns="0" bIns="0" rtlCol="0" anchor="ctr"/>
          <a:lstStyle/>
          <a:p>
            <a:pPr indent="0" marL="0">
              <a:buNone/>
            </a:pPr>
            <a:r>
              <a:rPr lang="en-US" sz="1000" dirty="0">
                <a:solidFill>
                  <a:srgbClr val="7A8BA8"/>
                </a:solidFill>
                <a:latin typeface="Trebuchet MS" pitchFamily="34" charset="0"/>
                <a:ea typeface="Trebuchet MS" pitchFamily="34" charset="-122"/>
                <a:cs typeface="Trebuchet MS" pitchFamily="34" charset="-120"/>
              </a:rPr>
              <a:t>16 equipos PRO/AM</a:t>
            </a:r>
            <a:endParaRPr lang="en-US" sz="1000" dirty="0"/>
          </a:p>
        </p:txBody>
      </p:sp>
      <p:sp>
        <p:nvSpPr>
          <p:cNvPr id="23" name="Shape 21"/>
          <p:cNvSpPr/>
          <p:nvPr/>
        </p:nvSpPr>
        <p:spPr>
          <a:xfrm>
            <a:off x="731520" y="1828800"/>
            <a:ext cx="274320" cy="274320"/>
          </a:xfrm>
          <a:prstGeom prst="ellipse">
            <a:avLst/>
          </a:prstGeom>
          <a:solidFill>
            <a:srgbClr val="FF2D6B"/>
          </a:solidFill>
          <a:ln/>
        </p:spPr>
      </p:sp>
      <p:sp>
        <p:nvSpPr>
          <p:cNvPr id="24" name="Shape 22"/>
          <p:cNvSpPr/>
          <p:nvPr/>
        </p:nvSpPr>
        <p:spPr>
          <a:xfrm>
            <a:off x="1170432" y="1828800"/>
            <a:ext cx="274320" cy="274320"/>
          </a:xfrm>
          <a:prstGeom prst="ellipse">
            <a:avLst/>
          </a:prstGeom>
          <a:solidFill>
            <a:srgbClr val="FF2D6B"/>
          </a:solidFill>
          <a:ln/>
        </p:spPr>
      </p:sp>
      <p:sp>
        <p:nvSpPr>
          <p:cNvPr id="25" name="Shape 23"/>
          <p:cNvSpPr/>
          <p:nvPr/>
        </p:nvSpPr>
        <p:spPr>
          <a:xfrm>
            <a:off x="1609344" y="1828800"/>
            <a:ext cx="274320" cy="274320"/>
          </a:xfrm>
          <a:prstGeom prst="ellipse">
            <a:avLst/>
          </a:prstGeom>
          <a:solidFill>
            <a:srgbClr val="FF2D6B"/>
          </a:solidFill>
          <a:ln/>
        </p:spPr>
      </p:sp>
      <p:sp>
        <p:nvSpPr>
          <p:cNvPr id="26" name="Shape 24"/>
          <p:cNvSpPr/>
          <p:nvPr/>
        </p:nvSpPr>
        <p:spPr>
          <a:xfrm>
            <a:off x="2048256" y="1828800"/>
            <a:ext cx="274320" cy="274320"/>
          </a:xfrm>
          <a:prstGeom prst="ellipse">
            <a:avLst/>
          </a:prstGeom>
          <a:solidFill>
            <a:srgbClr val="FF2D6B"/>
          </a:solidFill>
          <a:ln/>
        </p:spPr>
      </p:sp>
      <p:sp>
        <p:nvSpPr>
          <p:cNvPr id="27" name="Shape 25"/>
          <p:cNvSpPr/>
          <p:nvPr/>
        </p:nvSpPr>
        <p:spPr>
          <a:xfrm>
            <a:off x="2487168" y="1828800"/>
            <a:ext cx="274320" cy="274320"/>
          </a:xfrm>
          <a:prstGeom prst="ellipse">
            <a:avLst/>
          </a:prstGeom>
          <a:solidFill>
            <a:srgbClr val="FF2D6B"/>
          </a:solidFill>
          <a:ln/>
        </p:spPr>
      </p:sp>
      <p:sp>
        <p:nvSpPr>
          <p:cNvPr id="28" name="Shape 26"/>
          <p:cNvSpPr/>
          <p:nvPr/>
        </p:nvSpPr>
        <p:spPr>
          <a:xfrm>
            <a:off x="2926080" y="1828800"/>
            <a:ext cx="274320" cy="274320"/>
          </a:xfrm>
          <a:prstGeom prst="ellipse">
            <a:avLst/>
          </a:prstGeom>
          <a:solidFill>
            <a:srgbClr val="FF2D6B"/>
          </a:solidFill>
          <a:ln/>
        </p:spPr>
      </p:sp>
      <p:sp>
        <p:nvSpPr>
          <p:cNvPr id="29" name="Shape 27"/>
          <p:cNvSpPr/>
          <p:nvPr/>
        </p:nvSpPr>
        <p:spPr>
          <a:xfrm>
            <a:off x="3364992" y="1828800"/>
            <a:ext cx="274320" cy="274320"/>
          </a:xfrm>
          <a:prstGeom prst="ellipse">
            <a:avLst/>
          </a:prstGeom>
          <a:solidFill>
            <a:srgbClr val="FF2D6B"/>
          </a:solidFill>
          <a:ln/>
        </p:spPr>
      </p:sp>
      <p:sp>
        <p:nvSpPr>
          <p:cNvPr id="30" name="Shape 28"/>
          <p:cNvSpPr/>
          <p:nvPr/>
        </p:nvSpPr>
        <p:spPr>
          <a:xfrm>
            <a:off x="3803904" y="1828800"/>
            <a:ext cx="274320" cy="274320"/>
          </a:xfrm>
          <a:prstGeom prst="ellipse">
            <a:avLst/>
          </a:prstGeom>
          <a:solidFill>
            <a:srgbClr val="FF2D6B"/>
          </a:solidFill>
          <a:ln/>
        </p:spPr>
      </p:sp>
      <p:sp>
        <p:nvSpPr>
          <p:cNvPr id="31" name="Shape 29"/>
          <p:cNvSpPr/>
          <p:nvPr/>
        </p:nvSpPr>
        <p:spPr>
          <a:xfrm>
            <a:off x="731520" y="2240280"/>
            <a:ext cx="274320" cy="274320"/>
          </a:xfrm>
          <a:prstGeom prst="ellipse">
            <a:avLst/>
          </a:prstGeom>
          <a:solidFill>
            <a:srgbClr val="FF2D6B"/>
          </a:solidFill>
          <a:ln/>
        </p:spPr>
      </p:sp>
      <p:sp>
        <p:nvSpPr>
          <p:cNvPr id="32" name="Shape 30"/>
          <p:cNvSpPr/>
          <p:nvPr/>
        </p:nvSpPr>
        <p:spPr>
          <a:xfrm>
            <a:off x="1170432" y="2240280"/>
            <a:ext cx="274320" cy="274320"/>
          </a:xfrm>
          <a:prstGeom prst="ellipse">
            <a:avLst/>
          </a:prstGeom>
          <a:solidFill>
            <a:srgbClr val="FF2D6B"/>
          </a:solidFill>
          <a:ln/>
        </p:spPr>
      </p:sp>
      <p:sp>
        <p:nvSpPr>
          <p:cNvPr id="33" name="Shape 31"/>
          <p:cNvSpPr/>
          <p:nvPr/>
        </p:nvSpPr>
        <p:spPr>
          <a:xfrm>
            <a:off x="1609344" y="2240280"/>
            <a:ext cx="274320" cy="274320"/>
          </a:xfrm>
          <a:prstGeom prst="ellipse">
            <a:avLst/>
          </a:prstGeom>
          <a:solidFill>
            <a:srgbClr val="00F0FF"/>
          </a:solidFill>
          <a:ln/>
        </p:spPr>
      </p:sp>
      <p:sp>
        <p:nvSpPr>
          <p:cNvPr id="34" name="Shape 32"/>
          <p:cNvSpPr/>
          <p:nvPr/>
        </p:nvSpPr>
        <p:spPr>
          <a:xfrm>
            <a:off x="2048256" y="2240280"/>
            <a:ext cx="274320" cy="274320"/>
          </a:xfrm>
          <a:prstGeom prst="ellipse">
            <a:avLst/>
          </a:prstGeom>
          <a:solidFill>
            <a:srgbClr val="00F0FF"/>
          </a:solidFill>
          <a:ln/>
        </p:spPr>
      </p:sp>
      <p:sp>
        <p:nvSpPr>
          <p:cNvPr id="35" name="Shape 33"/>
          <p:cNvSpPr/>
          <p:nvPr/>
        </p:nvSpPr>
        <p:spPr>
          <a:xfrm>
            <a:off x="2487168" y="2240280"/>
            <a:ext cx="274320" cy="274320"/>
          </a:xfrm>
          <a:prstGeom prst="ellipse">
            <a:avLst/>
          </a:prstGeom>
          <a:solidFill>
            <a:srgbClr val="00F0FF"/>
          </a:solidFill>
          <a:ln/>
        </p:spPr>
      </p:sp>
      <p:sp>
        <p:nvSpPr>
          <p:cNvPr id="36" name="Shape 34"/>
          <p:cNvSpPr/>
          <p:nvPr/>
        </p:nvSpPr>
        <p:spPr>
          <a:xfrm>
            <a:off x="2926080" y="2240280"/>
            <a:ext cx="274320" cy="274320"/>
          </a:xfrm>
          <a:prstGeom prst="ellipse">
            <a:avLst/>
          </a:prstGeom>
          <a:solidFill>
            <a:srgbClr val="00F0FF"/>
          </a:solidFill>
          <a:ln/>
        </p:spPr>
      </p:sp>
      <p:sp>
        <p:nvSpPr>
          <p:cNvPr id="37" name="Shape 35"/>
          <p:cNvSpPr/>
          <p:nvPr/>
        </p:nvSpPr>
        <p:spPr>
          <a:xfrm>
            <a:off x="3364992" y="2240280"/>
            <a:ext cx="274320" cy="274320"/>
          </a:xfrm>
          <a:prstGeom prst="ellipse">
            <a:avLst/>
          </a:prstGeom>
          <a:solidFill>
            <a:srgbClr val="00F0FF"/>
          </a:solidFill>
          <a:ln/>
        </p:spPr>
      </p:sp>
      <p:sp>
        <p:nvSpPr>
          <p:cNvPr id="38" name="Shape 36"/>
          <p:cNvSpPr/>
          <p:nvPr/>
        </p:nvSpPr>
        <p:spPr>
          <a:xfrm>
            <a:off x="3803904" y="2240280"/>
            <a:ext cx="274320" cy="274320"/>
          </a:xfrm>
          <a:prstGeom prst="ellipse">
            <a:avLst/>
          </a:prstGeom>
          <a:solidFill>
            <a:srgbClr val="00F0FF"/>
          </a:solidFill>
          <a:ln/>
        </p:spPr>
      </p:sp>
      <p:sp>
        <p:nvSpPr>
          <p:cNvPr id="39" name="Text 37"/>
          <p:cNvSpPr/>
          <p:nvPr/>
        </p:nvSpPr>
        <p:spPr>
          <a:xfrm>
            <a:off x="594360" y="2834640"/>
            <a:ext cx="3657600" cy="1188720"/>
          </a:xfrm>
          <a:prstGeom prst="rect">
            <a:avLst/>
          </a:prstGeom>
          <a:noFill/>
          <a:ln/>
        </p:spPr>
        <p:txBody>
          <a:bodyPr wrap="square" rtlCol="0" anchor="t"/>
          <a:lstStyle/>
          <a:p>
            <a:pPr indent="0" marL="0">
              <a:buNone/>
            </a:pPr>
            <a:r>
              <a:rPr lang="en-US" sz="1100" b="1" dirty="0">
                <a:solidFill>
                  <a:srgbClr val="E8E8F0"/>
                </a:solidFill>
                <a:latin typeface="Trebuchet MS" pitchFamily="34" charset="0"/>
                <a:ea typeface="Trebuchet MS" pitchFamily="34" charset="-122"/>
                <a:cs typeface="Trebuchet MS" pitchFamily="34" charset="-120"/>
              </a:rPr>
              <a:t>Ganar aqui:</a:t>
            </a:r>
            <a:endParaRPr lang="en-US" sz="1100" dirty="0"/>
          </a:p>
          <a:p>
            <a:pPr indent="0" marL="0">
              <a:buNone/>
            </a:pPr>
            <a:r>
              <a:rPr lang="en-US" sz="1000" dirty="0">
                <a:solidFill>
                  <a:srgbClr val="39FF14"/>
                </a:solidFill>
                <a:latin typeface="Trebuchet MS" pitchFamily="34" charset="0"/>
                <a:ea typeface="Trebuchet MS" pitchFamily="34" charset="-122"/>
                <a:cs typeface="Trebuchet MS" pitchFamily="34" charset="-120"/>
              </a:rPr>
              <a:t>mu sube MAS, sigma baja MAS</a:t>
            </a:r>
            <a:endParaRPr lang="en-US" sz="1100" dirty="0"/>
          </a:p>
          <a:p>
            <a:pPr indent="0" marL="0">
              <a:buNone/>
            </a:pPr>
            <a:r>
              <a:rPr lang="en-US" sz="900" i="1" dirty="0">
                <a:solidFill>
                  <a:srgbClr val="7A8BA8"/>
                </a:solidFill>
                <a:latin typeface="Trebuchet MS" pitchFamily="34" charset="0"/>
                <a:ea typeface="Trebuchet MS" pitchFamily="34" charset="-122"/>
                <a:cs typeface="Trebuchet MS" pitchFamily="34" charset="-120"/>
              </a:rPr>
              <a:t>Derrotar rivales fuertes = evidencia fuerte</a:t>
            </a:r>
            <a:endParaRPr lang="en-US" sz="1100" dirty="0"/>
          </a:p>
        </p:txBody>
      </p:sp>
      <p:sp>
        <p:nvSpPr>
          <p:cNvPr id="40" name="Shape 38"/>
          <p:cNvSpPr/>
          <p:nvPr/>
        </p:nvSpPr>
        <p:spPr>
          <a:xfrm>
            <a:off x="4754880" y="1051560"/>
            <a:ext cx="3931920" cy="3200400"/>
          </a:xfrm>
          <a:prstGeom prst="rect">
            <a:avLst/>
          </a:prstGeom>
          <a:solidFill>
            <a:srgbClr val="12121E"/>
          </a:solidFill>
          <a:ln w="12700">
            <a:solidFill>
              <a:srgbClr val="7A8BA8"/>
            </a:solidFill>
            <a:prstDash val="solid"/>
          </a:ln>
        </p:spPr>
      </p:sp>
      <p:sp>
        <p:nvSpPr>
          <p:cNvPr id="41" name="Shape 39"/>
          <p:cNvSpPr/>
          <p:nvPr/>
        </p:nvSpPr>
        <p:spPr>
          <a:xfrm>
            <a:off x="4754880" y="1051560"/>
            <a:ext cx="3931920" cy="22860"/>
          </a:xfrm>
          <a:prstGeom prst="rect">
            <a:avLst/>
          </a:prstGeom>
          <a:solidFill>
            <a:srgbClr val="7A8BA8"/>
          </a:solidFill>
          <a:ln/>
        </p:spPr>
      </p:sp>
      <p:sp>
        <p:nvSpPr>
          <p:cNvPr id="42" name="Text 40"/>
          <p:cNvSpPr/>
          <p:nvPr/>
        </p:nvSpPr>
        <p:spPr>
          <a:xfrm>
            <a:off x="4892040" y="1143000"/>
            <a:ext cx="3657600" cy="274320"/>
          </a:xfrm>
          <a:prstGeom prst="rect">
            <a:avLst/>
          </a:prstGeom>
          <a:noFill/>
          <a:ln/>
        </p:spPr>
        <p:txBody>
          <a:bodyPr wrap="square" lIns="0" tIns="0" rIns="0" bIns="0" rtlCol="0" anchor="ctr"/>
          <a:lstStyle/>
          <a:p>
            <a:pPr indent="0" marL="0">
              <a:buNone/>
            </a:pPr>
            <a:r>
              <a:rPr lang="en-US" sz="1300" b="1" dirty="0">
                <a:solidFill>
                  <a:srgbClr val="7A8BA8"/>
                </a:solidFill>
                <a:latin typeface="Trebuchet MS" pitchFamily="34" charset="0"/>
                <a:ea typeface="Trebuchet MS" pitchFamily="34" charset="-122"/>
                <a:cs typeface="Trebuchet MS" pitchFamily="34" charset="-120"/>
              </a:rPr>
              <a:t>Lobby DEBIL</a:t>
            </a:r>
            <a:endParaRPr lang="en-US" sz="1300" dirty="0"/>
          </a:p>
        </p:txBody>
      </p:sp>
      <p:sp>
        <p:nvSpPr>
          <p:cNvPr id="43" name="Text 41"/>
          <p:cNvSpPr/>
          <p:nvPr/>
        </p:nvSpPr>
        <p:spPr>
          <a:xfrm>
            <a:off x="4892040" y="1417320"/>
            <a:ext cx="3657600" cy="228600"/>
          </a:xfrm>
          <a:prstGeom prst="rect">
            <a:avLst/>
          </a:prstGeom>
          <a:noFill/>
          <a:ln/>
        </p:spPr>
        <p:txBody>
          <a:bodyPr wrap="square" lIns="0" tIns="0" rIns="0" bIns="0" rtlCol="0" anchor="ctr"/>
          <a:lstStyle/>
          <a:p>
            <a:pPr indent="0" marL="0">
              <a:buNone/>
            </a:pPr>
            <a:r>
              <a:rPr lang="en-US" sz="1000" dirty="0">
                <a:solidFill>
                  <a:srgbClr val="7A8BA8"/>
                </a:solidFill>
                <a:latin typeface="Trebuchet MS" pitchFamily="34" charset="0"/>
                <a:ea typeface="Trebuchet MS" pitchFamily="34" charset="-122"/>
                <a:cs typeface="Trebuchet MS" pitchFamily="34" charset="-120"/>
              </a:rPr>
              <a:t>10 equipos calibrando/nuevos</a:t>
            </a:r>
            <a:endParaRPr lang="en-US" sz="1000" dirty="0"/>
          </a:p>
        </p:txBody>
      </p:sp>
      <p:sp>
        <p:nvSpPr>
          <p:cNvPr id="44" name="Shape 42"/>
          <p:cNvSpPr/>
          <p:nvPr/>
        </p:nvSpPr>
        <p:spPr>
          <a:xfrm>
            <a:off x="5029200" y="1828800"/>
            <a:ext cx="274320" cy="274320"/>
          </a:xfrm>
          <a:prstGeom prst="ellipse">
            <a:avLst/>
          </a:prstGeom>
          <a:solidFill>
            <a:srgbClr val="1E2A3A"/>
          </a:solidFill>
          <a:ln/>
        </p:spPr>
      </p:sp>
      <p:sp>
        <p:nvSpPr>
          <p:cNvPr id="45" name="Shape 43"/>
          <p:cNvSpPr/>
          <p:nvPr/>
        </p:nvSpPr>
        <p:spPr>
          <a:xfrm>
            <a:off x="5532120" y="1828800"/>
            <a:ext cx="274320" cy="274320"/>
          </a:xfrm>
          <a:prstGeom prst="ellipse">
            <a:avLst/>
          </a:prstGeom>
          <a:solidFill>
            <a:srgbClr val="1E2A3A"/>
          </a:solidFill>
          <a:ln/>
        </p:spPr>
      </p:sp>
      <p:sp>
        <p:nvSpPr>
          <p:cNvPr id="46" name="Shape 44"/>
          <p:cNvSpPr/>
          <p:nvPr/>
        </p:nvSpPr>
        <p:spPr>
          <a:xfrm>
            <a:off x="6035040" y="1828800"/>
            <a:ext cx="274320" cy="274320"/>
          </a:xfrm>
          <a:prstGeom prst="ellipse">
            <a:avLst/>
          </a:prstGeom>
          <a:solidFill>
            <a:srgbClr val="1E2A3A"/>
          </a:solidFill>
          <a:ln/>
        </p:spPr>
      </p:sp>
      <p:sp>
        <p:nvSpPr>
          <p:cNvPr id="47" name="Shape 45"/>
          <p:cNvSpPr/>
          <p:nvPr/>
        </p:nvSpPr>
        <p:spPr>
          <a:xfrm>
            <a:off x="6537960" y="1828800"/>
            <a:ext cx="274320" cy="274320"/>
          </a:xfrm>
          <a:prstGeom prst="ellipse">
            <a:avLst/>
          </a:prstGeom>
          <a:solidFill>
            <a:srgbClr val="1E2A3A"/>
          </a:solidFill>
          <a:ln/>
        </p:spPr>
      </p:sp>
      <p:sp>
        <p:nvSpPr>
          <p:cNvPr id="48" name="Shape 46"/>
          <p:cNvSpPr/>
          <p:nvPr/>
        </p:nvSpPr>
        <p:spPr>
          <a:xfrm>
            <a:off x="7040880" y="1828800"/>
            <a:ext cx="274320" cy="274320"/>
          </a:xfrm>
          <a:prstGeom prst="ellipse">
            <a:avLst/>
          </a:prstGeom>
          <a:solidFill>
            <a:srgbClr val="1E2A3A"/>
          </a:solidFill>
          <a:ln/>
        </p:spPr>
      </p:sp>
      <p:sp>
        <p:nvSpPr>
          <p:cNvPr id="49" name="Shape 47"/>
          <p:cNvSpPr/>
          <p:nvPr/>
        </p:nvSpPr>
        <p:spPr>
          <a:xfrm>
            <a:off x="5029200" y="2240280"/>
            <a:ext cx="274320" cy="274320"/>
          </a:xfrm>
          <a:prstGeom prst="ellipse">
            <a:avLst/>
          </a:prstGeom>
          <a:solidFill>
            <a:srgbClr val="1E2A3A"/>
          </a:solidFill>
          <a:ln/>
        </p:spPr>
      </p:sp>
      <p:sp>
        <p:nvSpPr>
          <p:cNvPr id="50" name="Shape 48"/>
          <p:cNvSpPr/>
          <p:nvPr/>
        </p:nvSpPr>
        <p:spPr>
          <a:xfrm>
            <a:off x="5532120" y="2240280"/>
            <a:ext cx="274320" cy="274320"/>
          </a:xfrm>
          <a:prstGeom prst="ellipse">
            <a:avLst/>
          </a:prstGeom>
          <a:solidFill>
            <a:srgbClr val="1E2A3A"/>
          </a:solidFill>
          <a:ln/>
        </p:spPr>
      </p:sp>
      <p:sp>
        <p:nvSpPr>
          <p:cNvPr id="51" name="Shape 49"/>
          <p:cNvSpPr/>
          <p:nvPr/>
        </p:nvSpPr>
        <p:spPr>
          <a:xfrm>
            <a:off x="6035040" y="2240280"/>
            <a:ext cx="274320" cy="274320"/>
          </a:xfrm>
          <a:prstGeom prst="ellipse">
            <a:avLst/>
          </a:prstGeom>
          <a:solidFill>
            <a:srgbClr val="1E2A3A"/>
          </a:solidFill>
          <a:ln/>
        </p:spPr>
      </p:sp>
      <p:sp>
        <p:nvSpPr>
          <p:cNvPr id="52" name="Shape 50"/>
          <p:cNvSpPr/>
          <p:nvPr/>
        </p:nvSpPr>
        <p:spPr>
          <a:xfrm>
            <a:off x="6537960" y="2240280"/>
            <a:ext cx="274320" cy="274320"/>
          </a:xfrm>
          <a:prstGeom prst="ellipse">
            <a:avLst/>
          </a:prstGeom>
          <a:solidFill>
            <a:srgbClr val="1E2A3A"/>
          </a:solidFill>
          <a:ln/>
        </p:spPr>
      </p:sp>
      <p:sp>
        <p:nvSpPr>
          <p:cNvPr id="53" name="Shape 51"/>
          <p:cNvSpPr/>
          <p:nvPr/>
        </p:nvSpPr>
        <p:spPr>
          <a:xfrm>
            <a:off x="7040880" y="2240280"/>
            <a:ext cx="274320" cy="274320"/>
          </a:xfrm>
          <a:prstGeom prst="ellipse">
            <a:avLst/>
          </a:prstGeom>
          <a:solidFill>
            <a:srgbClr val="1E2A3A"/>
          </a:solidFill>
          <a:ln/>
        </p:spPr>
      </p:sp>
      <p:sp>
        <p:nvSpPr>
          <p:cNvPr id="54" name="Text 52"/>
          <p:cNvSpPr/>
          <p:nvPr/>
        </p:nvSpPr>
        <p:spPr>
          <a:xfrm>
            <a:off x="4892040" y="2834640"/>
            <a:ext cx="3657600" cy="1188720"/>
          </a:xfrm>
          <a:prstGeom prst="rect">
            <a:avLst/>
          </a:prstGeom>
          <a:noFill/>
          <a:ln/>
        </p:spPr>
        <p:txBody>
          <a:bodyPr wrap="square" rtlCol="0" anchor="t"/>
          <a:lstStyle/>
          <a:p>
            <a:pPr indent="0" marL="0">
              <a:buNone/>
            </a:pPr>
            <a:r>
              <a:rPr lang="en-US" sz="1100" b="1" dirty="0">
                <a:solidFill>
                  <a:srgbClr val="E8E8F0"/>
                </a:solidFill>
                <a:latin typeface="Trebuchet MS" pitchFamily="34" charset="0"/>
                <a:ea typeface="Trebuchet MS" pitchFamily="34" charset="-122"/>
                <a:cs typeface="Trebuchet MS" pitchFamily="34" charset="-120"/>
              </a:rPr>
              <a:t>Ganar aqui:</a:t>
            </a:r>
            <a:endParaRPr lang="en-US" sz="1100" dirty="0"/>
          </a:p>
          <a:p>
            <a:pPr indent="0" marL="0">
              <a:buNone/>
            </a:pPr>
            <a:r>
              <a:rPr lang="en-US" sz="1000" dirty="0">
                <a:solidFill>
                  <a:srgbClr val="FF6B35"/>
                </a:solidFill>
                <a:latin typeface="Trebuchet MS" pitchFamily="34" charset="0"/>
                <a:ea typeface="Trebuchet MS" pitchFamily="34" charset="-122"/>
                <a:cs typeface="Trebuchet MS" pitchFamily="34" charset="-120"/>
              </a:rPr>
              <a:t>mu sube POCO, sigma baja POCO</a:t>
            </a:r>
            <a:endParaRPr lang="en-US" sz="1100" dirty="0"/>
          </a:p>
          <a:p>
            <a:pPr indent="0" marL="0">
              <a:buNone/>
            </a:pPr>
            <a:r>
              <a:rPr lang="en-US" sz="900" i="1" dirty="0">
                <a:solidFill>
                  <a:srgbClr val="7A8BA8"/>
                </a:solidFill>
                <a:latin typeface="Trebuchet MS" pitchFamily="34" charset="0"/>
                <a:ea typeface="Trebuchet MS" pitchFamily="34" charset="-122"/>
                <a:cs typeface="Trebuchet MS" pitchFamily="34" charset="-120"/>
              </a:rPr>
              <a:t>Derrotar rivales debiles = evidencia debil</a:t>
            </a:r>
            <a:endParaRPr lang="en-US" sz="1100" dirty="0"/>
          </a:p>
        </p:txBody>
      </p:sp>
      <p:sp>
        <p:nvSpPr>
          <p:cNvPr id="55" name="Text 53"/>
          <p:cNvSpPr/>
          <p:nvPr/>
        </p:nvSpPr>
        <p:spPr>
          <a:xfrm>
            <a:off x="457200" y="4709160"/>
            <a:ext cx="8229600" cy="274320"/>
          </a:xfrm>
          <a:prstGeom prst="rect">
            <a:avLst/>
          </a:prstGeom>
          <a:noFill/>
          <a:ln/>
        </p:spPr>
        <p:txBody>
          <a:bodyPr wrap="square" rtlCol="0" anchor="ctr"/>
          <a:lstStyle/>
          <a:p>
            <a:pPr indent="0" marL="0">
              <a:buNone/>
            </a:pPr>
            <a:r>
              <a:rPr lang="en-US" sz="700" i="1" dirty="0">
                <a:solidFill>
                  <a:srgbClr val="7A8BA8"/>
                </a:solidFill>
                <a:latin typeface="Consolas" pitchFamily="34" charset="0"/>
                <a:ea typeface="Consolas" pitchFamily="34" charset="-122"/>
                <a:cs typeface="Consolas" pitchFamily="34" charset="-120"/>
              </a:rPr>
              <a:t>Fuente: docs/psr-audit/06-ejemplos-evolucion.md (Ejemplo 6)</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00F0FF"/>
          </a:solidFill>
          <a:ln/>
        </p:spPr>
      </p:sp>
      <p:sp>
        <p:nvSpPr>
          <p:cNvPr id="3" name="Shape 1"/>
          <p:cNvSpPr/>
          <p:nvPr/>
        </p:nvSpPr>
        <p:spPr>
          <a:xfrm>
            <a:off x="0" y="5125212"/>
            <a:ext cx="9144000" cy="18288"/>
          </a:xfrm>
          <a:prstGeom prst="rect">
            <a:avLst/>
          </a:prstGeom>
          <a:solidFill>
            <a:srgbClr val="FF2D6B"/>
          </a:solidFill>
          <a:ln/>
        </p:spPr>
      </p:sp>
      <p:sp>
        <p:nvSpPr>
          <p:cNvPr id="4" name="Shape 2"/>
          <p:cNvSpPr/>
          <p:nvPr/>
        </p:nvSpPr>
        <p:spPr>
          <a:xfrm>
            <a:off x="0" y="0"/>
            <a:ext cx="18288" cy="548640"/>
          </a:xfrm>
          <a:prstGeom prst="rect">
            <a:avLst/>
          </a:prstGeom>
          <a:solidFill>
            <a:srgbClr val="00F0FF"/>
          </a:solidFill>
          <a:ln/>
        </p:spPr>
      </p:sp>
      <p:sp>
        <p:nvSpPr>
          <p:cNvPr id="5" name="Shape 3"/>
          <p:cNvSpPr/>
          <p:nvPr/>
        </p:nvSpPr>
        <p:spPr>
          <a:xfrm>
            <a:off x="0" y="0"/>
            <a:ext cx="548640" cy="18288"/>
          </a:xfrm>
          <a:prstGeom prst="rect">
            <a:avLst/>
          </a:prstGeom>
          <a:solidFill>
            <a:srgbClr val="00F0FF"/>
          </a:solidFill>
          <a:ln/>
        </p:spPr>
      </p:sp>
      <p:sp>
        <p:nvSpPr>
          <p:cNvPr id="6" name="Shape 4"/>
          <p:cNvSpPr/>
          <p:nvPr/>
        </p:nvSpPr>
        <p:spPr>
          <a:xfrm>
            <a:off x="9125712" y="4594860"/>
            <a:ext cx="18288" cy="548640"/>
          </a:xfrm>
          <a:prstGeom prst="rect">
            <a:avLst/>
          </a:prstGeom>
          <a:solidFill>
            <a:srgbClr val="FF2D6B"/>
          </a:solidFill>
          <a:ln/>
        </p:spPr>
      </p:sp>
      <p:sp>
        <p:nvSpPr>
          <p:cNvPr id="7" name="Shape 5"/>
          <p:cNvSpPr/>
          <p:nvPr/>
        </p:nvSpPr>
        <p:spPr>
          <a:xfrm>
            <a:off x="8595360" y="5125212"/>
            <a:ext cx="548640" cy="18288"/>
          </a:xfrm>
          <a:prstGeom prst="rect">
            <a:avLst/>
          </a:prstGeom>
          <a:solidFill>
            <a:srgbClr val="FF2D6B"/>
          </a:solidFill>
          <a:ln/>
        </p:spPr>
      </p:sp>
      <p:sp>
        <p:nvSpPr>
          <p:cNvPr id="8" name="Shape 6"/>
          <p:cNvSpPr/>
          <p:nvPr/>
        </p:nvSpPr>
        <p:spPr>
          <a:xfrm>
            <a:off x="914400" y="0"/>
            <a:ext cx="2743" cy="5143500"/>
          </a:xfrm>
          <a:prstGeom prst="rect">
            <a:avLst/>
          </a:prstGeom>
          <a:solidFill>
            <a:srgbClr val="1E2A3A">
              <a:alpha val="20000"/>
            </a:srgbClr>
          </a:solidFill>
          <a:ln/>
        </p:spPr>
      </p:sp>
      <p:sp>
        <p:nvSpPr>
          <p:cNvPr id="9" name="Shape 7"/>
          <p:cNvSpPr/>
          <p:nvPr/>
        </p:nvSpPr>
        <p:spPr>
          <a:xfrm>
            <a:off x="1828800" y="0"/>
            <a:ext cx="2743" cy="5143500"/>
          </a:xfrm>
          <a:prstGeom prst="rect">
            <a:avLst/>
          </a:prstGeom>
          <a:solidFill>
            <a:srgbClr val="1E2A3A">
              <a:alpha val="20000"/>
            </a:srgbClr>
          </a:solidFill>
          <a:ln/>
        </p:spPr>
      </p:sp>
      <p:sp>
        <p:nvSpPr>
          <p:cNvPr id="10" name="Shape 8"/>
          <p:cNvSpPr/>
          <p:nvPr/>
        </p:nvSpPr>
        <p:spPr>
          <a:xfrm>
            <a:off x="2743200" y="0"/>
            <a:ext cx="2743" cy="5143500"/>
          </a:xfrm>
          <a:prstGeom prst="rect">
            <a:avLst/>
          </a:prstGeom>
          <a:solidFill>
            <a:srgbClr val="1E2A3A">
              <a:alpha val="20000"/>
            </a:srgbClr>
          </a:solidFill>
          <a:ln/>
        </p:spPr>
      </p:sp>
      <p:sp>
        <p:nvSpPr>
          <p:cNvPr id="11" name="Shape 9"/>
          <p:cNvSpPr/>
          <p:nvPr/>
        </p:nvSpPr>
        <p:spPr>
          <a:xfrm>
            <a:off x="3657600" y="0"/>
            <a:ext cx="2743" cy="5143500"/>
          </a:xfrm>
          <a:prstGeom prst="rect">
            <a:avLst/>
          </a:prstGeom>
          <a:solidFill>
            <a:srgbClr val="1E2A3A">
              <a:alpha val="20000"/>
            </a:srgbClr>
          </a:solidFill>
          <a:ln/>
        </p:spPr>
      </p:sp>
      <p:sp>
        <p:nvSpPr>
          <p:cNvPr id="12" name="Shape 10"/>
          <p:cNvSpPr/>
          <p:nvPr/>
        </p:nvSpPr>
        <p:spPr>
          <a:xfrm>
            <a:off x="4572000" y="0"/>
            <a:ext cx="2743" cy="5143500"/>
          </a:xfrm>
          <a:prstGeom prst="rect">
            <a:avLst/>
          </a:prstGeom>
          <a:solidFill>
            <a:srgbClr val="1E2A3A">
              <a:alpha val="20000"/>
            </a:srgbClr>
          </a:solidFill>
          <a:ln/>
        </p:spPr>
      </p:sp>
      <p:sp>
        <p:nvSpPr>
          <p:cNvPr id="13" name="Shape 11"/>
          <p:cNvSpPr/>
          <p:nvPr/>
        </p:nvSpPr>
        <p:spPr>
          <a:xfrm>
            <a:off x="5486400" y="0"/>
            <a:ext cx="2743" cy="5143500"/>
          </a:xfrm>
          <a:prstGeom prst="rect">
            <a:avLst/>
          </a:prstGeom>
          <a:solidFill>
            <a:srgbClr val="1E2A3A">
              <a:alpha val="20000"/>
            </a:srgbClr>
          </a:solidFill>
          <a:ln/>
        </p:spPr>
      </p:sp>
      <p:sp>
        <p:nvSpPr>
          <p:cNvPr id="14" name="Shape 12"/>
          <p:cNvSpPr/>
          <p:nvPr/>
        </p:nvSpPr>
        <p:spPr>
          <a:xfrm>
            <a:off x="6400800" y="0"/>
            <a:ext cx="2743" cy="5143500"/>
          </a:xfrm>
          <a:prstGeom prst="rect">
            <a:avLst/>
          </a:prstGeom>
          <a:solidFill>
            <a:srgbClr val="1E2A3A">
              <a:alpha val="20000"/>
            </a:srgbClr>
          </a:solidFill>
          <a:ln/>
        </p:spPr>
      </p:sp>
      <p:sp>
        <p:nvSpPr>
          <p:cNvPr id="15" name="Shape 13"/>
          <p:cNvSpPr/>
          <p:nvPr/>
        </p:nvSpPr>
        <p:spPr>
          <a:xfrm>
            <a:off x="7315200" y="0"/>
            <a:ext cx="2743" cy="5143500"/>
          </a:xfrm>
          <a:prstGeom prst="rect">
            <a:avLst/>
          </a:prstGeom>
          <a:solidFill>
            <a:srgbClr val="1E2A3A">
              <a:alpha val="20000"/>
            </a:srgbClr>
          </a:solidFill>
          <a:ln/>
        </p:spPr>
      </p:sp>
      <p:sp>
        <p:nvSpPr>
          <p:cNvPr id="16" name="Shape 14"/>
          <p:cNvSpPr/>
          <p:nvPr/>
        </p:nvSpPr>
        <p:spPr>
          <a:xfrm>
            <a:off x="8229600" y="0"/>
            <a:ext cx="2743" cy="5143500"/>
          </a:xfrm>
          <a:prstGeom prst="rect">
            <a:avLst/>
          </a:prstGeom>
          <a:solidFill>
            <a:srgbClr val="1E2A3A">
              <a:alpha val="20000"/>
            </a:srgbClr>
          </a:solidFill>
          <a:ln/>
        </p:spPr>
      </p:sp>
      <p:sp>
        <p:nvSpPr>
          <p:cNvPr id="17" name="Text 15"/>
          <p:cNvSpPr/>
          <p:nvPr/>
        </p:nvSpPr>
        <p:spPr>
          <a:xfrm>
            <a:off x="640080" y="182880"/>
            <a:ext cx="7863840" cy="502920"/>
          </a:xfrm>
          <a:prstGeom prst="rect">
            <a:avLst/>
          </a:prstGeom>
          <a:noFill/>
          <a:ln/>
        </p:spPr>
        <p:txBody>
          <a:bodyPr wrap="square" lIns="0" tIns="0" rIns="0" bIns="0" rtlCol="0" anchor="ctr"/>
          <a:lstStyle/>
          <a:p>
            <a:pPr indent="0" marL="0">
              <a:buNone/>
            </a:pPr>
            <a:r>
              <a:rPr lang="en-US" sz="2200" b="1" spc="300" kern="0" dirty="0">
                <a:solidFill>
                  <a:srgbClr val="00F0FF"/>
                </a:solidFill>
                <a:latin typeface="Impact" pitchFamily="34" charset="0"/>
                <a:ea typeface="Impact" pitchFamily="34" charset="-122"/>
                <a:cs typeface="Impact" pitchFamily="34" charset="-120"/>
              </a:rPr>
              <a:t>CLASIFICACION: DE DETRI A PRO</a:t>
            </a:r>
            <a:endParaRPr lang="en-US" sz="2200" dirty="0"/>
          </a:p>
        </p:txBody>
      </p:sp>
      <p:sp>
        <p:nvSpPr>
          <p:cNvPr id="18" name="Shape 16"/>
          <p:cNvSpPr/>
          <p:nvPr/>
        </p:nvSpPr>
        <p:spPr>
          <a:xfrm>
            <a:off x="640080" y="713232"/>
            <a:ext cx="2286000" cy="22860"/>
          </a:xfrm>
          <a:prstGeom prst="rect">
            <a:avLst/>
          </a:prstGeom>
          <a:solidFill>
            <a:srgbClr val="FF2D6B"/>
          </a:solidFill>
          <a:ln/>
        </p:spPr>
      </p:sp>
      <p:sp>
        <p:nvSpPr>
          <p:cNvPr id="19" name="Shape 17"/>
          <p:cNvSpPr/>
          <p:nvPr/>
        </p:nvSpPr>
        <p:spPr>
          <a:xfrm>
            <a:off x="640080" y="1280160"/>
            <a:ext cx="3291840" cy="731520"/>
          </a:xfrm>
          <a:prstGeom prst="rect">
            <a:avLst/>
          </a:prstGeom>
          <a:solidFill>
            <a:srgbClr val="52525B"/>
          </a:solidFill>
          <a:ln/>
        </p:spPr>
      </p:sp>
      <p:sp>
        <p:nvSpPr>
          <p:cNvPr id="20" name="Shape 18"/>
          <p:cNvSpPr/>
          <p:nvPr/>
        </p:nvSpPr>
        <p:spPr>
          <a:xfrm>
            <a:off x="3931920" y="1280160"/>
            <a:ext cx="3291840" cy="731520"/>
          </a:xfrm>
          <a:prstGeom prst="rect">
            <a:avLst/>
          </a:prstGeom>
          <a:solidFill>
            <a:srgbClr val="1D4ED8"/>
          </a:solidFill>
          <a:ln/>
        </p:spPr>
      </p:sp>
      <p:sp>
        <p:nvSpPr>
          <p:cNvPr id="21" name="Shape 19"/>
          <p:cNvSpPr/>
          <p:nvPr/>
        </p:nvSpPr>
        <p:spPr>
          <a:xfrm>
            <a:off x="7223760" y="1280160"/>
            <a:ext cx="1645920" cy="731520"/>
          </a:xfrm>
          <a:prstGeom prst="rect">
            <a:avLst/>
          </a:prstGeom>
          <a:solidFill>
            <a:srgbClr val="DC2626"/>
          </a:solidFill>
          <a:ln/>
        </p:spPr>
      </p:sp>
      <p:sp>
        <p:nvSpPr>
          <p:cNvPr id="22" name="Text 20"/>
          <p:cNvSpPr/>
          <p:nvPr/>
        </p:nvSpPr>
        <p:spPr>
          <a:xfrm>
            <a:off x="640080" y="1280160"/>
            <a:ext cx="3291840" cy="731520"/>
          </a:xfrm>
          <a:prstGeom prst="rect">
            <a:avLst/>
          </a:prstGeom>
          <a:noFill/>
          <a:ln/>
        </p:spPr>
        <p:txBody>
          <a:bodyPr wrap="square" rtlCol="0" anchor="ctr"/>
          <a:lstStyle/>
          <a:p>
            <a:pPr algn="ctr" indent="0" marL="0">
              <a:buNone/>
            </a:pPr>
            <a:r>
              <a:rPr lang="en-US" sz="1300" b="1" dirty="0">
                <a:solidFill>
                  <a:srgbClr val="E8E8F0"/>
                </a:solidFill>
                <a:latin typeface="Trebuchet MS" pitchFamily="34" charset="0"/>
                <a:ea typeface="Trebuchet MS" pitchFamily="34" charset="-122"/>
                <a:cs typeface="Trebuchet MS" pitchFamily="34" charset="-120"/>
              </a:rPr>
              <a:t>Detri (&lt; 40%)</a:t>
            </a:r>
            <a:endParaRPr lang="en-US" sz="1300" dirty="0"/>
          </a:p>
        </p:txBody>
      </p:sp>
      <p:sp>
        <p:nvSpPr>
          <p:cNvPr id="23" name="Text 21"/>
          <p:cNvSpPr/>
          <p:nvPr/>
        </p:nvSpPr>
        <p:spPr>
          <a:xfrm>
            <a:off x="3931920" y="1280160"/>
            <a:ext cx="3291840" cy="731520"/>
          </a:xfrm>
          <a:prstGeom prst="rect">
            <a:avLst/>
          </a:prstGeom>
          <a:noFill/>
          <a:ln/>
        </p:spPr>
        <p:txBody>
          <a:bodyPr wrap="square" rtlCol="0" anchor="ctr"/>
          <a:lstStyle/>
          <a:p>
            <a:pPr algn="ctr" indent="0" marL="0">
              <a:buNone/>
            </a:pPr>
            <a:r>
              <a:rPr lang="en-US" sz="1300" b="1" dirty="0">
                <a:solidFill>
                  <a:srgbClr val="E8E8F0"/>
                </a:solidFill>
                <a:latin typeface="Trebuchet MS" pitchFamily="34" charset="0"/>
                <a:ea typeface="Trebuchet MS" pitchFamily="34" charset="-122"/>
                <a:cs typeface="Trebuchet MS" pitchFamily="34" charset="-120"/>
              </a:rPr>
              <a:t>AM (40-80%)</a:t>
            </a:r>
            <a:endParaRPr lang="en-US" sz="1300" dirty="0"/>
          </a:p>
        </p:txBody>
      </p:sp>
      <p:sp>
        <p:nvSpPr>
          <p:cNvPr id="24" name="Text 22"/>
          <p:cNvSpPr/>
          <p:nvPr/>
        </p:nvSpPr>
        <p:spPr>
          <a:xfrm>
            <a:off x="7223760" y="1280160"/>
            <a:ext cx="1645920" cy="731520"/>
          </a:xfrm>
          <a:prstGeom prst="rect">
            <a:avLst/>
          </a:prstGeom>
          <a:noFill/>
          <a:ln/>
        </p:spPr>
        <p:txBody>
          <a:bodyPr wrap="square" rtlCol="0" anchor="ctr"/>
          <a:lstStyle/>
          <a:p>
            <a:pPr algn="ctr" indent="0" marL="0">
              <a:buNone/>
            </a:pPr>
            <a:r>
              <a:rPr lang="en-US" sz="1300" b="1" dirty="0">
                <a:solidFill>
                  <a:srgbClr val="E8E8F0"/>
                </a:solidFill>
                <a:latin typeface="Trebuchet MS" pitchFamily="34" charset="0"/>
                <a:ea typeface="Trebuchet MS" pitchFamily="34" charset="-122"/>
                <a:cs typeface="Trebuchet MS" pitchFamily="34" charset="-120"/>
              </a:rPr>
              <a:t>PRO (80%+)</a:t>
            </a:r>
            <a:endParaRPr lang="en-US" sz="1300" dirty="0"/>
          </a:p>
        </p:txBody>
      </p:sp>
      <p:sp>
        <p:nvSpPr>
          <p:cNvPr id="25" name="Text 23"/>
          <p:cNvSpPr/>
          <p:nvPr/>
        </p:nvSpPr>
        <p:spPr>
          <a:xfrm>
            <a:off x="457200" y="2011680"/>
            <a:ext cx="457200" cy="182880"/>
          </a:xfrm>
          <a:prstGeom prst="rect">
            <a:avLst/>
          </a:prstGeom>
          <a:noFill/>
          <a:ln/>
        </p:spPr>
        <p:txBody>
          <a:bodyPr wrap="square" rtlCol="0" anchor="ctr"/>
          <a:lstStyle/>
          <a:p>
            <a:pPr algn="ctr" indent="0" marL="0">
              <a:buNone/>
            </a:pPr>
            <a:r>
              <a:rPr lang="en-US" sz="900" dirty="0">
                <a:solidFill>
                  <a:srgbClr val="7A8BA8"/>
                </a:solidFill>
                <a:latin typeface="Trebuchet MS" pitchFamily="34" charset="0"/>
                <a:ea typeface="Trebuchet MS" pitchFamily="34" charset="-122"/>
                <a:cs typeface="Trebuchet MS" pitchFamily="34" charset="-120"/>
              </a:rPr>
              <a:t>0%</a:t>
            </a:r>
            <a:endParaRPr lang="en-US" sz="900" dirty="0"/>
          </a:p>
        </p:txBody>
      </p:sp>
      <p:sp>
        <p:nvSpPr>
          <p:cNvPr id="26" name="Text 24"/>
          <p:cNvSpPr/>
          <p:nvPr/>
        </p:nvSpPr>
        <p:spPr>
          <a:xfrm>
            <a:off x="3703320" y="2011680"/>
            <a:ext cx="457200" cy="182880"/>
          </a:xfrm>
          <a:prstGeom prst="rect">
            <a:avLst/>
          </a:prstGeom>
          <a:noFill/>
          <a:ln/>
        </p:spPr>
        <p:txBody>
          <a:bodyPr wrap="square" rtlCol="0" anchor="ctr"/>
          <a:lstStyle/>
          <a:p>
            <a:pPr algn="ctr" indent="0" marL="0">
              <a:buNone/>
            </a:pPr>
            <a:r>
              <a:rPr lang="en-US" sz="900" dirty="0">
                <a:solidFill>
                  <a:srgbClr val="7A8BA8"/>
                </a:solidFill>
                <a:latin typeface="Trebuchet MS" pitchFamily="34" charset="0"/>
                <a:ea typeface="Trebuchet MS" pitchFamily="34" charset="-122"/>
                <a:cs typeface="Trebuchet MS" pitchFamily="34" charset="-120"/>
              </a:rPr>
              <a:t>40%</a:t>
            </a:r>
            <a:endParaRPr lang="en-US" sz="900" dirty="0"/>
          </a:p>
        </p:txBody>
      </p:sp>
      <p:sp>
        <p:nvSpPr>
          <p:cNvPr id="27" name="Text 25"/>
          <p:cNvSpPr/>
          <p:nvPr/>
        </p:nvSpPr>
        <p:spPr>
          <a:xfrm>
            <a:off x="6995160" y="2011680"/>
            <a:ext cx="457200" cy="182880"/>
          </a:xfrm>
          <a:prstGeom prst="rect">
            <a:avLst/>
          </a:prstGeom>
          <a:noFill/>
          <a:ln/>
        </p:spPr>
        <p:txBody>
          <a:bodyPr wrap="square" rtlCol="0" anchor="ctr"/>
          <a:lstStyle/>
          <a:p>
            <a:pPr algn="ctr" indent="0" marL="0">
              <a:buNone/>
            </a:pPr>
            <a:r>
              <a:rPr lang="en-US" sz="900" dirty="0">
                <a:solidFill>
                  <a:srgbClr val="7A8BA8"/>
                </a:solidFill>
                <a:latin typeface="Trebuchet MS" pitchFamily="34" charset="0"/>
                <a:ea typeface="Trebuchet MS" pitchFamily="34" charset="-122"/>
                <a:cs typeface="Trebuchet MS" pitchFamily="34" charset="-120"/>
              </a:rPr>
              <a:t>80%</a:t>
            </a:r>
            <a:endParaRPr lang="en-US" sz="900" dirty="0"/>
          </a:p>
        </p:txBody>
      </p:sp>
      <p:sp>
        <p:nvSpPr>
          <p:cNvPr id="28" name="Text 26"/>
          <p:cNvSpPr/>
          <p:nvPr/>
        </p:nvSpPr>
        <p:spPr>
          <a:xfrm>
            <a:off x="8503920" y="2011680"/>
            <a:ext cx="457200" cy="182880"/>
          </a:xfrm>
          <a:prstGeom prst="rect">
            <a:avLst/>
          </a:prstGeom>
          <a:noFill/>
          <a:ln/>
        </p:spPr>
        <p:txBody>
          <a:bodyPr wrap="square" rtlCol="0" anchor="ctr"/>
          <a:lstStyle/>
          <a:p>
            <a:pPr algn="ctr" indent="0" marL="0">
              <a:buNone/>
            </a:pPr>
            <a:r>
              <a:rPr lang="en-US" sz="900" dirty="0">
                <a:solidFill>
                  <a:srgbClr val="7A8BA8"/>
                </a:solidFill>
                <a:latin typeface="Trebuchet MS" pitchFamily="34" charset="0"/>
                <a:ea typeface="Trebuchet MS" pitchFamily="34" charset="-122"/>
                <a:cs typeface="Trebuchet MS" pitchFamily="34" charset="-120"/>
              </a:rPr>
              <a:t>100%</a:t>
            </a:r>
            <a:endParaRPr lang="en-US" sz="900" dirty="0"/>
          </a:p>
        </p:txBody>
      </p:sp>
      <p:sp>
        <p:nvSpPr>
          <p:cNvPr id="29" name="Shape 27"/>
          <p:cNvSpPr/>
          <p:nvPr/>
        </p:nvSpPr>
        <p:spPr>
          <a:xfrm>
            <a:off x="1325880" y="2286000"/>
            <a:ext cx="0" cy="365760"/>
          </a:xfrm>
          <a:prstGeom prst="line">
            <a:avLst/>
          </a:prstGeom>
          <a:noFill/>
          <a:ln w="12700">
            <a:solidFill>
              <a:srgbClr val="7A8BA8"/>
            </a:solidFill>
            <a:prstDash val="solid"/>
          </a:ln>
        </p:spPr>
      </p:sp>
      <p:sp>
        <p:nvSpPr>
          <p:cNvPr id="30" name="Shape 28"/>
          <p:cNvSpPr/>
          <p:nvPr/>
        </p:nvSpPr>
        <p:spPr>
          <a:xfrm>
            <a:off x="1207008" y="2651760"/>
            <a:ext cx="237744" cy="237744"/>
          </a:xfrm>
          <a:prstGeom prst="ellipse">
            <a:avLst/>
          </a:prstGeom>
          <a:solidFill>
            <a:srgbClr val="7A8BA8"/>
          </a:solidFill>
          <a:ln/>
        </p:spPr>
      </p:sp>
      <p:sp>
        <p:nvSpPr>
          <p:cNvPr id="31" name="Text 29"/>
          <p:cNvSpPr/>
          <p:nvPr/>
        </p:nvSpPr>
        <p:spPr>
          <a:xfrm>
            <a:off x="822960" y="2926080"/>
            <a:ext cx="1005840" cy="228600"/>
          </a:xfrm>
          <a:prstGeom prst="rect">
            <a:avLst/>
          </a:prstGeom>
          <a:noFill/>
          <a:ln/>
        </p:spPr>
        <p:txBody>
          <a:bodyPr wrap="square" lIns="0" tIns="0" rIns="0" bIns="0" rtlCol="0" anchor="ctr"/>
          <a:lstStyle/>
          <a:p>
            <a:pPr algn="ctr" indent="0" marL="0">
              <a:buNone/>
            </a:pPr>
            <a:r>
              <a:rPr lang="en-US" sz="800" b="1" dirty="0">
                <a:solidFill>
                  <a:srgbClr val="E8E8F0"/>
                </a:solidFill>
                <a:latin typeface="Trebuchet MS" pitchFamily="34" charset="0"/>
                <a:ea typeface="Trebuchet MS" pitchFamily="34" charset="-122"/>
                <a:cs typeface="Trebuchet MS" pitchFamily="34" charset="-120"/>
              </a:rPr>
              <a:t>NuevoX</a:t>
            </a:r>
            <a:endParaRPr lang="en-US" sz="800" dirty="0"/>
          </a:p>
        </p:txBody>
      </p:sp>
      <p:sp>
        <p:nvSpPr>
          <p:cNvPr id="32" name="Text 30"/>
          <p:cNvSpPr/>
          <p:nvPr/>
        </p:nvSpPr>
        <p:spPr>
          <a:xfrm>
            <a:off x="822960" y="3108960"/>
            <a:ext cx="1005840" cy="182880"/>
          </a:xfrm>
          <a:prstGeom prst="rect">
            <a:avLst/>
          </a:prstGeom>
          <a:noFill/>
          <a:ln/>
        </p:spPr>
        <p:txBody>
          <a:bodyPr wrap="square" lIns="0" tIns="0" rIns="0" bIns="0" rtlCol="0" anchor="ctr"/>
          <a:lstStyle/>
          <a:p>
            <a:pPr algn="ctr" indent="0" marL="0">
              <a:buNone/>
            </a:pPr>
            <a:r>
              <a:rPr lang="en-US" sz="700" dirty="0">
                <a:solidFill>
                  <a:srgbClr val="7A8BA8"/>
                </a:solidFill>
                <a:latin typeface="Consolas" pitchFamily="34" charset="0"/>
                <a:ea typeface="Consolas" pitchFamily="34" charset="-122"/>
                <a:cs typeface="Consolas" pitchFamily="34" charset="-120"/>
              </a:rPr>
              <a:t>PSR 2</a:t>
            </a:r>
            <a:endParaRPr lang="en-US" sz="700" dirty="0"/>
          </a:p>
        </p:txBody>
      </p:sp>
      <p:sp>
        <p:nvSpPr>
          <p:cNvPr id="33" name="Shape 31"/>
          <p:cNvSpPr/>
          <p:nvPr/>
        </p:nvSpPr>
        <p:spPr>
          <a:xfrm>
            <a:off x="2971800" y="2286000"/>
            <a:ext cx="0" cy="365760"/>
          </a:xfrm>
          <a:prstGeom prst="line">
            <a:avLst/>
          </a:prstGeom>
          <a:noFill/>
          <a:ln w="12700">
            <a:solidFill>
              <a:srgbClr val="7A8BA8"/>
            </a:solidFill>
            <a:prstDash val="solid"/>
          </a:ln>
        </p:spPr>
      </p:sp>
      <p:sp>
        <p:nvSpPr>
          <p:cNvPr id="34" name="Shape 32"/>
          <p:cNvSpPr/>
          <p:nvPr/>
        </p:nvSpPr>
        <p:spPr>
          <a:xfrm>
            <a:off x="2852928" y="2651760"/>
            <a:ext cx="237744" cy="237744"/>
          </a:xfrm>
          <a:prstGeom prst="ellipse">
            <a:avLst/>
          </a:prstGeom>
          <a:solidFill>
            <a:srgbClr val="7A8BA8"/>
          </a:solidFill>
          <a:ln/>
        </p:spPr>
      </p:sp>
      <p:sp>
        <p:nvSpPr>
          <p:cNvPr id="35" name="Text 33"/>
          <p:cNvSpPr/>
          <p:nvPr/>
        </p:nvSpPr>
        <p:spPr>
          <a:xfrm>
            <a:off x="2468880" y="2926080"/>
            <a:ext cx="1005840" cy="228600"/>
          </a:xfrm>
          <a:prstGeom prst="rect">
            <a:avLst/>
          </a:prstGeom>
          <a:noFill/>
          <a:ln/>
        </p:spPr>
        <p:txBody>
          <a:bodyPr wrap="square" lIns="0" tIns="0" rIns="0" bIns="0" rtlCol="0" anchor="ctr"/>
          <a:lstStyle/>
          <a:p>
            <a:pPr algn="ctr" indent="0" marL="0">
              <a:buNone/>
            </a:pPr>
            <a:r>
              <a:rPr lang="en-US" sz="800" b="1" dirty="0">
                <a:solidFill>
                  <a:srgbClr val="E8E8F0"/>
                </a:solidFill>
                <a:latin typeface="Trebuchet MS" pitchFamily="34" charset="0"/>
                <a:ea typeface="Trebuchet MS" pitchFamily="34" charset="-122"/>
                <a:cs typeface="Trebuchet MS" pitchFamily="34" charset="-120"/>
              </a:rPr>
              <a:t>Mejorando</a:t>
            </a:r>
            <a:endParaRPr lang="en-US" sz="800" dirty="0"/>
          </a:p>
        </p:txBody>
      </p:sp>
      <p:sp>
        <p:nvSpPr>
          <p:cNvPr id="36" name="Text 34"/>
          <p:cNvSpPr/>
          <p:nvPr/>
        </p:nvSpPr>
        <p:spPr>
          <a:xfrm>
            <a:off x="2468880" y="3108960"/>
            <a:ext cx="1005840" cy="182880"/>
          </a:xfrm>
          <a:prstGeom prst="rect">
            <a:avLst/>
          </a:prstGeom>
          <a:noFill/>
          <a:ln/>
        </p:spPr>
        <p:txBody>
          <a:bodyPr wrap="square" lIns="0" tIns="0" rIns="0" bIns="0" rtlCol="0" anchor="ctr"/>
          <a:lstStyle/>
          <a:p>
            <a:pPr algn="ctr" indent="0" marL="0">
              <a:buNone/>
            </a:pPr>
            <a:r>
              <a:rPr lang="en-US" sz="700" dirty="0">
                <a:solidFill>
                  <a:srgbClr val="7A8BA8"/>
                </a:solidFill>
                <a:latin typeface="Consolas" pitchFamily="34" charset="0"/>
                <a:ea typeface="Consolas" pitchFamily="34" charset="-122"/>
                <a:cs typeface="Consolas" pitchFamily="34" charset="-120"/>
              </a:rPr>
              <a:t>PSR 12</a:t>
            </a:r>
            <a:endParaRPr lang="en-US" sz="700" dirty="0"/>
          </a:p>
        </p:txBody>
      </p:sp>
      <p:sp>
        <p:nvSpPr>
          <p:cNvPr id="37" name="Shape 35"/>
          <p:cNvSpPr/>
          <p:nvPr/>
        </p:nvSpPr>
        <p:spPr>
          <a:xfrm>
            <a:off x="4983480" y="2286000"/>
            <a:ext cx="0" cy="365760"/>
          </a:xfrm>
          <a:prstGeom prst="line">
            <a:avLst/>
          </a:prstGeom>
          <a:noFill/>
          <a:ln w="12700">
            <a:solidFill>
              <a:srgbClr val="00F0FF"/>
            </a:solidFill>
            <a:prstDash val="solid"/>
          </a:ln>
        </p:spPr>
      </p:sp>
      <p:sp>
        <p:nvSpPr>
          <p:cNvPr id="38" name="Shape 36"/>
          <p:cNvSpPr/>
          <p:nvPr/>
        </p:nvSpPr>
        <p:spPr>
          <a:xfrm>
            <a:off x="4864608" y="2651760"/>
            <a:ext cx="237744" cy="237744"/>
          </a:xfrm>
          <a:prstGeom prst="ellipse">
            <a:avLst/>
          </a:prstGeom>
          <a:solidFill>
            <a:srgbClr val="00F0FF"/>
          </a:solidFill>
          <a:ln/>
        </p:spPr>
      </p:sp>
      <p:sp>
        <p:nvSpPr>
          <p:cNvPr id="39" name="Text 37"/>
          <p:cNvSpPr/>
          <p:nvPr/>
        </p:nvSpPr>
        <p:spPr>
          <a:xfrm>
            <a:off x="4480560" y="2926080"/>
            <a:ext cx="1005840" cy="228600"/>
          </a:xfrm>
          <a:prstGeom prst="rect">
            <a:avLst/>
          </a:prstGeom>
          <a:noFill/>
          <a:ln/>
        </p:spPr>
        <p:txBody>
          <a:bodyPr wrap="square" lIns="0" tIns="0" rIns="0" bIns="0" rtlCol="0" anchor="ctr"/>
          <a:lstStyle/>
          <a:p>
            <a:pPr algn="ctr" indent="0" marL="0">
              <a:buNone/>
            </a:pPr>
            <a:r>
              <a:rPr lang="en-US" sz="800" b="1" dirty="0">
                <a:solidFill>
                  <a:srgbClr val="E8E8F0"/>
                </a:solidFill>
                <a:latin typeface="Trebuchet MS" pitchFamily="34" charset="0"/>
                <a:ea typeface="Trebuchet MS" pitchFamily="34" charset="-122"/>
                <a:cs typeface="Trebuchet MS" pitchFamily="34" charset="-120"/>
              </a:rPr>
              <a:t>SolidoAM</a:t>
            </a:r>
            <a:endParaRPr lang="en-US" sz="800" dirty="0"/>
          </a:p>
        </p:txBody>
      </p:sp>
      <p:sp>
        <p:nvSpPr>
          <p:cNvPr id="40" name="Text 38"/>
          <p:cNvSpPr/>
          <p:nvPr/>
        </p:nvSpPr>
        <p:spPr>
          <a:xfrm>
            <a:off x="4480560" y="3108960"/>
            <a:ext cx="1005840" cy="182880"/>
          </a:xfrm>
          <a:prstGeom prst="rect">
            <a:avLst/>
          </a:prstGeom>
          <a:noFill/>
          <a:ln/>
        </p:spPr>
        <p:txBody>
          <a:bodyPr wrap="square" lIns="0" tIns="0" rIns="0" bIns="0" rtlCol="0" anchor="ctr"/>
          <a:lstStyle/>
          <a:p>
            <a:pPr algn="ctr" indent="0" marL="0">
              <a:buNone/>
            </a:pPr>
            <a:r>
              <a:rPr lang="en-US" sz="700" dirty="0">
                <a:solidFill>
                  <a:srgbClr val="7A8BA8"/>
                </a:solidFill>
                <a:latin typeface="Consolas" pitchFamily="34" charset="0"/>
                <a:ea typeface="Consolas" pitchFamily="34" charset="-122"/>
                <a:cs typeface="Consolas" pitchFamily="34" charset="-120"/>
              </a:rPr>
              <a:t>PSR 18</a:t>
            </a:r>
            <a:endParaRPr lang="en-US" sz="700" dirty="0"/>
          </a:p>
        </p:txBody>
      </p:sp>
      <p:sp>
        <p:nvSpPr>
          <p:cNvPr id="41" name="Shape 39"/>
          <p:cNvSpPr/>
          <p:nvPr/>
        </p:nvSpPr>
        <p:spPr>
          <a:xfrm>
            <a:off x="6446520" y="2286000"/>
            <a:ext cx="0" cy="365760"/>
          </a:xfrm>
          <a:prstGeom prst="line">
            <a:avLst/>
          </a:prstGeom>
          <a:noFill/>
          <a:ln w="12700">
            <a:solidFill>
              <a:srgbClr val="00F0FF"/>
            </a:solidFill>
            <a:prstDash val="solid"/>
          </a:ln>
        </p:spPr>
      </p:sp>
      <p:sp>
        <p:nvSpPr>
          <p:cNvPr id="42" name="Shape 40"/>
          <p:cNvSpPr/>
          <p:nvPr/>
        </p:nvSpPr>
        <p:spPr>
          <a:xfrm>
            <a:off x="6327648" y="2651760"/>
            <a:ext cx="237744" cy="237744"/>
          </a:xfrm>
          <a:prstGeom prst="ellipse">
            <a:avLst/>
          </a:prstGeom>
          <a:solidFill>
            <a:srgbClr val="00F0FF"/>
          </a:solidFill>
          <a:ln/>
        </p:spPr>
      </p:sp>
      <p:sp>
        <p:nvSpPr>
          <p:cNvPr id="43" name="Text 41"/>
          <p:cNvSpPr/>
          <p:nvPr/>
        </p:nvSpPr>
        <p:spPr>
          <a:xfrm>
            <a:off x="5943600" y="2926080"/>
            <a:ext cx="1005840" cy="228600"/>
          </a:xfrm>
          <a:prstGeom prst="rect">
            <a:avLst/>
          </a:prstGeom>
          <a:noFill/>
          <a:ln/>
        </p:spPr>
        <p:txBody>
          <a:bodyPr wrap="square" lIns="0" tIns="0" rIns="0" bIns="0" rtlCol="0" anchor="ctr"/>
          <a:lstStyle/>
          <a:p>
            <a:pPr algn="ctr" indent="0" marL="0">
              <a:buNone/>
            </a:pPr>
            <a:r>
              <a:rPr lang="en-US" sz="800" b="1" dirty="0">
                <a:solidFill>
                  <a:srgbClr val="E8E8F0"/>
                </a:solidFill>
                <a:latin typeface="Trebuchet MS" pitchFamily="34" charset="0"/>
                <a:ea typeface="Trebuchet MS" pitchFamily="34" charset="-122"/>
                <a:cs typeface="Trebuchet MS" pitchFamily="34" charset="-120"/>
              </a:rPr>
              <a:t>AltoAM</a:t>
            </a:r>
            <a:endParaRPr lang="en-US" sz="800" dirty="0"/>
          </a:p>
        </p:txBody>
      </p:sp>
      <p:sp>
        <p:nvSpPr>
          <p:cNvPr id="44" name="Text 42"/>
          <p:cNvSpPr/>
          <p:nvPr/>
        </p:nvSpPr>
        <p:spPr>
          <a:xfrm>
            <a:off x="5943600" y="3108960"/>
            <a:ext cx="1005840" cy="182880"/>
          </a:xfrm>
          <a:prstGeom prst="rect">
            <a:avLst/>
          </a:prstGeom>
          <a:noFill/>
          <a:ln/>
        </p:spPr>
        <p:txBody>
          <a:bodyPr wrap="square" lIns="0" tIns="0" rIns="0" bIns="0" rtlCol="0" anchor="ctr"/>
          <a:lstStyle/>
          <a:p>
            <a:pPr algn="ctr" indent="0" marL="0">
              <a:buNone/>
            </a:pPr>
            <a:r>
              <a:rPr lang="en-US" sz="700" dirty="0">
                <a:solidFill>
                  <a:srgbClr val="7A8BA8"/>
                </a:solidFill>
                <a:latin typeface="Consolas" pitchFamily="34" charset="0"/>
                <a:ea typeface="Consolas" pitchFamily="34" charset="-122"/>
                <a:cs typeface="Consolas" pitchFamily="34" charset="-120"/>
              </a:rPr>
              <a:t>PSR 22</a:t>
            </a:r>
            <a:endParaRPr lang="en-US" sz="700" dirty="0"/>
          </a:p>
        </p:txBody>
      </p:sp>
      <p:sp>
        <p:nvSpPr>
          <p:cNvPr id="45" name="Shape 43"/>
          <p:cNvSpPr/>
          <p:nvPr/>
        </p:nvSpPr>
        <p:spPr>
          <a:xfrm>
            <a:off x="8001000" y="2286000"/>
            <a:ext cx="0" cy="365760"/>
          </a:xfrm>
          <a:prstGeom prst="line">
            <a:avLst/>
          </a:prstGeom>
          <a:noFill/>
          <a:ln w="12700">
            <a:solidFill>
              <a:srgbClr val="FF2D6B"/>
            </a:solidFill>
            <a:prstDash val="solid"/>
          </a:ln>
        </p:spPr>
      </p:sp>
      <p:sp>
        <p:nvSpPr>
          <p:cNvPr id="46" name="Shape 44"/>
          <p:cNvSpPr/>
          <p:nvPr/>
        </p:nvSpPr>
        <p:spPr>
          <a:xfrm>
            <a:off x="7882128" y="2651760"/>
            <a:ext cx="237744" cy="237744"/>
          </a:xfrm>
          <a:prstGeom prst="ellipse">
            <a:avLst/>
          </a:prstGeom>
          <a:solidFill>
            <a:srgbClr val="FF2D6B"/>
          </a:solidFill>
          <a:ln/>
        </p:spPr>
      </p:sp>
      <p:sp>
        <p:nvSpPr>
          <p:cNvPr id="47" name="Text 45"/>
          <p:cNvSpPr/>
          <p:nvPr/>
        </p:nvSpPr>
        <p:spPr>
          <a:xfrm>
            <a:off x="7498080" y="2926080"/>
            <a:ext cx="1005840" cy="228600"/>
          </a:xfrm>
          <a:prstGeom prst="rect">
            <a:avLst/>
          </a:prstGeom>
          <a:noFill/>
          <a:ln/>
        </p:spPr>
        <p:txBody>
          <a:bodyPr wrap="square" lIns="0" tIns="0" rIns="0" bIns="0" rtlCol="0" anchor="ctr"/>
          <a:lstStyle/>
          <a:p>
            <a:pPr algn="ctr" indent="0" marL="0">
              <a:buNone/>
            </a:pPr>
            <a:r>
              <a:rPr lang="en-US" sz="800" b="1" dirty="0">
                <a:solidFill>
                  <a:srgbClr val="E8E8F0"/>
                </a:solidFill>
                <a:latin typeface="Trebuchet MS" pitchFamily="34" charset="0"/>
                <a:ea typeface="Trebuchet MS" pitchFamily="34" charset="-122"/>
                <a:cs typeface="Trebuchet MS" pitchFamily="34" charset="-120"/>
              </a:rPr>
              <a:t>ElFenix</a:t>
            </a:r>
            <a:endParaRPr lang="en-US" sz="800" dirty="0"/>
          </a:p>
        </p:txBody>
      </p:sp>
      <p:sp>
        <p:nvSpPr>
          <p:cNvPr id="48" name="Text 46"/>
          <p:cNvSpPr/>
          <p:nvPr/>
        </p:nvSpPr>
        <p:spPr>
          <a:xfrm>
            <a:off x="7498080" y="3108960"/>
            <a:ext cx="1005840" cy="182880"/>
          </a:xfrm>
          <a:prstGeom prst="rect">
            <a:avLst/>
          </a:prstGeom>
          <a:noFill/>
          <a:ln/>
        </p:spPr>
        <p:txBody>
          <a:bodyPr wrap="square" lIns="0" tIns="0" rIns="0" bIns="0" rtlCol="0" anchor="ctr"/>
          <a:lstStyle/>
          <a:p>
            <a:pPr algn="ctr" indent="0" marL="0">
              <a:buNone/>
            </a:pPr>
            <a:r>
              <a:rPr lang="en-US" sz="700" dirty="0">
                <a:solidFill>
                  <a:srgbClr val="7A8BA8"/>
                </a:solidFill>
                <a:latin typeface="Consolas" pitchFamily="34" charset="0"/>
                <a:ea typeface="Consolas" pitchFamily="34" charset="-122"/>
                <a:cs typeface="Consolas" pitchFamily="34" charset="-120"/>
              </a:rPr>
              <a:t>PSR 28</a:t>
            </a:r>
            <a:endParaRPr lang="en-US" sz="700" dirty="0"/>
          </a:p>
        </p:txBody>
      </p:sp>
      <p:sp>
        <p:nvSpPr>
          <p:cNvPr id="49" name="Shape 47"/>
          <p:cNvSpPr/>
          <p:nvPr/>
        </p:nvSpPr>
        <p:spPr>
          <a:xfrm>
            <a:off x="457200" y="3566160"/>
            <a:ext cx="8229600" cy="1097280"/>
          </a:xfrm>
          <a:prstGeom prst="rect">
            <a:avLst/>
          </a:prstGeom>
          <a:solidFill>
            <a:srgbClr val="12121E"/>
          </a:solidFill>
          <a:ln w="12700">
            <a:solidFill>
              <a:srgbClr val="1E2A3A"/>
            </a:solidFill>
            <a:prstDash val="solid"/>
          </a:ln>
        </p:spPr>
      </p:sp>
      <p:sp>
        <p:nvSpPr>
          <p:cNvPr id="50" name="Shape 48"/>
          <p:cNvSpPr/>
          <p:nvPr/>
        </p:nvSpPr>
        <p:spPr>
          <a:xfrm>
            <a:off x="457200" y="3566160"/>
            <a:ext cx="8229600" cy="22860"/>
          </a:xfrm>
          <a:prstGeom prst="rect">
            <a:avLst/>
          </a:prstGeom>
          <a:solidFill>
            <a:srgbClr val="1E2A3A"/>
          </a:solidFill>
          <a:ln/>
        </p:spPr>
      </p:sp>
      <p:sp>
        <p:nvSpPr>
          <p:cNvPr id="51" name="Text 49"/>
          <p:cNvSpPr/>
          <p:nvPr/>
        </p:nvSpPr>
        <p:spPr>
          <a:xfrm>
            <a:off x="640080" y="3657600"/>
            <a:ext cx="7863840" cy="365760"/>
          </a:xfrm>
          <a:prstGeom prst="rect">
            <a:avLst/>
          </a:prstGeom>
          <a:noFill/>
          <a:ln/>
        </p:spPr>
        <p:txBody>
          <a:bodyPr wrap="square" rtlCol="0" anchor="ctr"/>
          <a:lstStyle/>
          <a:p>
            <a:pPr indent="0" marL="0">
              <a:buNone/>
            </a:pPr>
            <a:r>
              <a:rPr lang="en-US" sz="1000" b="1" dirty="0">
                <a:solidFill>
                  <a:srgbClr val="E8E8F0"/>
                </a:solidFill>
                <a:latin typeface="Trebuchet MS" pitchFamily="34" charset="0"/>
                <a:ea typeface="Trebuchet MS" pitchFamily="34" charset="-122"/>
                <a:cs typeface="Trebuchet MS" pitchFamily="34" charset="-120"/>
              </a:rPr>
              <a:t>Reglas clave:  </a:t>
            </a:r>
            <a:pPr indent="0" marL="0">
              <a:buNone/>
            </a:pPr>
            <a:r>
              <a:rPr lang="en-US" sz="1000" dirty="0">
                <a:solidFill>
                  <a:srgbClr val="7A8BA8"/>
                </a:solidFill>
                <a:latin typeface="Trebuchet MS" pitchFamily="34" charset="0"/>
                <a:ea typeface="Trebuchet MS" pitchFamily="34" charset="-122"/>
                <a:cs typeface="Trebuchet MS" pitchFamily="34" charset="-120"/>
              </a:rPr>
              <a:t>Min. 4 participaciones para calificar  |  Torneos Novice excluidos  |  Percentiles adaptativos (no thresholds fijos)</a:t>
            </a:r>
            <a:endParaRPr lang="en-US" sz="1000" dirty="0"/>
          </a:p>
        </p:txBody>
      </p:sp>
      <p:sp>
        <p:nvSpPr>
          <p:cNvPr id="52" name="Text 50"/>
          <p:cNvSpPr/>
          <p:nvPr/>
        </p:nvSpPr>
        <p:spPr>
          <a:xfrm>
            <a:off x="640080" y="4069080"/>
            <a:ext cx="7863840" cy="274320"/>
          </a:xfrm>
          <a:prstGeom prst="rect">
            <a:avLst/>
          </a:prstGeom>
          <a:noFill/>
          <a:ln/>
        </p:spPr>
        <p:txBody>
          <a:bodyPr wrap="square" lIns="0" tIns="0" rIns="0" bIns="0" rtlCol="0" anchor="ctr"/>
          <a:lstStyle/>
          <a:p>
            <a:pPr indent="0" marL="0">
              <a:buNone/>
            </a:pPr>
            <a:r>
              <a:rPr lang="en-US" sz="900" i="1" dirty="0">
                <a:solidFill>
                  <a:srgbClr val="7A8BA8"/>
                </a:solidFill>
                <a:latin typeface="Trebuchet MS" pitchFamily="34" charset="0"/>
                <a:ea typeface="Trebuchet MS" pitchFamily="34" charset="-122"/>
                <a:cs typeface="Trebuchet MS" pitchFamily="34" charset="-120"/>
              </a:rPr>
              <a:t>Los percentiles se ajustan automaticamente cuando la poblacion crece — no hay categorias arbitrarias</a:t>
            </a:r>
            <a:endParaRPr lang="en-US" sz="900" dirty="0"/>
          </a:p>
        </p:txBody>
      </p:sp>
      <p:sp>
        <p:nvSpPr>
          <p:cNvPr id="53" name="Text 51"/>
          <p:cNvSpPr/>
          <p:nvPr/>
        </p:nvSpPr>
        <p:spPr>
          <a:xfrm>
            <a:off x="457200" y="4709160"/>
            <a:ext cx="8229600" cy="274320"/>
          </a:xfrm>
          <a:prstGeom prst="rect">
            <a:avLst/>
          </a:prstGeom>
          <a:noFill/>
          <a:ln/>
        </p:spPr>
        <p:txBody>
          <a:bodyPr wrap="square" rtlCol="0" anchor="ctr"/>
          <a:lstStyle/>
          <a:p>
            <a:pPr indent="0" marL="0">
              <a:buNone/>
            </a:pPr>
            <a:r>
              <a:rPr lang="en-US" sz="700" i="1" dirty="0">
                <a:solidFill>
                  <a:srgbClr val="7A8BA8"/>
                </a:solidFill>
                <a:latin typeface="Consolas" pitchFamily="34" charset="0"/>
                <a:ea typeface="Consolas" pitchFamily="34" charset="-122"/>
                <a:cs typeface="Consolas" pitchFamily="34" charset="-120"/>
              </a:rPr>
              <a:t>Fuente: docs/psr-audit/00-resumen-ejecutivo.md</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00F0FF"/>
          </a:solidFill>
          <a:ln/>
        </p:spPr>
      </p:sp>
      <p:sp>
        <p:nvSpPr>
          <p:cNvPr id="3" name="Shape 1"/>
          <p:cNvSpPr/>
          <p:nvPr/>
        </p:nvSpPr>
        <p:spPr>
          <a:xfrm>
            <a:off x="0" y="5125212"/>
            <a:ext cx="9144000" cy="18288"/>
          </a:xfrm>
          <a:prstGeom prst="rect">
            <a:avLst/>
          </a:prstGeom>
          <a:solidFill>
            <a:srgbClr val="FF2D6B"/>
          </a:solidFill>
          <a:ln/>
        </p:spPr>
      </p:sp>
      <p:sp>
        <p:nvSpPr>
          <p:cNvPr id="4" name="Shape 2"/>
          <p:cNvSpPr/>
          <p:nvPr/>
        </p:nvSpPr>
        <p:spPr>
          <a:xfrm>
            <a:off x="0" y="0"/>
            <a:ext cx="18288" cy="548640"/>
          </a:xfrm>
          <a:prstGeom prst="rect">
            <a:avLst/>
          </a:prstGeom>
          <a:solidFill>
            <a:srgbClr val="00F0FF"/>
          </a:solidFill>
          <a:ln/>
        </p:spPr>
      </p:sp>
      <p:sp>
        <p:nvSpPr>
          <p:cNvPr id="5" name="Shape 3"/>
          <p:cNvSpPr/>
          <p:nvPr/>
        </p:nvSpPr>
        <p:spPr>
          <a:xfrm>
            <a:off x="0" y="0"/>
            <a:ext cx="548640" cy="18288"/>
          </a:xfrm>
          <a:prstGeom prst="rect">
            <a:avLst/>
          </a:prstGeom>
          <a:solidFill>
            <a:srgbClr val="00F0FF"/>
          </a:solidFill>
          <a:ln/>
        </p:spPr>
      </p:sp>
      <p:sp>
        <p:nvSpPr>
          <p:cNvPr id="6" name="Shape 4"/>
          <p:cNvSpPr/>
          <p:nvPr/>
        </p:nvSpPr>
        <p:spPr>
          <a:xfrm>
            <a:off x="9125712" y="4594860"/>
            <a:ext cx="18288" cy="548640"/>
          </a:xfrm>
          <a:prstGeom prst="rect">
            <a:avLst/>
          </a:prstGeom>
          <a:solidFill>
            <a:srgbClr val="FF2D6B"/>
          </a:solidFill>
          <a:ln/>
        </p:spPr>
      </p:sp>
      <p:sp>
        <p:nvSpPr>
          <p:cNvPr id="7" name="Shape 5"/>
          <p:cNvSpPr/>
          <p:nvPr/>
        </p:nvSpPr>
        <p:spPr>
          <a:xfrm>
            <a:off x="8595360" y="5125212"/>
            <a:ext cx="548640" cy="18288"/>
          </a:xfrm>
          <a:prstGeom prst="rect">
            <a:avLst/>
          </a:prstGeom>
          <a:solidFill>
            <a:srgbClr val="FF2D6B"/>
          </a:solidFill>
          <a:ln/>
        </p:spPr>
      </p:sp>
      <p:sp>
        <p:nvSpPr>
          <p:cNvPr id="8" name="Shape 6"/>
          <p:cNvSpPr/>
          <p:nvPr/>
        </p:nvSpPr>
        <p:spPr>
          <a:xfrm>
            <a:off x="914400" y="0"/>
            <a:ext cx="2743" cy="5143500"/>
          </a:xfrm>
          <a:prstGeom prst="rect">
            <a:avLst/>
          </a:prstGeom>
          <a:solidFill>
            <a:srgbClr val="1E2A3A">
              <a:alpha val="20000"/>
            </a:srgbClr>
          </a:solidFill>
          <a:ln/>
        </p:spPr>
      </p:sp>
      <p:sp>
        <p:nvSpPr>
          <p:cNvPr id="9" name="Shape 7"/>
          <p:cNvSpPr/>
          <p:nvPr/>
        </p:nvSpPr>
        <p:spPr>
          <a:xfrm>
            <a:off x="1828800" y="0"/>
            <a:ext cx="2743" cy="5143500"/>
          </a:xfrm>
          <a:prstGeom prst="rect">
            <a:avLst/>
          </a:prstGeom>
          <a:solidFill>
            <a:srgbClr val="1E2A3A">
              <a:alpha val="20000"/>
            </a:srgbClr>
          </a:solidFill>
          <a:ln/>
        </p:spPr>
      </p:sp>
      <p:sp>
        <p:nvSpPr>
          <p:cNvPr id="10" name="Shape 8"/>
          <p:cNvSpPr/>
          <p:nvPr/>
        </p:nvSpPr>
        <p:spPr>
          <a:xfrm>
            <a:off x="2743200" y="0"/>
            <a:ext cx="2743" cy="5143500"/>
          </a:xfrm>
          <a:prstGeom prst="rect">
            <a:avLst/>
          </a:prstGeom>
          <a:solidFill>
            <a:srgbClr val="1E2A3A">
              <a:alpha val="20000"/>
            </a:srgbClr>
          </a:solidFill>
          <a:ln/>
        </p:spPr>
      </p:sp>
      <p:sp>
        <p:nvSpPr>
          <p:cNvPr id="11" name="Shape 9"/>
          <p:cNvSpPr/>
          <p:nvPr/>
        </p:nvSpPr>
        <p:spPr>
          <a:xfrm>
            <a:off x="3657600" y="0"/>
            <a:ext cx="2743" cy="5143500"/>
          </a:xfrm>
          <a:prstGeom prst="rect">
            <a:avLst/>
          </a:prstGeom>
          <a:solidFill>
            <a:srgbClr val="1E2A3A">
              <a:alpha val="20000"/>
            </a:srgbClr>
          </a:solidFill>
          <a:ln/>
        </p:spPr>
      </p:sp>
      <p:sp>
        <p:nvSpPr>
          <p:cNvPr id="12" name="Shape 10"/>
          <p:cNvSpPr/>
          <p:nvPr/>
        </p:nvSpPr>
        <p:spPr>
          <a:xfrm>
            <a:off x="4572000" y="0"/>
            <a:ext cx="2743" cy="5143500"/>
          </a:xfrm>
          <a:prstGeom prst="rect">
            <a:avLst/>
          </a:prstGeom>
          <a:solidFill>
            <a:srgbClr val="1E2A3A">
              <a:alpha val="20000"/>
            </a:srgbClr>
          </a:solidFill>
          <a:ln/>
        </p:spPr>
      </p:sp>
      <p:sp>
        <p:nvSpPr>
          <p:cNvPr id="13" name="Shape 11"/>
          <p:cNvSpPr/>
          <p:nvPr/>
        </p:nvSpPr>
        <p:spPr>
          <a:xfrm>
            <a:off x="5486400" y="0"/>
            <a:ext cx="2743" cy="5143500"/>
          </a:xfrm>
          <a:prstGeom prst="rect">
            <a:avLst/>
          </a:prstGeom>
          <a:solidFill>
            <a:srgbClr val="1E2A3A">
              <a:alpha val="20000"/>
            </a:srgbClr>
          </a:solidFill>
          <a:ln/>
        </p:spPr>
      </p:sp>
      <p:sp>
        <p:nvSpPr>
          <p:cNvPr id="14" name="Shape 12"/>
          <p:cNvSpPr/>
          <p:nvPr/>
        </p:nvSpPr>
        <p:spPr>
          <a:xfrm>
            <a:off x="6400800" y="0"/>
            <a:ext cx="2743" cy="5143500"/>
          </a:xfrm>
          <a:prstGeom prst="rect">
            <a:avLst/>
          </a:prstGeom>
          <a:solidFill>
            <a:srgbClr val="1E2A3A">
              <a:alpha val="20000"/>
            </a:srgbClr>
          </a:solidFill>
          <a:ln/>
        </p:spPr>
      </p:sp>
      <p:sp>
        <p:nvSpPr>
          <p:cNvPr id="15" name="Shape 13"/>
          <p:cNvSpPr/>
          <p:nvPr/>
        </p:nvSpPr>
        <p:spPr>
          <a:xfrm>
            <a:off x="7315200" y="0"/>
            <a:ext cx="2743" cy="5143500"/>
          </a:xfrm>
          <a:prstGeom prst="rect">
            <a:avLst/>
          </a:prstGeom>
          <a:solidFill>
            <a:srgbClr val="1E2A3A">
              <a:alpha val="20000"/>
            </a:srgbClr>
          </a:solidFill>
          <a:ln/>
        </p:spPr>
      </p:sp>
      <p:sp>
        <p:nvSpPr>
          <p:cNvPr id="16" name="Shape 14"/>
          <p:cNvSpPr/>
          <p:nvPr/>
        </p:nvSpPr>
        <p:spPr>
          <a:xfrm>
            <a:off x="8229600" y="0"/>
            <a:ext cx="2743" cy="5143500"/>
          </a:xfrm>
          <a:prstGeom prst="rect">
            <a:avLst/>
          </a:prstGeom>
          <a:solidFill>
            <a:srgbClr val="1E2A3A">
              <a:alpha val="20000"/>
            </a:srgbClr>
          </a:solidFill>
          <a:ln/>
        </p:spPr>
      </p:sp>
      <p:sp>
        <p:nvSpPr>
          <p:cNvPr id="17" name="Shape 15"/>
          <p:cNvSpPr/>
          <p:nvPr/>
        </p:nvSpPr>
        <p:spPr>
          <a:xfrm>
            <a:off x="1828800" y="-914400"/>
            <a:ext cx="5486400" cy="3657600"/>
          </a:xfrm>
          <a:prstGeom prst="ellipse">
            <a:avLst/>
          </a:prstGeom>
          <a:solidFill>
            <a:srgbClr val="00F0FF">
              <a:alpha val="5000"/>
            </a:srgbClr>
          </a:solidFill>
          <a:ln/>
        </p:spPr>
      </p:sp>
      <p:sp>
        <p:nvSpPr>
          <p:cNvPr id="18" name="Shape 16"/>
          <p:cNvSpPr/>
          <p:nvPr/>
        </p:nvSpPr>
        <p:spPr>
          <a:xfrm>
            <a:off x="2743200" y="0"/>
            <a:ext cx="3657600" cy="2743200"/>
          </a:xfrm>
          <a:prstGeom prst="ellipse">
            <a:avLst/>
          </a:prstGeom>
          <a:solidFill>
            <a:srgbClr val="FF2D6B">
              <a:alpha val="6000"/>
            </a:srgbClr>
          </a:solidFill>
          <a:ln/>
        </p:spPr>
      </p:sp>
      <p:pic>
        <p:nvPicPr>
          <p:cNvPr id="19" name="Image 0" descr="/Users/drux/Documents/Drux/GAMERapp/phoenix-arena/public/logo-color.png">    </p:cNvPr>
          <p:cNvPicPr>
            <a:picLocks noChangeAspect="1"/>
          </p:cNvPicPr>
          <p:nvPr/>
        </p:nvPicPr>
        <p:blipFill>
          <a:blip r:embed="rId1"/>
          <a:srcRect l="0" r="0" t="0" b="0"/>
          <a:stretch/>
        </p:blipFill>
        <p:spPr>
          <a:xfrm>
            <a:off x="3429000" y="182880"/>
            <a:ext cx="2286000" cy="2286000"/>
          </a:xfrm>
          <a:prstGeom prst="rect">
            <a:avLst/>
          </a:prstGeom>
        </p:spPr>
      </p:pic>
      <p:sp>
        <p:nvSpPr>
          <p:cNvPr id="20" name="Text 17"/>
          <p:cNvSpPr/>
          <p:nvPr/>
        </p:nvSpPr>
        <p:spPr>
          <a:xfrm>
            <a:off x="457200" y="2468880"/>
            <a:ext cx="8229600" cy="457200"/>
          </a:xfrm>
          <a:prstGeom prst="rect">
            <a:avLst/>
          </a:prstGeom>
          <a:noFill/>
          <a:ln/>
        </p:spPr>
        <p:txBody>
          <a:bodyPr wrap="square" rtlCol="0" anchor="ctr"/>
          <a:lstStyle/>
          <a:p>
            <a:pPr algn="ctr" indent="0" marL="0">
              <a:buNone/>
            </a:pPr>
            <a:r>
              <a:rPr lang="en-US" sz="2400" b="1" spc="300" kern="0" dirty="0">
                <a:solidFill>
                  <a:srgbClr val="00F0FF"/>
                </a:solidFill>
                <a:latin typeface="Impact" pitchFamily="34" charset="0"/>
                <a:ea typeface="Impact" pitchFamily="34" charset="-122"/>
                <a:cs typeface="Impact" pitchFamily="34" charset="-120"/>
              </a:rPr>
              <a:t>PSR // RENDIMIENTO &gt; OPINION</a:t>
            </a:r>
            <a:endParaRPr lang="en-US" sz="2400" dirty="0"/>
          </a:p>
        </p:txBody>
      </p:sp>
      <p:sp>
        <p:nvSpPr>
          <p:cNvPr id="21" name="Shape 18"/>
          <p:cNvSpPr/>
          <p:nvPr/>
        </p:nvSpPr>
        <p:spPr>
          <a:xfrm>
            <a:off x="2286000" y="2926080"/>
            <a:ext cx="4572000" cy="22860"/>
          </a:xfrm>
          <a:prstGeom prst="rect">
            <a:avLst/>
          </a:prstGeom>
          <a:solidFill>
            <a:srgbClr val="FF2D6B"/>
          </a:solidFill>
          <a:ln/>
        </p:spPr>
      </p:sp>
      <p:sp>
        <p:nvSpPr>
          <p:cNvPr id="22" name="Shape 19"/>
          <p:cNvSpPr/>
          <p:nvPr/>
        </p:nvSpPr>
        <p:spPr>
          <a:xfrm>
            <a:off x="2468880" y="2971800"/>
            <a:ext cx="4206240" cy="13716"/>
          </a:xfrm>
          <a:prstGeom prst="rect">
            <a:avLst/>
          </a:prstGeom>
          <a:solidFill>
            <a:srgbClr val="00F0FF">
              <a:alpha val="50000"/>
            </a:srgbClr>
          </a:solidFill>
          <a:ln/>
        </p:spPr>
      </p:sp>
      <p:sp>
        <p:nvSpPr>
          <p:cNvPr id="23" name="Text 20"/>
          <p:cNvSpPr/>
          <p:nvPr/>
        </p:nvSpPr>
        <p:spPr>
          <a:xfrm>
            <a:off x="914400" y="3108960"/>
            <a:ext cx="7315200" cy="365760"/>
          </a:xfrm>
          <a:prstGeom prst="rect">
            <a:avLst/>
          </a:prstGeom>
          <a:noFill/>
          <a:ln/>
        </p:spPr>
        <p:txBody>
          <a:bodyPr wrap="square" rtlCol="0" anchor="ctr"/>
          <a:lstStyle/>
          <a:p>
            <a:pPr algn="ctr" indent="0" marL="0">
              <a:buNone/>
            </a:pPr>
            <a:r>
              <a:rPr lang="en-US" sz="1000" spc="200" kern="0" dirty="0">
                <a:solidFill>
                  <a:srgbClr val="7A8BA8"/>
                </a:solidFill>
                <a:latin typeface="Consolas" pitchFamily="34" charset="0"/>
                <a:ea typeface="Consolas" pitchFamily="34" charset="-122"/>
                <a:cs typeface="Consolas" pitchFamily="34" charset="-120"/>
              </a:rPr>
              <a:t>EVIDENCIA // EXPLICABILIDAD // TRAZABILIDAD</a:t>
            </a:r>
            <a:endParaRPr lang="en-US" sz="1000" dirty="0"/>
          </a:p>
        </p:txBody>
      </p:sp>
      <p:sp>
        <p:nvSpPr>
          <p:cNvPr id="24" name="Text 21"/>
          <p:cNvSpPr/>
          <p:nvPr/>
        </p:nvSpPr>
        <p:spPr>
          <a:xfrm>
            <a:off x="457200" y="4572000"/>
            <a:ext cx="8229600" cy="228600"/>
          </a:xfrm>
          <a:prstGeom prst="rect">
            <a:avLst/>
          </a:prstGeom>
          <a:noFill/>
          <a:ln/>
        </p:spPr>
        <p:txBody>
          <a:bodyPr wrap="square" rtlCol="0" anchor="ctr"/>
          <a:lstStyle/>
          <a:p>
            <a:pPr algn="ctr" indent="0" marL="0">
              <a:buNone/>
            </a:pPr>
            <a:r>
              <a:rPr lang="en-US" sz="800" spc="300" kern="0" dirty="0">
                <a:solidFill>
                  <a:srgbClr val="7A8BA8"/>
                </a:solidFill>
                <a:latin typeface="Consolas" pitchFamily="34" charset="0"/>
                <a:ea typeface="Consolas" pitchFamily="34" charset="-122"/>
                <a:cs typeface="Consolas" pitchFamily="34" charset="-120"/>
              </a:rPr>
              <a:t>PHOENIX-ARENA.VERCEL.APP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Phoenix Arena — PSR Modelo y Ejemplos</dc:title>
  <dc:subject>PptxGenJS Presentation</dc:subject>
  <dc:creator>Stonevale / Phoenix Arena</dc:creator>
  <cp:lastModifiedBy>Stonevale / Phoenix Arena</cp:lastModifiedBy>
  <cp:revision>1</cp:revision>
  <dcterms:created xsi:type="dcterms:W3CDTF">2026-05-11T00:52:07Z</dcterms:created>
  <dcterms:modified xsi:type="dcterms:W3CDTF">2026-05-11T00:52:07Z</dcterms:modified>
</cp:coreProperties>
</file>